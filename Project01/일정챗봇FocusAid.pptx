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wdp" ContentType="image/vnd.ms-photo"/>
  <Override PartName="/ppt/embeddings/oleObject2.wdp" ContentType="image/vnd.ms-photo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>
  <p:sldMasterIdLst>
    <p:sldMasterId id="2147483648" r:id="rId1"/>
  </p:sldMasterIdLst>
  <p:notesMasterIdLst>
    <p:notesMasterId r:id="rId2"/>
  </p:notesMasterIdLst>
  <p:sldIdLst>
    <p:sldId id="256" r:id="rId3"/>
    <p:sldId id="262" r:id="rId4"/>
    <p:sldId id="257" r:id="rId5"/>
    <p:sldId id="264" r:id="rId6"/>
    <p:sldId id="290" r:id="rId7"/>
    <p:sldId id="268" r:id="rId8"/>
    <p:sldId id="291" r:id="rId9"/>
    <p:sldId id="292" r:id="rId10"/>
    <p:sldId id="293" r:id="rId11"/>
    <p:sldId id="294" r:id="rId12"/>
    <p:sldId id="295" r:id="rId13"/>
    <p:sldId id="265" r:id="rId14"/>
    <p:sldId id="296" r:id="rId15"/>
    <p:sldId id="303" r:id="rId16"/>
    <p:sldId id="300" r:id="rId17"/>
    <p:sldId id="298" r:id="rId18"/>
    <p:sldId id="297" r:id="rId19"/>
    <p:sldId id="304" r:id="rId20"/>
    <p:sldId id="286" r:id="rId21"/>
    <p:sldId id="288" r:id="rId22"/>
    <p:sldId id="261" r:id="rId23"/>
    <p:sldId id="301" r:id="rId24"/>
    <p:sldId id="260" r:id="rId25"/>
    <p:sldId id="282" r:id="rId26"/>
    <p:sldId id="285" r:id="rId27"/>
    <p:sldId id="276" r:id="rId28"/>
    <p:sldId id="287" r:id="rId29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93175" autoAdjust="0"/>
  </p:normalViewPr>
  <p:slideViewPr>
    <p:cSldViewPr snapToGrid="0" showGuides="1">
      <p:cViewPr>
        <p:scale>
          <a:sx n="100" d="100"/>
          <a:sy n="100" d="100"/>
        </p:scale>
        <p:origin x="264" y="312"/>
      </p:cViewPr>
      <p:guideLst>
        <p:guide orient="horz" pos="2158"/>
        <p:guide pos="384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presProps" Target="presProps.xml"  /><Relationship Id="rId31" Type="http://schemas.openxmlformats.org/officeDocument/2006/relationships/viewProps" Target="viewProps.xml"  /><Relationship Id="rId32" Type="http://schemas.openxmlformats.org/officeDocument/2006/relationships/theme" Target="theme/theme1.xml"  /><Relationship Id="rId33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AA8F3-2472-41B7-ABCE-D380651A1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0B8B97A-6F90-BBF2-92B6-FDC7CD4CFAF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DB364196-7987-2C37-3E97-25C2D2F59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EF6DBEEB-F2B6-FFE7-0218-629BD26E3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966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725EF-44CF-ACFB-2D97-107C8EBD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5C2134C-0838-9756-BED5-D988801CE7E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90324F18-0474-88C3-65EE-25E085445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EAECCC87-9320-0682-A6AF-088D6F152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195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2D456-48C5-8EF9-893D-59B13602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30116D00-7817-06F5-B70C-0DB9A7F18BD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B7902BCC-F156-4174-0C7E-731D1C955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DD31DEBB-36B0-7274-5ADF-881AE9DD7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510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4E139-C6A3-54FC-DB41-7396C5DFA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6E3F6180-E9B6-3F43-2190-F3C61737632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EC5D3CE5-2CD1-69D6-C87D-DCEA52740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3C119AEE-6585-5EAB-7A1B-96D95A59A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864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4B94C-E484-5BB1-C581-2E569B27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5D0B9E1C-751A-55EE-0E55-2213E712C7D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C4390F4B-11F7-2F83-1516-D67208500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0FFB257-93C8-05B7-DC33-ECB3487A0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236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웹/모바일 양쪽에서 쓰고, Spring Boot가 API를, Python 모델이 분류를 담당합니다. DB는 MySQL로 로그/설정과 학습데이터를 관리해요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7B53-ACC4-5180-1F9C-C7E935AC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1483AE9D-2330-6BC5-8449-5056CD47CED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0B98C0FB-207F-1943-2276-585864539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웹/모바일 양쪽에서 쓰고, Spring Boot가 API를, Python 모델이 분류를 담당합니다. DB는 MySQL로 로그/설정과 학습데이터를 관리해요</a:t>
            </a:r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73FD7276-5808-EB15-03FC-DB56A783B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38890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DEEA4-ECAB-CCA3-3230-EE82916D1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22A23D-CB8B-333F-F06F-85A4FF8EB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47980-6715-60DA-5F72-CE097D6FC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77D111-20CB-38D5-696B-AADC520C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610B10-2A41-BAAE-3605-79B129CF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3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E68C3-8583-9EFE-E561-7AA84B10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39A21-516B-A529-BE39-03B15D2B8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9039EB-39AA-B470-BF83-49B78BF06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FD90D3-41BC-3BCC-3FE0-38EBC071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7797A7-C024-A0AA-EA64-FD9DC19B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8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1619A-C899-A1AB-3138-40A9CB2E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4D7CC4-80B5-6852-7D30-24E895176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917637-3522-3BF6-83A8-C08811400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CB51C8-B57E-05FD-54BD-E90F5AC9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5CC032-FB24-A6E3-08B3-9A0B6A5B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74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6E08E-703C-14DB-B68F-EC7D5D78E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251F2F-B20A-E6A2-D2A9-47E0B9486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807D4D-BA2D-8EE8-A11A-E0E000305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043E44-CA06-4936-AC3E-B0CB484B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D5A39-4F49-06BD-0353-B6272631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CCC3D9-34B1-49F3-D525-B3C5C5F6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17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0E83C-CFDF-1C5C-58CB-231A36937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DCD01B-945B-DD09-07CA-9EEC1C0D6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B3B891-B491-1E44-4D09-C8ADC15CF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859C12-0DA5-9236-0FC4-68794A717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A3E628-A3AD-85A2-0723-33EED49D96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F34431-EA51-89E7-ED18-8D29B2C7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A75433-9BB9-6476-C57A-479BBC95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DB8A0D-265C-1A26-17CF-6EB32BDB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51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14BC6-A524-1576-1642-40953DDA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A759B2-F3EF-2FCB-56A0-AEAA2272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90EE54-AF05-0B96-F6B1-C1A467C3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8D1DF2-D0B1-CE7F-D894-EA82A6D0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933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638EDE-09E5-F634-EFD2-C436DC469D1C}"/>
              </a:ext>
            </a:extLst>
          </p:cNvPr>
          <p:cNvSpPr txBox="1"/>
          <p:nvPr userDrawn="1"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5B90A0-24D7-D8BD-D888-795D1B79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76D9B2-CBBC-5FF9-161F-CE877DCB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9ED549-53E0-9758-854F-F4A1BD14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55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366E6F-C7C3-2B61-FEB8-23F700F8E713}"/>
              </a:ext>
            </a:extLst>
          </p:cNvPr>
          <p:cNvSpPr txBox="1"/>
          <p:nvPr userDrawn="1"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5B90A0-24D7-D8BD-D888-795D1B79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76D9B2-CBBC-5FF9-161F-CE877DCB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9ED549-53E0-9758-854F-F4A1BD14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31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377C7-03DC-0FA9-F1B3-7CA77C9C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AC83D-7A93-4499-FCE0-B4EA43C18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CB8107-B9B0-DD08-6A63-4A98B15A7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50C153-F171-979C-F37A-A811B2AF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C58122-73B4-3952-49A2-B133FE722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EDCE51-676C-A975-2404-02334DA0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13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FB336-6892-83BE-01CA-A27116A8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BBBC0F-861A-1409-E106-274E84AC1C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163BFD-D870-E887-92AE-5E04399D1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DF1041-CE77-34AE-C158-DDEE73D6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00BED5-268A-5C3B-186C-6BEB68C4F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5296F4-544B-F1AD-308E-F61D5CE5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06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52312-94C9-A84F-C27F-F8A427DD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A0982A-B6F0-1D50-4862-BE6371C65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585D6A-C54A-5874-7B99-F291C428A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FEC619-C5ED-6270-8BD2-ADA02740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CF4DAC-B799-6A2C-D4D0-A8CC9910E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978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5E846D-C63B-42D1-2A2B-8581B9E06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36665A-3732-D95C-185E-CAF75CB44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05932-4EF9-2A54-03FF-DAECFDC0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C8643F-6A66-3277-ECF4-7D326FB1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1D5E32-7E93-521C-D170-42AF5100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735908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CFFE07-C64E-0866-EE88-9BBF24A9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A484AA-24AB-E58E-2A96-5A9D4AEF1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33FDC2-060A-91B6-6576-F33B11F96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7AECB-742C-49E3-9B09-00C8E9378F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322145-3D27-5145-6BCD-F106DAB55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606DBF-DCBD-9235-DC9C-89A6ED7D6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44103-3E08-4250-B7E2-49A76DB05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6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emf"  /><Relationship Id="rId3" Type="http://schemas.openxmlformats.org/officeDocument/2006/relationships/image" Target="../media/image2.emf"  /><Relationship Id="rId4" Type="http://schemas.openxmlformats.org/officeDocument/2006/relationships/image" Target="../media/image3.emf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4.emf"  /><Relationship Id="rId4" Type="http://schemas.openxmlformats.org/officeDocument/2006/relationships/image" Target="../media/image5.emf"  /><Relationship Id="rId5" Type="http://schemas.microsoft.com/office/2007/relationships/hdphoto" Target="../embeddings/oleObject1.wdp"  /><Relationship Id="rId6" Type="http://schemas.openxmlformats.org/officeDocument/2006/relationships/image" Target="../media/image6.emf"  /><Relationship Id="rId7" Type="http://schemas.openxmlformats.org/officeDocument/2006/relationships/image" Target="../media/image7.emf"  /><Relationship Id="rId8" Type="http://schemas.openxmlformats.org/officeDocument/2006/relationships/image" Target="../media/image8.emf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10" Type="http://schemas.openxmlformats.org/officeDocument/2006/relationships/image" Target="../media/image17.emf"  /><Relationship Id="rId11" Type="http://schemas.openxmlformats.org/officeDocument/2006/relationships/image" Target="../media/image18.emf"  /><Relationship Id="rId12" Type="http://schemas.openxmlformats.org/officeDocument/2006/relationships/image" Target="../media/image19.emf"  /><Relationship Id="rId13" Type="http://schemas.openxmlformats.org/officeDocument/2006/relationships/image" Target="../media/image20.emf"  /><Relationship Id="rId14" Type="http://schemas.openxmlformats.org/officeDocument/2006/relationships/image" Target="../media/image21.emf"  /><Relationship Id="rId15" Type="http://schemas.openxmlformats.org/officeDocument/2006/relationships/image" Target="../media/image22.png"  /><Relationship Id="rId16" Type="http://schemas.openxmlformats.org/officeDocument/2006/relationships/image" Target="../media/image23.png"  /><Relationship Id="rId17" Type="http://schemas.openxmlformats.org/officeDocument/2006/relationships/image" Target="../media/image24.png"  /><Relationship Id="rId18" Type="http://schemas.openxmlformats.org/officeDocument/2006/relationships/image" Target="../media/image25.png"  /><Relationship Id="rId19" Type="http://schemas.openxmlformats.org/officeDocument/2006/relationships/image" Target="../media/image26.png"  /><Relationship Id="rId2" Type="http://schemas.openxmlformats.org/officeDocument/2006/relationships/slideLayout" Target="../slideLayouts/slideLayout7.xml"  /><Relationship Id="rId20" Type="http://schemas.openxmlformats.org/officeDocument/2006/relationships/image" Target="../media/image27.png"  /><Relationship Id="rId21" Type="http://schemas.openxmlformats.org/officeDocument/2006/relationships/image" Target="../media/image28.png"  /><Relationship Id="rId22" Type="http://schemas.openxmlformats.org/officeDocument/2006/relationships/image" Target="../media/image29.emf"  /><Relationship Id="rId23" Type="http://schemas.openxmlformats.org/officeDocument/2006/relationships/image" Target="../media/image30.png"  /><Relationship Id="rId24" Type="http://schemas.openxmlformats.org/officeDocument/2006/relationships/image" Target="../media/image31.png"  /><Relationship Id="rId25" Type="http://schemas.openxmlformats.org/officeDocument/2006/relationships/image" Target="../media/image32.png"  /><Relationship Id="rId26" Type="http://schemas.openxmlformats.org/officeDocument/2006/relationships/image" Target="../media/image33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Relationship Id="rId7" Type="http://schemas.openxmlformats.org/officeDocument/2006/relationships/image" Target="../media/image14.png"  /><Relationship Id="rId8" Type="http://schemas.openxmlformats.org/officeDocument/2006/relationships/image" Target="../media/image15.emf"  /><Relationship Id="rId9" Type="http://schemas.openxmlformats.org/officeDocument/2006/relationships/image" Target="../media/image16.emf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0.emf"  /><Relationship Id="rId11" Type="http://schemas.openxmlformats.org/officeDocument/2006/relationships/image" Target="../media/image41.emf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4.emf"  /><Relationship Id="rId4" Type="http://schemas.microsoft.com/office/2007/relationships/hdphoto" Target="../embeddings/oleObject2.wdp"  /><Relationship Id="rId5" Type="http://schemas.openxmlformats.org/officeDocument/2006/relationships/image" Target="../media/image35.emf"  /><Relationship Id="rId6" Type="http://schemas.openxmlformats.org/officeDocument/2006/relationships/image" Target="../media/image36.emf"  /><Relationship Id="rId7" Type="http://schemas.openxmlformats.org/officeDocument/2006/relationships/image" Target="../media/image37.emf"  /><Relationship Id="rId8" Type="http://schemas.openxmlformats.org/officeDocument/2006/relationships/image" Target="../media/image38.emf"  /><Relationship Id="rId9" Type="http://schemas.openxmlformats.org/officeDocument/2006/relationships/image" Target="../media/image39.emf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7.emf"  /><Relationship Id="rId11" Type="http://schemas.openxmlformats.org/officeDocument/2006/relationships/image" Target="../media/image48.emf"  /><Relationship Id="rId12" Type="http://schemas.openxmlformats.org/officeDocument/2006/relationships/image" Target="../media/image49.emf"  /><Relationship Id="rId13" Type="http://schemas.openxmlformats.org/officeDocument/2006/relationships/image" Target="../media/image50.emf"  /><Relationship Id="rId14" Type="http://schemas.openxmlformats.org/officeDocument/2006/relationships/image" Target="../media/image51.emf"  /><Relationship Id="rId15" Type="http://schemas.openxmlformats.org/officeDocument/2006/relationships/image" Target="../media/image52.emf"  /><Relationship Id="rId16" Type="http://schemas.openxmlformats.org/officeDocument/2006/relationships/image" Target="../media/image53.emf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34.emf"  /><Relationship Id="rId4" Type="http://schemas.microsoft.com/office/2007/relationships/hdphoto" Target="../embeddings/oleObject2.wdp"  /><Relationship Id="rId5" Type="http://schemas.openxmlformats.org/officeDocument/2006/relationships/image" Target="../media/image42.emf"  /><Relationship Id="rId6" Type="http://schemas.openxmlformats.org/officeDocument/2006/relationships/image" Target="../media/image43.emf"  /><Relationship Id="rId7" Type="http://schemas.openxmlformats.org/officeDocument/2006/relationships/image" Target="../media/image44.emf"  /><Relationship Id="rId8" Type="http://schemas.openxmlformats.org/officeDocument/2006/relationships/image" Target="../media/image45.emf"  /><Relationship Id="rId9" Type="http://schemas.openxmlformats.org/officeDocument/2006/relationships/image" Target="../media/image46.emf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4.emf"  /><Relationship Id="rId4" Type="http://schemas.openxmlformats.org/officeDocument/2006/relationships/image" Target="../media/image55.emf"  /><Relationship Id="rId5" Type="http://schemas.openxmlformats.org/officeDocument/2006/relationships/image" Target="../media/image56.emf"  /><Relationship Id="rId6" Type="http://schemas.openxmlformats.org/officeDocument/2006/relationships/image" Target="../media/image57.emf"  /><Relationship Id="rId7" Type="http://schemas.openxmlformats.org/officeDocument/2006/relationships/image" Target="../media/image58.emf"  /><Relationship Id="rId8" Type="http://schemas.openxmlformats.org/officeDocument/2006/relationships/image" Target="../media/image59.emf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10" Type="http://schemas.openxmlformats.org/officeDocument/2006/relationships/image" Target="../media/image63.emf"  /><Relationship Id="rId11" Type="http://schemas.openxmlformats.org/officeDocument/2006/relationships/image" Target="../media/image64.emf"  /><Relationship Id="rId12" Type="http://schemas.openxmlformats.org/officeDocument/2006/relationships/image" Target="../media/image65.emf"  /><Relationship Id="rId13" Type="http://schemas.openxmlformats.org/officeDocument/2006/relationships/image" Target="../media/image66.emf"  /><Relationship Id="rId14" Type="http://schemas.openxmlformats.org/officeDocument/2006/relationships/image" Target="../media/image66.emf"  /><Relationship Id="rId15" Type="http://schemas.openxmlformats.org/officeDocument/2006/relationships/image" Target="../media/image66.emf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34.emf"  /><Relationship Id="rId4" Type="http://schemas.microsoft.com/office/2007/relationships/hdphoto" Target="../embeddings/oleObject2.wdp"  /><Relationship Id="rId5" Type="http://schemas.openxmlformats.org/officeDocument/2006/relationships/image" Target="../media/image60.emf"  /><Relationship Id="rId6" Type="http://schemas.openxmlformats.org/officeDocument/2006/relationships/image" Target="../media/image61.emf"  /><Relationship Id="rId7" Type="http://schemas.openxmlformats.org/officeDocument/2006/relationships/image" Target="../media/image62.emf"  /><Relationship Id="rId8" Type="http://schemas.openxmlformats.org/officeDocument/2006/relationships/image" Target="../media/image63.emf"  /><Relationship Id="rId9" Type="http://schemas.openxmlformats.org/officeDocument/2006/relationships/image" Target="../media/image63.emf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7.emf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3.emf"  /><Relationship Id="rId11" Type="http://schemas.openxmlformats.org/officeDocument/2006/relationships/image" Target="../media/image73.emf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34.emf"  /><Relationship Id="rId4" Type="http://schemas.microsoft.com/office/2007/relationships/hdphoto" Target="../embeddings/oleObject2.wdp"  /><Relationship Id="rId5" Type="http://schemas.openxmlformats.org/officeDocument/2006/relationships/image" Target="../media/image68.emf"  /><Relationship Id="rId6" Type="http://schemas.openxmlformats.org/officeDocument/2006/relationships/image" Target="../media/image69.emf"  /><Relationship Id="rId7" Type="http://schemas.openxmlformats.org/officeDocument/2006/relationships/image" Target="../media/image70.emf"  /><Relationship Id="rId8" Type="http://schemas.openxmlformats.org/officeDocument/2006/relationships/image" Target="../media/image71.emf"  /><Relationship Id="rId9" Type="http://schemas.openxmlformats.org/officeDocument/2006/relationships/image" Target="../media/image72.emf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10" Type="http://schemas.openxmlformats.org/officeDocument/2006/relationships/image" Target="../media/image63.emf"  /><Relationship Id="rId11" Type="http://schemas.openxmlformats.org/officeDocument/2006/relationships/image" Target="../media/image63.emf"  /><Relationship Id="rId12" Type="http://schemas.openxmlformats.org/officeDocument/2006/relationships/image" Target="../media/image76.emf"  /><Relationship Id="rId13" Type="http://schemas.openxmlformats.org/officeDocument/2006/relationships/image" Target="../media/image77.emf"  /><Relationship Id="rId14" Type="http://schemas.openxmlformats.org/officeDocument/2006/relationships/image" Target="../media/image63.emf"  /><Relationship Id="rId15" Type="http://schemas.openxmlformats.org/officeDocument/2006/relationships/image" Target="../media/image63.emf"  /><Relationship Id="rId16" Type="http://schemas.openxmlformats.org/officeDocument/2006/relationships/image" Target="../media/image63.emf"  /><Relationship Id="rId17" Type="http://schemas.openxmlformats.org/officeDocument/2006/relationships/image" Target="../media/image78.emf"  /><Relationship Id="rId18" Type="http://schemas.openxmlformats.org/officeDocument/2006/relationships/image" Target="../media/image79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34.emf"  /><Relationship Id="rId4" Type="http://schemas.microsoft.com/office/2007/relationships/hdphoto" Target="../embeddings/oleObject2.wdp"  /><Relationship Id="rId5" Type="http://schemas.openxmlformats.org/officeDocument/2006/relationships/image" Target="../media/image34.emf"  /><Relationship Id="rId6" Type="http://schemas.microsoft.com/office/2007/relationships/hdphoto" Target="../embeddings/oleObject2.wdp"  /><Relationship Id="rId7" Type="http://schemas.openxmlformats.org/officeDocument/2006/relationships/image" Target="../media/image74.emf"  /><Relationship Id="rId8" Type="http://schemas.openxmlformats.org/officeDocument/2006/relationships/image" Target="../media/image75.emf"  /><Relationship Id="rId9" Type="http://schemas.openxmlformats.org/officeDocument/2006/relationships/image" Target="../media/image63.emf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9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10" Type="http://schemas.openxmlformats.org/officeDocument/2006/relationships/image" Target="../media/image84.emf"  /><Relationship Id="rId11" Type="http://schemas.openxmlformats.org/officeDocument/2006/relationships/image" Target="../media/image85.emf"  /><Relationship Id="rId12" Type="http://schemas.openxmlformats.org/officeDocument/2006/relationships/image" Target="../media/image86.emf"  /><Relationship Id="rId13" Type="http://schemas.openxmlformats.org/officeDocument/2006/relationships/image" Target="../media/image87.emf"  /><Relationship Id="rId14" Type="http://schemas.openxmlformats.org/officeDocument/2006/relationships/image" Target="../media/image88.emf"  /><Relationship Id="rId15" Type="http://schemas.openxmlformats.org/officeDocument/2006/relationships/image" Target="../media/image89.emf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80.emf"  /><Relationship Id="rId4" Type="http://schemas.openxmlformats.org/officeDocument/2006/relationships/image" Target="../media/image81.emf"  /><Relationship Id="rId5" Type="http://schemas.openxmlformats.org/officeDocument/2006/relationships/image" Target="../media/image82.emf"  /><Relationship Id="rId6" Type="http://schemas.openxmlformats.org/officeDocument/2006/relationships/image" Target="../media/image83.emf"  /><Relationship Id="rId7" Type="http://schemas.openxmlformats.org/officeDocument/2006/relationships/image" Target="../media/image84.emf"  /><Relationship Id="rId8" Type="http://schemas.openxmlformats.org/officeDocument/2006/relationships/image" Target="../media/image84.emf"  /><Relationship Id="rId9" Type="http://schemas.openxmlformats.org/officeDocument/2006/relationships/image" Target="../media/image84.emf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1.emf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2.emf"  /><Relationship Id="rId3" Type="http://schemas.openxmlformats.org/officeDocument/2006/relationships/image" Target="../media/image93.emf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4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5.emf"  /><Relationship Id="rId3" Type="http://schemas.openxmlformats.org/officeDocument/2006/relationships/image" Target="../media/image96.emf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7.emf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8.emf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0.emf"  /><Relationship Id="rId2" Type="http://schemas.openxmlformats.org/officeDocument/2006/relationships/image" Target="../media/image99.png"  /><Relationship Id="rId3" Type="http://schemas.openxmlformats.org/officeDocument/2006/relationships/image" Target="../media/image99.png"  /><Relationship Id="rId4" Type="http://schemas.openxmlformats.org/officeDocument/2006/relationships/image" Target="../media/image99.png"  /><Relationship Id="rId5" Type="http://schemas.openxmlformats.org/officeDocument/2006/relationships/image" Target="../media/image99.png"  /><Relationship Id="rId6" Type="http://schemas.openxmlformats.org/officeDocument/2006/relationships/image" Target="../media/image99.png"  /><Relationship Id="rId7" Type="http://schemas.openxmlformats.org/officeDocument/2006/relationships/image" Target="../media/image99.png"  /><Relationship Id="rId8" Type="http://schemas.openxmlformats.org/officeDocument/2006/relationships/image" Target="../media/image100.emf"  /><Relationship Id="rId9" Type="http://schemas.openxmlformats.org/officeDocument/2006/relationships/image" Target="../media/image100.emf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5.emf"  /><Relationship Id="rId11" Type="http://schemas.openxmlformats.org/officeDocument/2006/relationships/image" Target="../media/image106.emf"  /><Relationship Id="rId12" Type="http://schemas.openxmlformats.org/officeDocument/2006/relationships/image" Target="../media/image107.png"  /><Relationship Id="rId2" Type="http://schemas.openxmlformats.org/officeDocument/2006/relationships/image" Target="../media/image101.png"  /><Relationship Id="rId3" Type="http://schemas.openxmlformats.org/officeDocument/2006/relationships/image" Target="../media/image34.emf"  /><Relationship Id="rId4" Type="http://schemas.microsoft.com/office/2007/relationships/hdphoto" Target="../embeddings/oleObject2.wdp"  /><Relationship Id="rId5" Type="http://schemas.openxmlformats.org/officeDocument/2006/relationships/image" Target="../media/image34.emf"  /><Relationship Id="rId6" Type="http://schemas.microsoft.com/office/2007/relationships/hdphoto" Target="../embeddings/oleObject2.wdp"  /><Relationship Id="rId7" Type="http://schemas.openxmlformats.org/officeDocument/2006/relationships/image" Target="../media/image102.emf"  /><Relationship Id="rId8" Type="http://schemas.openxmlformats.org/officeDocument/2006/relationships/image" Target="../media/image103.png"  /><Relationship Id="rId9" Type="http://schemas.openxmlformats.org/officeDocument/2006/relationships/image" Target="../media/image104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8.jpe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9.emf"  /><Relationship Id="rId3" Type="http://schemas.openxmlformats.org/officeDocument/2006/relationships/image" Target="../media/image15.emf"  /><Relationship Id="rId4" Type="http://schemas.openxmlformats.org/officeDocument/2006/relationships/image" Target="../media/image110.emf"  /><Relationship Id="rId5" Type="http://schemas.openxmlformats.org/officeDocument/2006/relationships/image" Target="../media/image29.emf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8.emf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emf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 descr="마젠타, 다채로움, 바이올렛색, 보라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BB6843-51EE-188D-E4EE-AED384B6B7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915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-11151"/>
            <a:ext cx="12192000" cy="6869151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/>
          <p:cNvSpPr/>
          <p:nvPr/>
        </p:nvSpPr>
        <p:spPr>
          <a:xfrm>
            <a:off x="1206190" y="773415"/>
            <a:ext cx="9779620" cy="2464419"/>
          </a:xfrm>
          <a:prstGeom prst="ellipse">
            <a:avLst/>
          </a:prstGeom>
          <a:noFill/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28183" y="1074447"/>
            <a:ext cx="4464684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500" dirty="0">
                <a:solidFill>
                  <a:schemeClr val="accent6">
                    <a:lumMod val="20000"/>
                    <a:lumOff val="80000"/>
                  </a:schemeClr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Comic Sans MS"/>
              </a:rPr>
              <a:t>포커스 에이드</a:t>
            </a:r>
            <a:endParaRPr lang="en-US" altLang="ko-KR" sz="6500" dirty="0">
              <a:solidFill>
                <a:schemeClr val="accent6">
                  <a:lumMod val="20000"/>
                  <a:lumOff val="80000"/>
                </a:schemeClr>
              </a:solidFill>
              <a:latin typeface="210 클레이토이 L" panose="02020603020101020101" pitchFamily="18" charset="-127"/>
              <a:ea typeface="210 클레이토이 L" panose="02020603020101020101" pitchFamily="18" charset="-127"/>
              <a:cs typeface="Comic Sans MS"/>
            </a:endParaRPr>
          </a:p>
          <a:p>
            <a:pPr algn="ctr"/>
            <a:r>
              <a:rPr lang="en-US" altLang="ko-KR" sz="6500" dirty="0">
                <a:solidFill>
                  <a:schemeClr val="accent6">
                    <a:lumMod val="20000"/>
                    <a:lumOff val="80000"/>
                  </a:schemeClr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Comic Sans MS"/>
              </a:rPr>
              <a:t>Focus-Aid</a:t>
            </a:r>
            <a:endParaRPr lang="ko-KR" altLang="en-US" sz="6500" dirty="0">
              <a:solidFill>
                <a:schemeClr val="accent6">
                  <a:lumMod val="20000"/>
                  <a:lumOff val="80000"/>
                </a:schemeClr>
              </a:solidFill>
              <a:latin typeface="210 클레이토이 L" panose="02020603020101020101" pitchFamily="18" charset="-127"/>
              <a:ea typeface="210 클레이토이 L" panose="02020603020101020101" pitchFamily="18" charset="-127"/>
              <a:cs typeface="Comic Sans MS"/>
            </a:endParaRPr>
          </a:p>
        </p:txBody>
      </p:sp>
      <p:sp>
        <p:nvSpPr>
          <p:cNvPr id="5" name="자유형: 도형 4"/>
          <p:cNvSpPr/>
          <p:nvPr/>
        </p:nvSpPr>
        <p:spPr>
          <a:xfrm>
            <a:off x="10432045" y="629966"/>
            <a:ext cx="482483" cy="577504"/>
          </a:xfrm>
          <a:custGeom>
            <a:avLst/>
            <a:gdLst>
              <a:gd name="connsiteX0" fmla="*/ 241242 w 482483"/>
              <a:gd name="connsiteY0" fmla="*/ 577505 h 577504"/>
              <a:gd name="connsiteX1" fmla="*/ 482484 w 482483"/>
              <a:gd name="connsiteY1" fmla="*/ 288752 h 577504"/>
              <a:gd name="connsiteX2" fmla="*/ 241242 w 482483"/>
              <a:gd name="connsiteY2" fmla="*/ 0 h 577504"/>
              <a:gd name="connsiteX3" fmla="*/ 0 w 482483"/>
              <a:gd name="connsiteY3" fmla="*/ 288752 h 577504"/>
              <a:gd name="connsiteX4" fmla="*/ 241242 w 482483"/>
              <a:gd name="connsiteY4" fmla="*/ 577505 h 577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483" h="577504">
                <a:moveTo>
                  <a:pt x="241242" y="577505"/>
                </a:moveTo>
                <a:cubicBezTo>
                  <a:pt x="276583" y="451142"/>
                  <a:pt x="364423" y="346003"/>
                  <a:pt x="482484" y="288752"/>
                </a:cubicBezTo>
                <a:cubicBezTo>
                  <a:pt x="364273" y="231689"/>
                  <a:pt x="276370" y="126476"/>
                  <a:pt x="241242" y="0"/>
                </a:cubicBezTo>
                <a:cubicBezTo>
                  <a:pt x="205893" y="126360"/>
                  <a:pt x="118058" y="231493"/>
                  <a:pt x="0" y="288752"/>
                </a:cubicBezTo>
                <a:cubicBezTo>
                  <a:pt x="118061" y="346003"/>
                  <a:pt x="205901" y="451142"/>
                  <a:pt x="241242" y="57750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6" name="자유형: 도형 5"/>
          <p:cNvSpPr/>
          <p:nvPr/>
        </p:nvSpPr>
        <p:spPr>
          <a:xfrm>
            <a:off x="874128" y="2196790"/>
            <a:ext cx="332062" cy="397339"/>
          </a:xfrm>
          <a:custGeom>
            <a:avLst/>
            <a:gdLst>
              <a:gd name="connsiteX0" fmla="*/ 165974 w 332062"/>
              <a:gd name="connsiteY0" fmla="*/ 0 h 397339"/>
              <a:gd name="connsiteX1" fmla="*/ 0 w 332062"/>
              <a:gd name="connsiteY1" fmla="*/ 198670 h 397339"/>
              <a:gd name="connsiteX2" fmla="*/ 165974 w 332062"/>
              <a:gd name="connsiteY2" fmla="*/ 397340 h 397339"/>
              <a:gd name="connsiteX3" fmla="*/ 332062 w 332062"/>
              <a:gd name="connsiteY3" fmla="*/ 198670 h 397339"/>
              <a:gd name="connsiteX4" fmla="*/ 165974 w 332062"/>
              <a:gd name="connsiteY4" fmla="*/ 0 h 39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2" h="397339">
                <a:moveTo>
                  <a:pt x="165974" y="0"/>
                </a:moveTo>
                <a:cubicBezTo>
                  <a:pt x="141671" y="86946"/>
                  <a:pt x="81236" y="159288"/>
                  <a:pt x="0" y="198670"/>
                </a:cubicBezTo>
                <a:cubicBezTo>
                  <a:pt x="81236" y="238052"/>
                  <a:pt x="141671" y="310393"/>
                  <a:pt x="165974" y="397340"/>
                </a:cubicBezTo>
                <a:cubicBezTo>
                  <a:pt x="190329" y="310388"/>
                  <a:pt x="250804" y="238052"/>
                  <a:pt x="332062" y="198670"/>
                </a:cubicBezTo>
                <a:cubicBezTo>
                  <a:pt x="250690" y="159433"/>
                  <a:pt x="190170" y="87037"/>
                  <a:pt x="16597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7" name="자유형: 도형 6"/>
          <p:cNvSpPr/>
          <p:nvPr/>
        </p:nvSpPr>
        <p:spPr>
          <a:xfrm>
            <a:off x="10228267" y="1074447"/>
            <a:ext cx="203778" cy="243909"/>
          </a:xfrm>
          <a:custGeom>
            <a:avLst/>
            <a:gdLst>
              <a:gd name="connsiteX0" fmla="*/ 101889 w 203778"/>
              <a:gd name="connsiteY0" fmla="*/ 243910 h 243909"/>
              <a:gd name="connsiteX1" fmla="*/ 203778 w 203778"/>
              <a:gd name="connsiteY1" fmla="*/ 121870 h 243909"/>
              <a:gd name="connsiteX2" fmla="*/ 101889 w 203778"/>
              <a:gd name="connsiteY2" fmla="*/ 0 h 243909"/>
              <a:gd name="connsiteX3" fmla="*/ 0 w 203778"/>
              <a:gd name="connsiteY3" fmla="*/ 122040 h 243909"/>
              <a:gd name="connsiteX4" fmla="*/ 101889 w 203778"/>
              <a:gd name="connsiteY4" fmla="*/ 243910 h 24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778" h="243909">
                <a:moveTo>
                  <a:pt x="101889" y="243910"/>
                </a:moveTo>
                <a:cubicBezTo>
                  <a:pt x="116812" y="190516"/>
                  <a:pt x="153907" y="146085"/>
                  <a:pt x="203778" y="121870"/>
                </a:cubicBezTo>
                <a:cubicBezTo>
                  <a:pt x="153870" y="97788"/>
                  <a:pt x="116747" y="53385"/>
                  <a:pt x="101889" y="0"/>
                </a:cubicBezTo>
                <a:cubicBezTo>
                  <a:pt x="86966" y="53391"/>
                  <a:pt x="49872" y="97825"/>
                  <a:pt x="0" y="122040"/>
                </a:cubicBezTo>
                <a:cubicBezTo>
                  <a:pt x="49832" y="146218"/>
                  <a:pt x="86924" y="190581"/>
                  <a:pt x="101889" y="24391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8" name="자유형: 도형 7"/>
          <p:cNvSpPr/>
          <p:nvPr/>
        </p:nvSpPr>
        <p:spPr>
          <a:xfrm>
            <a:off x="486079" y="2874430"/>
            <a:ext cx="1440222" cy="1031223"/>
          </a:xfrm>
          <a:custGeom>
            <a:avLst/>
            <a:gdLst>
              <a:gd name="connsiteX0" fmla="*/ 2463050 w 2597861"/>
              <a:gd name="connsiteY0" fmla="*/ 1050788 h 1860112"/>
              <a:gd name="connsiteX1" fmla="*/ 2346885 w 2597861"/>
              <a:gd name="connsiteY1" fmla="*/ 1118364 h 1860112"/>
              <a:gd name="connsiteX2" fmla="*/ 1624323 w 2597861"/>
              <a:gd name="connsiteY2" fmla="*/ 1054619 h 1860112"/>
              <a:gd name="connsiteX3" fmla="*/ 1469701 w 2597861"/>
              <a:gd name="connsiteY3" fmla="*/ 968822 h 1860112"/>
              <a:gd name="connsiteX4" fmla="*/ 1240067 w 2597861"/>
              <a:gd name="connsiteY4" fmla="*/ 665879 h 1860112"/>
              <a:gd name="connsiteX5" fmla="*/ 1205868 w 2597861"/>
              <a:gd name="connsiteY5" fmla="*/ 478647 h 1860112"/>
              <a:gd name="connsiteX6" fmla="*/ 1129124 w 2597861"/>
              <a:gd name="connsiteY6" fmla="*/ 454778 h 1860112"/>
              <a:gd name="connsiteX7" fmla="*/ 1086013 w 2597861"/>
              <a:gd name="connsiteY7" fmla="*/ 462498 h 1860112"/>
              <a:gd name="connsiteX8" fmla="*/ 915157 w 2597861"/>
              <a:gd name="connsiteY8" fmla="*/ 236979 h 1860112"/>
              <a:gd name="connsiteX9" fmla="*/ 833966 w 2597861"/>
              <a:gd name="connsiteY9" fmla="*/ 65544 h 1860112"/>
              <a:gd name="connsiteX10" fmla="*/ 689212 w 2597861"/>
              <a:gd name="connsiteY10" fmla="*/ 102054 h 1860112"/>
              <a:gd name="connsiteX11" fmla="*/ 258752 w 2597861"/>
              <a:gd name="connsiteY11" fmla="*/ 80541 h 1860112"/>
              <a:gd name="connsiteX12" fmla="*/ 80541 w 2597861"/>
              <a:gd name="connsiteY12" fmla="*/ 11565 h 1860112"/>
              <a:gd name="connsiteX13" fmla="*/ 11564 w 2597861"/>
              <a:gd name="connsiteY13" fmla="*/ 189775 h 1860112"/>
              <a:gd name="connsiteX14" fmla="*/ 189775 w 2597861"/>
              <a:gd name="connsiteY14" fmla="*/ 258750 h 1860112"/>
              <a:gd name="connsiteX15" fmla="*/ 256765 w 2597861"/>
              <a:gd name="connsiteY15" fmla="*/ 194066 h 1860112"/>
              <a:gd name="connsiteX16" fmla="*/ 656091 w 2597861"/>
              <a:gd name="connsiteY16" fmla="*/ 213933 h 1860112"/>
              <a:gd name="connsiteX17" fmla="*/ 807631 w 2597861"/>
              <a:gd name="connsiteY17" fmla="*/ 325404 h 1860112"/>
              <a:gd name="connsiteX18" fmla="*/ 834582 w 2597861"/>
              <a:gd name="connsiteY18" fmla="*/ 318349 h 1860112"/>
              <a:gd name="connsiteX19" fmla="*/ 1003678 w 2597861"/>
              <a:gd name="connsiteY19" fmla="*/ 541512 h 1860112"/>
              <a:gd name="connsiteX20" fmla="*/ 994313 w 2597861"/>
              <a:gd name="connsiteY20" fmla="*/ 589590 h 1860112"/>
              <a:gd name="connsiteX21" fmla="*/ 1129124 w 2597861"/>
              <a:gd name="connsiteY21" fmla="*/ 724401 h 1860112"/>
              <a:gd name="connsiteX22" fmla="*/ 1141044 w 2597861"/>
              <a:gd name="connsiteY22" fmla="*/ 723209 h 1860112"/>
              <a:gd name="connsiteX23" fmla="*/ 1379448 w 2597861"/>
              <a:gd name="connsiteY23" fmla="*/ 1037846 h 1860112"/>
              <a:gd name="connsiteX24" fmla="*/ 1363271 w 2597861"/>
              <a:gd name="connsiteY24" fmla="*/ 1100455 h 1860112"/>
              <a:gd name="connsiteX25" fmla="*/ 1441774 w 2597861"/>
              <a:gd name="connsiteY25" fmla="*/ 1222495 h 1860112"/>
              <a:gd name="connsiteX26" fmla="*/ 1461187 w 2597861"/>
              <a:gd name="connsiteY26" fmla="*/ 1494105 h 1860112"/>
              <a:gd name="connsiteX27" fmla="*/ 1408023 w 2597861"/>
              <a:gd name="connsiteY27" fmla="*/ 1676444 h 1860112"/>
              <a:gd name="connsiteX28" fmla="*/ 1590362 w 2597861"/>
              <a:gd name="connsiteY28" fmla="*/ 1729606 h 1860112"/>
              <a:gd name="connsiteX29" fmla="*/ 1631475 w 2597861"/>
              <a:gd name="connsiteY29" fmla="*/ 1694705 h 1860112"/>
              <a:gd name="connsiteX30" fmla="*/ 2066335 w 2597861"/>
              <a:gd name="connsiteY30" fmla="*/ 1798240 h 1860112"/>
              <a:gd name="connsiteX31" fmla="*/ 2252174 w 2597861"/>
              <a:gd name="connsiteY31" fmla="*/ 1838792 h 1860112"/>
              <a:gd name="connsiteX32" fmla="*/ 2292722 w 2597861"/>
              <a:gd name="connsiteY32" fmla="*/ 1652953 h 1860112"/>
              <a:gd name="connsiteX33" fmla="*/ 2266651 w 2597861"/>
              <a:gd name="connsiteY33" fmla="*/ 1623127 h 1860112"/>
              <a:gd name="connsiteX34" fmla="*/ 2449200 w 2597861"/>
              <a:gd name="connsiteY34" fmla="*/ 1318992 h 1860112"/>
              <a:gd name="connsiteX35" fmla="*/ 2463050 w 2597861"/>
              <a:gd name="connsiteY35" fmla="*/ 1320411 h 1860112"/>
              <a:gd name="connsiteX36" fmla="*/ 2597862 w 2597861"/>
              <a:gd name="connsiteY36" fmla="*/ 1185599 h 1860112"/>
              <a:gd name="connsiteX37" fmla="*/ 2463050 w 2597861"/>
              <a:gd name="connsiteY37" fmla="*/ 1050788 h 1860112"/>
              <a:gd name="connsiteX38" fmla="*/ 2053194 w 2597861"/>
              <a:gd name="connsiteY38" fmla="*/ 1678386 h 1860112"/>
              <a:gd name="connsiteX39" fmla="*/ 1658693 w 2597861"/>
              <a:gd name="connsiteY39" fmla="*/ 1584415 h 1860112"/>
              <a:gd name="connsiteX40" fmla="*/ 1574542 w 2597861"/>
              <a:gd name="connsiteY40" fmla="*/ 1485732 h 1860112"/>
              <a:gd name="connsiteX41" fmla="*/ 1555697 w 2597861"/>
              <a:gd name="connsiteY41" fmla="*/ 1221786 h 1860112"/>
              <a:gd name="connsiteX42" fmla="*/ 1614361 w 2597861"/>
              <a:gd name="connsiteY42" fmla="*/ 1167577 h 1860112"/>
              <a:gd name="connsiteX43" fmla="*/ 2336952 w 2597861"/>
              <a:gd name="connsiteY43" fmla="*/ 1231322 h 1860112"/>
              <a:gd name="connsiteX44" fmla="*/ 2351653 w 2597861"/>
              <a:gd name="connsiteY44" fmla="*/ 1261065 h 1860112"/>
              <a:gd name="connsiteX45" fmla="*/ 2152586 w 2597861"/>
              <a:gd name="connsiteY45" fmla="*/ 1592730 h 1860112"/>
              <a:gd name="connsiteX46" fmla="*/ 2053194 w 2597861"/>
              <a:gd name="connsiteY46" fmla="*/ 1678386 h 1860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597861" h="1860112">
                <a:moveTo>
                  <a:pt x="2463050" y="1050788"/>
                </a:moveTo>
                <a:cubicBezTo>
                  <a:pt x="2415037" y="1050949"/>
                  <a:pt x="2370760" y="1076708"/>
                  <a:pt x="2346885" y="1118364"/>
                </a:cubicBezTo>
                <a:lnTo>
                  <a:pt x="1624323" y="1054619"/>
                </a:lnTo>
                <a:cubicBezTo>
                  <a:pt x="1601865" y="991059"/>
                  <a:pt x="1535518" y="954242"/>
                  <a:pt x="1469701" y="968822"/>
                </a:cubicBezTo>
                <a:lnTo>
                  <a:pt x="1240067" y="665879"/>
                </a:lnTo>
                <a:cubicBezTo>
                  <a:pt x="1282327" y="604731"/>
                  <a:pt x="1267015" y="520904"/>
                  <a:pt x="1205868" y="478647"/>
                </a:cubicBezTo>
                <a:cubicBezTo>
                  <a:pt x="1183313" y="463060"/>
                  <a:pt x="1156538" y="454733"/>
                  <a:pt x="1129124" y="454778"/>
                </a:cubicBezTo>
                <a:cubicBezTo>
                  <a:pt x="1114426" y="454942"/>
                  <a:pt x="1099855" y="457551"/>
                  <a:pt x="1086013" y="462498"/>
                </a:cubicBezTo>
                <a:lnTo>
                  <a:pt x="915157" y="236979"/>
                </a:lnTo>
                <a:cubicBezTo>
                  <a:pt x="940076" y="167218"/>
                  <a:pt x="903728" y="90463"/>
                  <a:pt x="833966" y="65544"/>
                </a:cubicBezTo>
                <a:cubicBezTo>
                  <a:pt x="782775" y="47258"/>
                  <a:pt x="725609" y="61676"/>
                  <a:pt x="689212" y="102054"/>
                </a:cubicBezTo>
                <a:lnTo>
                  <a:pt x="258752" y="80541"/>
                </a:lnTo>
                <a:cubicBezTo>
                  <a:pt x="228588" y="12281"/>
                  <a:pt x="148799" y="-18601"/>
                  <a:pt x="80541" y="11565"/>
                </a:cubicBezTo>
                <a:cubicBezTo>
                  <a:pt x="12282" y="41729"/>
                  <a:pt x="-18600" y="121518"/>
                  <a:pt x="11564" y="189775"/>
                </a:cubicBezTo>
                <a:cubicBezTo>
                  <a:pt x="41728" y="258035"/>
                  <a:pt x="121516" y="288917"/>
                  <a:pt x="189775" y="258750"/>
                </a:cubicBezTo>
                <a:cubicBezTo>
                  <a:pt x="219064" y="245808"/>
                  <a:pt x="242804" y="222885"/>
                  <a:pt x="256765" y="194066"/>
                </a:cubicBezTo>
                <a:lnTo>
                  <a:pt x="656091" y="213933"/>
                </a:lnTo>
                <a:cubicBezTo>
                  <a:pt x="667157" y="286561"/>
                  <a:pt x="735003" y="336470"/>
                  <a:pt x="807631" y="325404"/>
                </a:cubicBezTo>
                <a:cubicBezTo>
                  <a:pt x="816838" y="324002"/>
                  <a:pt x="825872" y="321638"/>
                  <a:pt x="834582" y="318349"/>
                </a:cubicBezTo>
                <a:lnTo>
                  <a:pt x="1003678" y="541512"/>
                </a:lnTo>
                <a:cubicBezTo>
                  <a:pt x="997616" y="556823"/>
                  <a:pt x="994440" y="573123"/>
                  <a:pt x="994313" y="589590"/>
                </a:cubicBezTo>
                <a:cubicBezTo>
                  <a:pt x="994406" y="664006"/>
                  <a:pt x="1054708" y="724308"/>
                  <a:pt x="1129124" y="724401"/>
                </a:cubicBezTo>
                <a:cubicBezTo>
                  <a:pt x="1133211" y="724401"/>
                  <a:pt x="1137071" y="723550"/>
                  <a:pt x="1141044" y="723209"/>
                </a:cubicBezTo>
                <a:lnTo>
                  <a:pt x="1379448" y="1037846"/>
                </a:lnTo>
                <a:cubicBezTo>
                  <a:pt x="1368990" y="1057068"/>
                  <a:pt x="1363433" y="1078573"/>
                  <a:pt x="1363271" y="1100455"/>
                </a:cubicBezTo>
                <a:cubicBezTo>
                  <a:pt x="1363418" y="1152958"/>
                  <a:pt x="1394059" y="1200590"/>
                  <a:pt x="1441774" y="1222495"/>
                </a:cubicBezTo>
                <a:lnTo>
                  <a:pt x="1461187" y="1494105"/>
                </a:lnTo>
                <a:cubicBezTo>
                  <a:pt x="1396154" y="1529775"/>
                  <a:pt x="1372353" y="1611411"/>
                  <a:pt x="1408023" y="1676444"/>
                </a:cubicBezTo>
                <a:cubicBezTo>
                  <a:pt x="1443695" y="1741475"/>
                  <a:pt x="1525329" y="1765278"/>
                  <a:pt x="1590362" y="1729606"/>
                </a:cubicBezTo>
                <a:cubicBezTo>
                  <a:pt x="1606284" y="1720873"/>
                  <a:pt x="1620270" y="1708998"/>
                  <a:pt x="1631475" y="1694705"/>
                </a:cubicBezTo>
                <a:lnTo>
                  <a:pt x="2066335" y="1798240"/>
                </a:lnTo>
                <a:cubicBezTo>
                  <a:pt x="2106455" y="1860756"/>
                  <a:pt x="2189658" y="1878911"/>
                  <a:pt x="2252174" y="1838792"/>
                </a:cubicBezTo>
                <a:cubicBezTo>
                  <a:pt x="2314689" y="1798669"/>
                  <a:pt x="2332845" y="1715469"/>
                  <a:pt x="2292722" y="1652953"/>
                </a:cubicBezTo>
                <a:cubicBezTo>
                  <a:pt x="2285553" y="1641779"/>
                  <a:pt x="2276766" y="1631727"/>
                  <a:pt x="2266651" y="1623127"/>
                </a:cubicBezTo>
                <a:lnTo>
                  <a:pt x="2449200" y="1318992"/>
                </a:lnTo>
                <a:cubicBezTo>
                  <a:pt x="2453790" y="1319710"/>
                  <a:pt x="2458413" y="1320184"/>
                  <a:pt x="2463050" y="1320411"/>
                </a:cubicBezTo>
                <a:cubicBezTo>
                  <a:pt x="2537506" y="1320411"/>
                  <a:pt x="2597862" y="1260055"/>
                  <a:pt x="2597862" y="1185599"/>
                </a:cubicBezTo>
                <a:cubicBezTo>
                  <a:pt x="2597862" y="1111143"/>
                  <a:pt x="2537506" y="1050788"/>
                  <a:pt x="2463050" y="1050788"/>
                </a:cubicBezTo>
                <a:close/>
                <a:moveTo>
                  <a:pt x="2053194" y="1678386"/>
                </a:moveTo>
                <a:lnTo>
                  <a:pt x="1658693" y="1584415"/>
                </a:lnTo>
                <a:cubicBezTo>
                  <a:pt x="1649319" y="1539317"/>
                  <a:pt x="1617591" y="1502114"/>
                  <a:pt x="1574542" y="1485732"/>
                </a:cubicBezTo>
                <a:lnTo>
                  <a:pt x="1555697" y="1221786"/>
                </a:lnTo>
                <a:cubicBezTo>
                  <a:pt x="1580286" y="1210067"/>
                  <a:pt x="1600741" y="1191165"/>
                  <a:pt x="1614361" y="1167577"/>
                </a:cubicBezTo>
                <a:lnTo>
                  <a:pt x="2336952" y="1231322"/>
                </a:lnTo>
                <a:cubicBezTo>
                  <a:pt x="2340593" y="1241811"/>
                  <a:pt x="2345531" y="1251802"/>
                  <a:pt x="2351653" y="1261065"/>
                </a:cubicBezTo>
                <a:lnTo>
                  <a:pt x="2152586" y="1592730"/>
                </a:lnTo>
                <a:cubicBezTo>
                  <a:pt x="2106858" y="1602148"/>
                  <a:pt x="2069258" y="1634550"/>
                  <a:pt x="2053194" y="167838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FB0944D1-1673-C0B3-B89E-27B19F3DB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14" name="Image 8" descr="preencoded.png">
            <a:extLst>
              <a:ext uri="{FF2B5EF4-FFF2-40B4-BE49-F238E27FC236}">
                <a16:creationId xmlns:a16="http://schemas.microsoft.com/office/drawing/2014/main" id="{29AD4341-E9D5-35B2-37C2-2BDF93A37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6477000"/>
            <a:ext cx="219075" cy="171450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2E357065-43B9-2375-E8F4-B47220FBFD0E}"/>
              </a:ext>
            </a:extLst>
          </p:cNvPr>
          <p:cNvSpPr/>
          <p:nvPr/>
        </p:nvSpPr>
        <p:spPr>
          <a:xfrm>
            <a:off x="3419475" y="6419850"/>
            <a:ext cx="7132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(산대특) JAVA &amp; Python 기반 빅데이터 분석 활용 AI 플랫폼 개발자 양성과정</a:t>
            </a:r>
            <a:endParaRPr lang="en-US" sz="135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6AF83AE-ABD5-C8A4-B1B9-7FBC9A430D30}"/>
              </a:ext>
            </a:extLst>
          </p:cNvPr>
          <p:cNvSpPr/>
          <p:nvPr/>
        </p:nvSpPr>
        <p:spPr>
          <a:xfrm>
            <a:off x="4381500" y="3671688"/>
            <a:ext cx="35547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chemeClr val="bg1">
                    <a:lumMod val="9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집중력 관리 특화 AI 챗봇</a:t>
            </a:r>
            <a:endParaRPr lang="en-US" sz="22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1CDF560D-3D1A-1F46-C0C4-C60141CA92E5}"/>
              </a:ext>
            </a:extLst>
          </p:cNvPr>
          <p:cNvSpPr/>
          <p:nvPr/>
        </p:nvSpPr>
        <p:spPr>
          <a:xfrm>
            <a:off x="4444365" y="5185961"/>
            <a:ext cx="342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팀원: 양지훈, 최진석, 유다경, 박지은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73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480D6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urple Technical Data Info Powerpoint Templates - Business ...">
            <a:extLst>
              <a:ext uri="{FF2B5EF4-FFF2-40B4-BE49-F238E27FC236}">
                <a16:creationId xmlns:a16="http://schemas.microsoft.com/office/drawing/2014/main" id="{96E3E027-398D-EAC6-2F1B-7BF5F501C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그룹 23"/>
          <p:cNvGrpSpPr/>
          <p:nvPr/>
        </p:nvGrpSpPr>
        <p:grpSpPr>
          <a:xfrm rot="585597">
            <a:off x="7447695" y="947894"/>
            <a:ext cx="4028000" cy="1070075"/>
            <a:chOff x="378900" y="2074835"/>
            <a:chExt cx="10743104" cy="2854003"/>
          </a:xfrm>
          <a:noFill/>
        </p:grpSpPr>
        <p:sp>
          <p:nvSpPr>
            <p:cNvPr id="18" name="타원 17"/>
            <p:cNvSpPr/>
            <p:nvPr/>
          </p:nvSpPr>
          <p:spPr>
            <a:xfrm>
              <a:off x="1206190" y="2196790"/>
              <a:ext cx="9779620" cy="2464419"/>
            </a:xfrm>
            <a:prstGeom prst="ellipse">
              <a:avLst/>
            </a:prstGeom>
            <a:grp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bg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459880" y="2685342"/>
              <a:ext cx="5256442" cy="1395483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chemeClr val="bg1"/>
                  </a:solidFill>
                  <a:latin typeface="210 클레이토이 B" panose="02020603020101020101" pitchFamily="18" charset="-127"/>
                  <a:ea typeface="210 클레이토이 B" panose="02020603020101020101" pitchFamily="18" charset="-127"/>
                  <a:cs typeface="Comic Sans MS"/>
                </a:rPr>
                <a:t>Focus-Aid</a:t>
              </a:r>
              <a:endParaRPr lang="ko-KR" altLang="en-US" sz="2800" dirty="0">
                <a:solidFill>
                  <a:schemeClr val="bg1"/>
                </a:solidFill>
                <a:latin typeface="210 클레이토이 B" panose="02020603020101020101" pitchFamily="18" charset="-127"/>
                <a:ea typeface="210 클레이토이 B" panose="02020603020101020101" pitchFamily="18" charset="-127"/>
                <a:cs typeface="Comic Sans MS"/>
              </a:endParaRPr>
            </a:p>
          </p:txBody>
        </p:sp>
        <p:sp>
          <p:nvSpPr>
            <p:cNvPr id="20" name="자유형: 도형 19"/>
            <p:cNvSpPr/>
            <p:nvPr/>
          </p:nvSpPr>
          <p:spPr>
            <a:xfrm>
              <a:off x="10639521" y="2196790"/>
              <a:ext cx="482483" cy="577504"/>
            </a:xfrm>
            <a:custGeom>
              <a:avLst/>
              <a:gdLst>
                <a:gd name="connsiteX0" fmla="*/ 241242 w 482483"/>
                <a:gd name="connsiteY0" fmla="*/ 577505 h 577504"/>
                <a:gd name="connsiteX1" fmla="*/ 482484 w 482483"/>
                <a:gd name="connsiteY1" fmla="*/ 288752 h 577504"/>
                <a:gd name="connsiteX2" fmla="*/ 241242 w 482483"/>
                <a:gd name="connsiteY2" fmla="*/ 0 h 577504"/>
                <a:gd name="connsiteX3" fmla="*/ 0 w 482483"/>
                <a:gd name="connsiteY3" fmla="*/ 288752 h 577504"/>
                <a:gd name="connsiteX4" fmla="*/ 241242 w 482483"/>
                <a:gd name="connsiteY4" fmla="*/ 577505 h 577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483" h="577504">
                  <a:moveTo>
                    <a:pt x="241242" y="577505"/>
                  </a:moveTo>
                  <a:cubicBezTo>
                    <a:pt x="276583" y="451142"/>
                    <a:pt x="364423" y="346003"/>
                    <a:pt x="482484" y="288752"/>
                  </a:cubicBezTo>
                  <a:cubicBezTo>
                    <a:pt x="364273" y="231689"/>
                    <a:pt x="276370" y="126476"/>
                    <a:pt x="241242" y="0"/>
                  </a:cubicBezTo>
                  <a:cubicBezTo>
                    <a:pt x="205893" y="126360"/>
                    <a:pt x="118058" y="231493"/>
                    <a:pt x="0" y="288752"/>
                  </a:cubicBezTo>
                  <a:cubicBezTo>
                    <a:pt x="118061" y="346003"/>
                    <a:pt x="205901" y="451142"/>
                    <a:pt x="241242" y="577505"/>
                  </a:cubicBezTo>
                  <a:close/>
                </a:path>
              </a:pathLst>
            </a:custGeom>
            <a:grpFill/>
            <a:ln w="2837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ko-KR" altLang="en-US" sz="800">
                <a:solidFill>
                  <a:schemeClr val="bg1"/>
                </a:solidFill>
              </a:endParaRPr>
            </a:p>
          </p:txBody>
        </p:sp>
        <p:sp>
          <p:nvSpPr>
            <p:cNvPr id="21" name="자유형: 도형 20"/>
            <p:cNvSpPr/>
            <p:nvPr/>
          </p:nvSpPr>
          <p:spPr>
            <a:xfrm>
              <a:off x="874128" y="2196790"/>
              <a:ext cx="332062" cy="397339"/>
            </a:xfrm>
            <a:custGeom>
              <a:avLst/>
              <a:gdLst>
                <a:gd name="connsiteX0" fmla="*/ 165974 w 332062"/>
                <a:gd name="connsiteY0" fmla="*/ 0 h 397339"/>
                <a:gd name="connsiteX1" fmla="*/ 0 w 332062"/>
                <a:gd name="connsiteY1" fmla="*/ 198670 h 397339"/>
                <a:gd name="connsiteX2" fmla="*/ 165974 w 332062"/>
                <a:gd name="connsiteY2" fmla="*/ 397340 h 397339"/>
                <a:gd name="connsiteX3" fmla="*/ 332062 w 332062"/>
                <a:gd name="connsiteY3" fmla="*/ 198670 h 397339"/>
                <a:gd name="connsiteX4" fmla="*/ 165974 w 332062"/>
                <a:gd name="connsiteY4" fmla="*/ 0 h 3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062" h="397339">
                  <a:moveTo>
                    <a:pt x="165974" y="0"/>
                  </a:moveTo>
                  <a:cubicBezTo>
                    <a:pt x="141671" y="86946"/>
                    <a:pt x="81236" y="159288"/>
                    <a:pt x="0" y="198670"/>
                  </a:cubicBezTo>
                  <a:cubicBezTo>
                    <a:pt x="81236" y="238052"/>
                    <a:pt x="141671" y="310393"/>
                    <a:pt x="165974" y="397340"/>
                  </a:cubicBezTo>
                  <a:cubicBezTo>
                    <a:pt x="190329" y="310388"/>
                    <a:pt x="250804" y="238052"/>
                    <a:pt x="332062" y="198670"/>
                  </a:cubicBezTo>
                  <a:cubicBezTo>
                    <a:pt x="250690" y="159433"/>
                    <a:pt x="190170" y="87037"/>
                    <a:pt x="165974" y="0"/>
                  </a:cubicBezTo>
                  <a:close/>
                </a:path>
              </a:pathLst>
            </a:custGeom>
            <a:grpFill/>
            <a:ln w="2837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ko-KR" altLang="en-US" sz="800">
                <a:solidFill>
                  <a:schemeClr val="bg1"/>
                </a:solidFill>
              </a:endParaRPr>
            </a:p>
          </p:txBody>
        </p:sp>
        <p:sp>
          <p:nvSpPr>
            <p:cNvPr id="22" name="자유형: 도형 21"/>
            <p:cNvSpPr/>
            <p:nvPr/>
          </p:nvSpPr>
          <p:spPr>
            <a:xfrm>
              <a:off x="10296390" y="2074835"/>
              <a:ext cx="203778" cy="243909"/>
            </a:xfrm>
            <a:custGeom>
              <a:avLst/>
              <a:gdLst>
                <a:gd name="connsiteX0" fmla="*/ 101889 w 203778"/>
                <a:gd name="connsiteY0" fmla="*/ 243910 h 243909"/>
                <a:gd name="connsiteX1" fmla="*/ 203778 w 203778"/>
                <a:gd name="connsiteY1" fmla="*/ 121870 h 243909"/>
                <a:gd name="connsiteX2" fmla="*/ 101889 w 203778"/>
                <a:gd name="connsiteY2" fmla="*/ 0 h 243909"/>
                <a:gd name="connsiteX3" fmla="*/ 0 w 203778"/>
                <a:gd name="connsiteY3" fmla="*/ 122040 h 243909"/>
                <a:gd name="connsiteX4" fmla="*/ 101889 w 203778"/>
                <a:gd name="connsiteY4" fmla="*/ 243910 h 24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778" h="243909">
                  <a:moveTo>
                    <a:pt x="101889" y="243910"/>
                  </a:moveTo>
                  <a:cubicBezTo>
                    <a:pt x="116812" y="190516"/>
                    <a:pt x="153907" y="146085"/>
                    <a:pt x="203778" y="121870"/>
                  </a:cubicBezTo>
                  <a:cubicBezTo>
                    <a:pt x="153870" y="97788"/>
                    <a:pt x="116747" y="53385"/>
                    <a:pt x="101889" y="0"/>
                  </a:cubicBezTo>
                  <a:cubicBezTo>
                    <a:pt x="86966" y="53391"/>
                    <a:pt x="49872" y="97825"/>
                    <a:pt x="0" y="122040"/>
                  </a:cubicBezTo>
                  <a:cubicBezTo>
                    <a:pt x="49832" y="146218"/>
                    <a:pt x="86924" y="190581"/>
                    <a:pt x="101889" y="243910"/>
                  </a:cubicBezTo>
                  <a:close/>
                </a:path>
              </a:pathLst>
            </a:custGeom>
            <a:grpFill/>
            <a:ln w="2837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ko-KR" altLang="en-US" sz="800">
                <a:solidFill>
                  <a:schemeClr val="bg1"/>
                </a:solidFill>
              </a:endParaRPr>
            </a:p>
          </p:txBody>
        </p:sp>
        <p:sp>
          <p:nvSpPr>
            <p:cNvPr id="23" name="자유형: 도형 22"/>
            <p:cNvSpPr/>
            <p:nvPr/>
          </p:nvSpPr>
          <p:spPr>
            <a:xfrm>
              <a:off x="378900" y="3897615"/>
              <a:ext cx="1440222" cy="1031223"/>
            </a:xfrm>
            <a:custGeom>
              <a:avLst/>
              <a:gdLst>
                <a:gd name="connsiteX0" fmla="*/ 2463050 w 2597861"/>
                <a:gd name="connsiteY0" fmla="*/ 1050788 h 1860112"/>
                <a:gd name="connsiteX1" fmla="*/ 2346885 w 2597861"/>
                <a:gd name="connsiteY1" fmla="*/ 1118364 h 1860112"/>
                <a:gd name="connsiteX2" fmla="*/ 1624323 w 2597861"/>
                <a:gd name="connsiteY2" fmla="*/ 1054619 h 1860112"/>
                <a:gd name="connsiteX3" fmla="*/ 1469701 w 2597861"/>
                <a:gd name="connsiteY3" fmla="*/ 968822 h 1860112"/>
                <a:gd name="connsiteX4" fmla="*/ 1240067 w 2597861"/>
                <a:gd name="connsiteY4" fmla="*/ 665879 h 1860112"/>
                <a:gd name="connsiteX5" fmla="*/ 1205868 w 2597861"/>
                <a:gd name="connsiteY5" fmla="*/ 478647 h 1860112"/>
                <a:gd name="connsiteX6" fmla="*/ 1129124 w 2597861"/>
                <a:gd name="connsiteY6" fmla="*/ 454778 h 1860112"/>
                <a:gd name="connsiteX7" fmla="*/ 1086013 w 2597861"/>
                <a:gd name="connsiteY7" fmla="*/ 462498 h 1860112"/>
                <a:gd name="connsiteX8" fmla="*/ 915157 w 2597861"/>
                <a:gd name="connsiteY8" fmla="*/ 236979 h 1860112"/>
                <a:gd name="connsiteX9" fmla="*/ 833966 w 2597861"/>
                <a:gd name="connsiteY9" fmla="*/ 65544 h 1860112"/>
                <a:gd name="connsiteX10" fmla="*/ 689212 w 2597861"/>
                <a:gd name="connsiteY10" fmla="*/ 102054 h 1860112"/>
                <a:gd name="connsiteX11" fmla="*/ 258752 w 2597861"/>
                <a:gd name="connsiteY11" fmla="*/ 80541 h 1860112"/>
                <a:gd name="connsiteX12" fmla="*/ 80541 w 2597861"/>
                <a:gd name="connsiteY12" fmla="*/ 11565 h 1860112"/>
                <a:gd name="connsiteX13" fmla="*/ 11564 w 2597861"/>
                <a:gd name="connsiteY13" fmla="*/ 189775 h 1860112"/>
                <a:gd name="connsiteX14" fmla="*/ 189775 w 2597861"/>
                <a:gd name="connsiteY14" fmla="*/ 258750 h 1860112"/>
                <a:gd name="connsiteX15" fmla="*/ 256765 w 2597861"/>
                <a:gd name="connsiteY15" fmla="*/ 194066 h 1860112"/>
                <a:gd name="connsiteX16" fmla="*/ 656091 w 2597861"/>
                <a:gd name="connsiteY16" fmla="*/ 213933 h 1860112"/>
                <a:gd name="connsiteX17" fmla="*/ 807631 w 2597861"/>
                <a:gd name="connsiteY17" fmla="*/ 325404 h 1860112"/>
                <a:gd name="connsiteX18" fmla="*/ 834582 w 2597861"/>
                <a:gd name="connsiteY18" fmla="*/ 318349 h 1860112"/>
                <a:gd name="connsiteX19" fmla="*/ 1003678 w 2597861"/>
                <a:gd name="connsiteY19" fmla="*/ 541512 h 1860112"/>
                <a:gd name="connsiteX20" fmla="*/ 994313 w 2597861"/>
                <a:gd name="connsiteY20" fmla="*/ 589590 h 1860112"/>
                <a:gd name="connsiteX21" fmla="*/ 1129124 w 2597861"/>
                <a:gd name="connsiteY21" fmla="*/ 724401 h 1860112"/>
                <a:gd name="connsiteX22" fmla="*/ 1141044 w 2597861"/>
                <a:gd name="connsiteY22" fmla="*/ 723209 h 1860112"/>
                <a:gd name="connsiteX23" fmla="*/ 1379448 w 2597861"/>
                <a:gd name="connsiteY23" fmla="*/ 1037846 h 1860112"/>
                <a:gd name="connsiteX24" fmla="*/ 1363271 w 2597861"/>
                <a:gd name="connsiteY24" fmla="*/ 1100455 h 1860112"/>
                <a:gd name="connsiteX25" fmla="*/ 1441774 w 2597861"/>
                <a:gd name="connsiteY25" fmla="*/ 1222495 h 1860112"/>
                <a:gd name="connsiteX26" fmla="*/ 1461187 w 2597861"/>
                <a:gd name="connsiteY26" fmla="*/ 1494105 h 1860112"/>
                <a:gd name="connsiteX27" fmla="*/ 1408023 w 2597861"/>
                <a:gd name="connsiteY27" fmla="*/ 1676444 h 1860112"/>
                <a:gd name="connsiteX28" fmla="*/ 1590362 w 2597861"/>
                <a:gd name="connsiteY28" fmla="*/ 1729606 h 1860112"/>
                <a:gd name="connsiteX29" fmla="*/ 1631475 w 2597861"/>
                <a:gd name="connsiteY29" fmla="*/ 1694705 h 1860112"/>
                <a:gd name="connsiteX30" fmla="*/ 2066335 w 2597861"/>
                <a:gd name="connsiteY30" fmla="*/ 1798240 h 1860112"/>
                <a:gd name="connsiteX31" fmla="*/ 2252174 w 2597861"/>
                <a:gd name="connsiteY31" fmla="*/ 1838792 h 1860112"/>
                <a:gd name="connsiteX32" fmla="*/ 2292722 w 2597861"/>
                <a:gd name="connsiteY32" fmla="*/ 1652953 h 1860112"/>
                <a:gd name="connsiteX33" fmla="*/ 2266651 w 2597861"/>
                <a:gd name="connsiteY33" fmla="*/ 1623127 h 1860112"/>
                <a:gd name="connsiteX34" fmla="*/ 2449200 w 2597861"/>
                <a:gd name="connsiteY34" fmla="*/ 1318992 h 1860112"/>
                <a:gd name="connsiteX35" fmla="*/ 2463050 w 2597861"/>
                <a:gd name="connsiteY35" fmla="*/ 1320411 h 1860112"/>
                <a:gd name="connsiteX36" fmla="*/ 2597862 w 2597861"/>
                <a:gd name="connsiteY36" fmla="*/ 1185599 h 1860112"/>
                <a:gd name="connsiteX37" fmla="*/ 2463050 w 2597861"/>
                <a:gd name="connsiteY37" fmla="*/ 1050788 h 1860112"/>
                <a:gd name="connsiteX38" fmla="*/ 2053194 w 2597861"/>
                <a:gd name="connsiteY38" fmla="*/ 1678386 h 1860112"/>
                <a:gd name="connsiteX39" fmla="*/ 1658693 w 2597861"/>
                <a:gd name="connsiteY39" fmla="*/ 1584415 h 1860112"/>
                <a:gd name="connsiteX40" fmla="*/ 1574542 w 2597861"/>
                <a:gd name="connsiteY40" fmla="*/ 1485732 h 1860112"/>
                <a:gd name="connsiteX41" fmla="*/ 1555697 w 2597861"/>
                <a:gd name="connsiteY41" fmla="*/ 1221786 h 1860112"/>
                <a:gd name="connsiteX42" fmla="*/ 1614361 w 2597861"/>
                <a:gd name="connsiteY42" fmla="*/ 1167577 h 1860112"/>
                <a:gd name="connsiteX43" fmla="*/ 2336952 w 2597861"/>
                <a:gd name="connsiteY43" fmla="*/ 1231322 h 1860112"/>
                <a:gd name="connsiteX44" fmla="*/ 2351653 w 2597861"/>
                <a:gd name="connsiteY44" fmla="*/ 1261065 h 1860112"/>
                <a:gd name="connsiteX45" fmla="*/ 2152586 w 2597861"/>
                <a:gd name="connsiteY45" fmla="*/ 1592730 h 1860112"/>
                <a:gd name="connsiteX46" fmla="*/ 2053194 w 2597861"/>
                <a:gd name="connsiteY46" fmla="*/ 1678386 h 186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597861" h="1860112">
                  <a:moveTo>
                    <a:pt x="2463050" y="1050788"/>
                  </a:moveTo>
                  <a:cubicBezTo>
                    <a:pt x="2415037" y="1050949"/>
                    <a:pt x="2370760" y="1076708"/>
                    <a:pt x="2346885" y="1118364"/>
                  </a:cubicBezTo>
                  <a:lnTo>
                    <a:pt x="1624323" y="1054619"/>
                  </a:lnTo>
                  <a:cubicBezTo>
                    <a:pt x="1601865" y="991059"/>
                    <a:pt x="1535518" y="954242"/>
                    <a:pt x="1469701" y="968822"/>
                  </a:cubicBezTo>
                  <a:lnTo>
                    <a:pt x="1240067" y="665879"/>
                  </a:lnTo>
                  <a:cubicBezTo>
                    <a:pt x="1282327" y="604731"/>
                    <a:pt x="1267015" y="520904"/>
                    <a:pt x="1205868" y="478647"/>
                  </a:cubicBezTo>
                  <a:cubicBezTo>
                    <a:pt x="1183313" y="463060"/>
                    <a:pt x="1156538" y="454733"/>
                    <a:pt x="1129124" y="454778"/>
                  </a:cubicBezTo>
                  <a:cubicBezTo>
                    <a:pt x="1114426" y="454942"/>
                    <a:pt x="1099855" y="457551"/>
                    <a:pt x="1086013" y="462498"/>
                  </a:cubicBezTo>
                  <a:lnTo>
                    <a:pt x="915157" y="236979"/>
                  </a:lnTo>
                  <a:cubicBezTo>
                    <a:pt x="940076" y="167218"/>
                    <a:pt x="903728" y="90463"/>
                    <a:pt x="833966" y="65544"/>
                  </a:cubicBezTo>
                  <a:cubicBezTo>
                    <a:pt x="782775" y="47258"/>
                    <a:pt x="725609" y="61676"/>
                    <a:pt x="689212" y="102054"/>
                  </a:cubicBezTo>
                  <a:lnTo>
                    <a:pt x="258752" y="80541"/>
                  </a:lnTo>
                  <a:cubicBezTo>
                    <a:pt x="228588" y="12281"/>
                    <a:pt x="148799" y="-18601"/>
                    <a:pt x="80541" y="11565"/>
                  </a:cubicBezTo>
                  <a:cubicBezTo>
                    <a:pt x="12282" y="41729"/>
                    <a:pt x="-18600" y="121518"/>
                    <a:pt x="11564" y="189775"/>
                  </a:cubicBezTo>
                  <a:cubicBezTo>
                    <a:pt x="41728" y="258035"/>
                    <a:pt x="121516" y="288917"/>
                    <a:pt x="189775" y="258750"/>
                  </a:cubicBezTo>
                  <a:cubicBezTo>
                    <a:pt x="219064" y="245808"/>
                    <a:pt x="242804" y="222885"/>
                    <a:pt x="256765" y="194066"/>
                  </a:cubicBezTo>
                  <a:lnTo>
                    <a:pt x="656091" y="213933"/>
                  </a:lnTo>
                  <a:cubicBezTo>
                    <a:pt x="667157" y="286561"/>
                    <a:pt x="735003" y="336470"/>
                    <a:pt x="807631" y="325404"/>
                  </a:cubicBezTo>
                  <a:cubicBezTo>
                    <a:pt x="816838" y="324002"/>
                    <a:pt x="825872" y="321638"/>
                    <a:pt x="834582" y="318349"/>
                  </a:cubicBezTo>
                  <a:lnTo>
                    <a:pt x="1003678" y="541512"/>
                  </a:lnTo>
                  <a:cubicBezTo>
                    <a:pt x="997616" y="556823"/>
                    <a:pt x="994440" y="573123"/>
                    <a:pt x="994313" y="589590"/>
                  </a:cubicBezTo>
                  <a:cubicBezTo>
                    <a:pt x="994406" y="664006"/>
                    <a:pt x="1054708" y="724308"/>
                    <a:pt x="1129124" y="724401"/>
                  </a:cubicBezTo>
                  <a:cubicBezTo>
                    <a:pt x="1133211" y="724401"/>
                    <a:pt x="1137071" y="723550"/>
                    <a:pt x="1141044" y="723209"/>
                  </a:cubicBezTo>
                  <a:lnTo>
                    <a:pt x="1379448" y="1037846"/>
                  </a:lnTo>
                  <a:cubicBezTo>
                    <a:pt x="1368990" y="1057068"/>
                    <a:pt x="1363433" y="1078573"/>
                    <a:pt x="1363271" y="1100455"/>
                  </a:cubicBezTo>
                  <a:cubicBezTo>
                    <a:pt x="1363418" y="1152958"/>
                    <a:pt x="1394059" y="1200590"/>
                    <a:pt x="1441774" y="1222495"/>
                  </a:cubicBezTo>
                  <a:lnTo>
                    <a:pt x="1461187" y="1494105"/>
                  </a:lnTo>
                  <a:cubicBezTo>
                    <a:pt x="1396154" y="1529775"/>
                    <a:pt x="1372353" y="1611411"/>
                    <a:pt x="1408023" y="1676444"/>
                  </a:cubicBezTo>
                  <a:cubicBezTo>
                    <a:pt x="1443695" y="1741475"/>
                    <a:pt x="1525329" y="1765278"/>
                    <a:pt x="1590362" y="1729606"/>
                  </a:cubicBezTo>
                  <a:cubicBezTo>
                    <a:pt x="1606284" y="1720873"/>
                    <a:pt x="1620270" y="1708998"/>
                    <a:pt x="1631475" y="1694705"/>
                  </a:cubicBezTo>
                  <a:lnTo>
                    <a:pt x="2066335" y="1798240"/>
                  </a:lnTo>
                  <a:cubicBezTo>
                    <a:pt x="2106455" y="1860756"/>
                    <a:pt x="2189658" y="1878911"/>
                    <a:pt x="2252174" y="1838792"/>
                  </a:cubicBezTo>
                  <a:cubicBezTo>
                    <a:pt x="2314689" y="1798669"/>
                    <a:pt x="2332845" y="1715469"/>
                    <a:pt x="2292722" y="1652953"/>
                  </a:cubicBezTo>
                  <a:cubicBezTo>
                    <a:pt x="2285553" y="1641779"/>
                    <a:pt x="2276766" y="1631727"/>
                    <a:pt x="2266651" y="1623127"/>
                  </a:cubicBezTo>
                  <a:lnTo>
                    <a:pt x="2449200" y="1318992"/>
                  </a:lnTo>
                  <a:cubicBezTo>
                    <a:pt x="2453790" y="1319710"/>
                    <a:pt x="2458413" y="1320184"/>
                    <a:pt x="2463050" y="1320411"/>
                  </a:cubicBezTo>
                  <a:cubicBezTo>
                    <a:pt x="2537506" y="1320411"/>
                    <a:pt x="2597862" y="1260055"/>
                    <a:pt x="2597862" y="1185599"/>
                  </a:cubicBezTo>
                  <a:cubicBezTo>
                    <a:pt x="2597862" y="1111143"/>
                    <a:pt x="2537506" y="1050788"/>
                    <a:pt x="2463050" y="1050788"/>
                  </a:cubicBezTo>
                  <a:close/>
                  <a:moveTo>
                    <a:pt x="2053194" y="1678386"/>
                  </a:moveTo>
                  <a:lnTo>
                    <a:pt x="1658693" y="1584415"/>
                  </a:lnTo>
                  <a:cubicBezTo>
                    <a:pt x="1649319" y="1539317"/>
                    <a:pt x="1617591" y="1502114"/>
                    <a:pt x="1574542" y="1485732"/>
                  </a:cubicBezTo>
                  <a:lnTo>
                    <a:pt x="1555697" y="1221786"/>
                  </a:lnTo>
                  <a:cubicBezTo>
                    <a:pt x="1580286" y="1210067"/>
                    <a:pt x="1600741" y="1191165"/>
                    <a:pt x="1614361" y="1167577"/>
                  </a:cubicBezTo>
                  <a:lnTo>
                    <a:pt x="2336952" y="1231322"/>
                  </a:lnTo>
                  <a:cubicBezTo>
                    <a:pt x="2340593" y="1241811"/>
                    <a:pt x="2345531" y="1251802"/>
                    <a:pt x="2351653" y="1261065"/>
                  </a:cubicBezTo>
                  <a:lnTo>
                    <a:pt x="2152586" y="1592730"/>
                  </a:lnTo>
                  <a:cubicBezTo>
                    <a:pt x="2106858" y="1602148"/>
                    <a:pt x="2069258" y="1634550"/>
                    <a:pt x="2053194" y="1678386"/>
                  </a:cubicBezTo>
                  <a:close/>
                </a:path>
              </a:pathLst>
            </a:custGeom>
            <a:grpFill/>
            <a:ln w="254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ko-KR" altLang="en-US" sz="800">
                <a:solidFill>
                  <a:schemeClr val="bg1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5C48FA8-33B3-ADD0-CC07-5A171F1C860D}"/>
              </a:ext>
            </a:extLst>
          </p:cNvPr>
          <p:cNvSpPr txBox="1"/>
          <p:nvPr/>
        </p:nvSpPr>
        <p:spPr>
          <a:xfrm>
            <a:off x="712831" y="690763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3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</a:rPr>
              <a:t>목차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D18301F-AF29-96A3-EEE4-C13E7A17EC84}"/>
              </a:ext>
            </a:extLst>
          </p:cNvPr>
          <p:cNvCxnSpPr/>
          <p:nvPr/>
        </p:nvCxnSpPr>
        <p:spPr>
          <a:xfrm>
            <a:off x="712831" y="1311449"/>
            <a:ext cx="62975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Image 2" descr="preencoded.png">
            <a:extLst>
              <a:ext uri="{FF2B5EF4-FFF2-40B4-BE49-F238E27FC236}">
                <a16:creationId xmlns:a16="http://schemas.microsoft.com/office/drawing/2014/main" id="{E160C0C7-ADB1-F8BE-10F2-3B7EBC7E576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3145"/>
                    </a14:imgEffect>
                    <a14:imgEffect>
                      <a14:saturation sat="2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2414" y="1996764"/>
            <a:ext cx="458681" cy="489260"/>
          </a:xfrm>
          <a:prstGeom prst="rect">
            <a:avLst/>
          </a:prstGeom>
          <a:noFill/>
        </p:spPr>
      </p:pic>
      <p:pic>
        <p:nvPicPr>
          <p:cNvPr id="62" name="Image 3" descr="preencoded.png">
            <a:extLst>
              <a:ext uri="{FF2B5EF4-FFF2-40B4-BE49-F238E27FC236}">
                <a16:creationId xmlns:a16="http://schemas.microsoft.com/office/drawing/2014/main" id="{93189E27-96DE-DDDC-D3DA-D8C95870A44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22494" y="2875195"/>
            <a:ext cx="275400" cy="489600"/>
          </a:xfrm>
          <a:prstGeom prst="rect">
            <a:avLst/>
          </a:prstGeom>
        </p:spPr>
      </p:pic>
      <p:pic>
        <p:nvPicPr>
          <p:cNvPr id="63" name="Image 4" descr="preencoded.png">
            <a:extLst>
              <a:ext uri="{FF2B5EF4-FFF2-40B4-BE49-F238E27FC236}">
                <a16:creationId xmlns:a16="http://schemas.microsoft.com/office/drawing/2014/main" id="{080316D8-4DAE-8BF7-A415-C2B3785A525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97894" y="3976823"/>
            <a:ext cx="413100" cy="489600"/>
          </a:xfrm>
          <a:prstGeom prst="rect">
            <a:avLst/>
          </a:prstGeom>
        </p:spPr>
      </p:pic>
      <p:pic>
        <p:nvPicPr>
          <p:cNvPr id="64" name="Image 5" descr="preencoded.png">
            <a:extLst>
              <a:ext uri="{FF2B5EF4-FFF2-40B4-BE49-F238E27FC236}">
                <a16:creationId xmlns:a16="http://schemas.microsoft.com/office/drawing/2014/main" id="{15B7F379-621D-4A12-A4B9-C4996A11358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68663" y="5013358"/>
            <a:ext cx="413100" cy="489600"/>
          </a:xfrm>
          <a:prstGeom prst="rect">
            <a:avLst/>
          </a:prstGeom>
        </p:spPr>
      </p:pic>
      <p:sp>
        <p:nvSpPr>
          <p:cNvPr id="71" name="Text 1">
            <a:extLst>
              <a:ext uri="{FF2B5EF4-FFF2-40B4-BE49-F238E27FC236}">
                <a16:creationId xmlns:a16="http://schemas.microsoft.com/office/drawing/2014/main" id="{7A6A530F-D8BA-70EB-6DB9-AA02DE4FBF5F}"/>
              </a:ext>
            </a:extLst>
          </p:cNvPr>
          <p:cNvSpPr/>
          <p:nvPr/>
        </p:nvSpPr>
        <p:spPr>
          <a:xfrm>
            <a:off x="1822069" y="2156579"/>
            <a:ext cx="2323037" cy="7245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1. </a:t>
            </a:r>
            <a:r>
              <a:rPr lang="en-US" sz="2400" dirty="0" err="1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프로젝트</a:t>
            </a:r>
            <a:r>
              <a:rPr lang="en-US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소개</a:t>
            </a:r>
            <a:endParaRPr lang="en-US" sz="2400" dirty="0">
              <a:solidFill>
                <a:schemeClr val="bg1"/>
              </a:solidFill>
              <a:latin typeface="210 클레이토이 L" panose="02020603020101020101" pitchFamily="18" charset="-127"/>
              <a:ea typeface="210 클레이토이 L" panose="02020603020101020101" pitchFamily="18" charset="-127"/>
            </a:endParaRPr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316C59F2-F4AC-6456-A119-3FD42CA5CA2B}"/>
              </a:ext>
            </a:extLst>
          </p:cNvPr>
          <p:cNvSpPr/>
          <p:nvPr/>
        </p:nvSpPr>
        <p:spPr>
          <a:xfrm>
            <a:off x="2456209" y="3019899"/>
            <a:ext cx="3026276" cy="4091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2. </a:t>
            </a:r>
            <a:r>
              <a:rPr lang="ko-KR" altLang="en-US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주요 기능 </a:t>
            </a:r>
            <a:r>
              <a:rPr lang="en-US" altLang="ko-KR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&amp; </a:t>
            </a:r>
            <a:r>
              <a:rPr lang="ko-KR" altLang="en-US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기술</a:t>
            </a:r>
            <a:endParaRPr lang="en-US" sz="2400" dirty="0">
              <a:solidFill>
                <a:schemeClr val="bg1"/>
              </a:solidFill>
              <a:latin typeface="210 클레이토이 L" panose="02020603020101020101" pitchFamily="18" charset="-127"/>
              <a:ea typeface="210 클레이토이 L" panose="02020603020101020101" pitchFamily="18" charset="-127"/>
            </a:endParaRPr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78E10614-0B0A-CBD6-4D92-C20D4F478861}"/>
              </a:ext>
            </a:extLst>
          </p:cNvPr>
          <p:cNvSpPr/>
          <p:nvPr/>
        </p:nvSpPr>
        <p:spPr>
          <a:xfrm>
            <a:off x="2841047" y="4112396"/>
            <a:ext cx="2241080" cy="4091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3. </a:t>
            </a:r>
            <a:r>
              <a:rPr lang="ko-KR" altLang="en-US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실행 및 결과</a:t>
            </a:r>
            <a:endParaRPr lang="en-US" sz="2400" dirty="0">
              <a:solidFill>
                <a:schemeClr val="bg1"/>
              </a:solidFill>
              <a:latin typeface="210 클레이토이 L" panose="02020603020101020101" pitchFamily="18" charset="-127"/>
              <a:ea typeface="210 클레이토이 L" panose="02020603020101020101" pitchFamily="18" charset="-127"/>
            </a:endParaRPr>
          </a:p>
        </p:txBody>
      </p:sp>
      <p:sp>
        <p:nvSpPr>
          <p:cNvPr id="74" name="Text 4">
            <a:extLst>
              <a:ext uri="{FF2B5EF4-FFF2-40B4-BE49-F238E27FC236}">
                <a16:creationId xmlns:a16="http://schemas.microsoft.com/office/drawing/2014/main" id="{4B22B3D4-8360-180A-20D7-066C0F5A250F}"/>
              </a:ext>
            </a:extLst>
          </p:cNvPr>
          <p:cNvSpPr/>
          <p:nvPr/>
        </p:nvSpPr>
        <p:spPr>
          <a:xfrm>
            <a:off x="2297894" y="5149819"/>
            <a:ext cx="1652184" cy="4091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4. </a:t>
            </a:r>
            <a:r>
              <a:rPr lang="ko-KR" altLang="en-US" sz="24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  <a:cs typeface="Noto Sans KR" pitchFamily="34" charset="-120"/>
              </a:rPr>
              <a:t>마무리</a:t>
            </a:r>
            <a:endParaRPr lang="en-US" sz="2400" dirty="0">
              <a:solidFill>
                <a:schemeClr val="bg1"/>
              </a:solidFill>
              <a:latin typeface="210 클레이토이 L" panose="02020603020101020101" pitchFamily="18" charset="-127"/>
              <a:ea typeface="210 클레이토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51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보라색, 다채로움, 바이올렛색, 마젠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3BD75F-6DAC-5719-974F-48578680D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478" y="-38101"/>
            <a:ext cx="12264478" cy="6898769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-72478" y="-23293"/>
            <a:ext cx="12192000" cy="6869151"/>
          </a:xfrm>
          <a:prstGeom prst="rect">
            <a:avLst/>
          </a:prstGeom>
          <a:solidFill>
            <a:srgbClr val="D480D6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D1650136-E035-055E-76F6-F9AE31BEDC10}"/>
              </a:ext>
            </a:extLst>
          </p:cNvPr>
          <p:cNvSpPr>
            <a:spLocks/>
          </p:cNvSpPr>
          <p:nvPr/>
        </p:nvSpPr>
        <p:spPr>
          <a:xfrm>
            <a:off x="10805031" y="2430018"/>
            <a:ext cx="482483" cy="577504"/>
          </a:xfrm>
          <a:custGeom>
            <a:avLst/>
            <a:gdLst>
              <a:gd name="connsiteX0" fmla="*/ 241242 w 482483"/>
              <a:gd name="connsiteY0" fmla="*/ 577505 h 577504"/>
              <a:gd name="connsiteX1" fmla="*/ 482484 w 482483"/>
              <a:gd name="connsiteY1" fmla="*/ 288752 h 577504"/>
              <a:gd name="connsiteX2" fmla="*/ 241242 w 482483"/>
              <a:gd name="connsiteY2" fmla="*/ 0 h 577504"/>
              <a:gd name="connsiteX3" fmla="*/ 0 w 482483"/>
              <a:gd name="connsiteY3" fmla="*/ 288752 h 577504"/>
              <a:gd name="connsiteX4" fmla="*/ 241242 w 482483"/>
              <a:gd name="connsiteY4" fmla="*/ 577505 h 577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483" h="577504">
                <a:moveTo>
                  <a:pt x="241242" y="577505"/>
                </a:moveTo>
                <a:cubicBezTo>
                  <a:pt x="276583" y="451142"/>
                  <a:pt x="364423" y="346003"/>
                  <a:pt x="482484" y="288752"/>
                </a:cubicBezTo>
                <a:cubicBezTo>
                  <a:pt x="364273" y="231689"/>
                  <a:pt x="276370" y="126476"/>
                  <a:pt x="241242" y="0"/>
                </a:cubicBezTo>
                <a:cubicBezTo>
                  <a:pt x="205893" y="126360"/>
                  <a:pt x="118058" y="231493"/>
                  <a:pt x="0" y="288752"/>
                </a:cubicBezTo>
                <a:cubicBezTo>
                  <a:pt x="118061" y="346003"/>
                  <a:pt x="205901" y="451142"/>
                  <a:pt x="241242" y="57750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E518C3B6-08D7-5452-318F-C83C2A3E25FC}"/>
              </a:ext>
            </a:extLst>
          </p:cNvPr>
          <p:cNvSpPr>
            <a:spLocks/>
          </p:cNvSpPr>
          <p:nvPr/>
        </p:nvSpPr>
        <p:spPr>
          <a:xfrm>
            <a:off x="1082131" y="2206199"/>
            <a:ext cx="332062" cy="397339"/>
          </a:xfrm>
          <a:custGeom>
            <a:avLst/>
            <a:gdLst>
              <a:gd name="connsiteX0" fmla="*/ 165974 w 332062"/>
              <a:gd name="connsiteY0" fmla="*/ 0 h 397339"/>
              <a:gd name="connsiteX1" fmla="*/ 0 w 332062"/>
              <a:gd name="connsiteY1" fmla="*/ 198670 h 397339"/>
              <a:gd name="connsiteX2" fmla="*/ 165974 w 332062"/>
              <a:gd name="connsiteY2" fmla="*/ 397340 h 397339"/>
              <a:gd name="connsiteX3" fmla="*/ 332062 w 332062"/>
              <a:gd name="connsiteY3" fmla="*/ 198670 h 397339"/>
              <a:gd name="connsiteX4" fmla="*/ 165974 w 332062"/>
              <a:gd name="connsiteY4" fmla="*/ 0 h 39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2" h="397339">
                <a:moveTo>
                  <a:pt x="165974" y="0"/>
                </a:moveTo>
                <a:cubicBezTo>
                  <a:pt x="141671" y="86946"/>
                  <a:pt x="81236" y="159288"/>
                  <a:pt x="0" y="198670"/>
                </a:cubicBezTo>
                <a:cubicBezTo>
                  <a:pt x="81236" y="238052"/>
                  <a:pt x="141671" y="310393"/>
                  <a:pt x="165974" y="397340"/>
                </a:cubicBezTo>
                <a:cubicBezTo>
                  <a:pt x="190329" y="310388"/>
                  <a:pt x="250804" y="238052"/>
                  <a:pt x="332062" y="198670"/>
                </a:cubicBezTo>
                <a:cubicBezTo>
                  <a:pt x="250690" y="159433"/>
                  <a:pt x="190170" y="87037"/>
                  <a:pt x="16597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E20EB28F-2469-CC14-AF9C-E22F45D5165F}"/>
              </a:ext>
            </a:extLst>
          </p:cNvPr>
          <p:cNvSpPr>
            <a:spLocks/>
          </p:cNvSpPr>
          <p:nvPr/>
        </p:nvSpPr>
        <p:spPr>
          <a:xfrm>
            <a:off x="10437335" y="2353835"/>
            <a:ext cx="203778" cy="243909"/>
          </a:xfrm>
          <a:custGeom>
            <a:avLst/>
            <a:gdLst>
              <a:gd name="connsiteX0" fmla="*/ 101889 w 203778"/>
              <a:gd name="connsiteY0" fmla="*/ 243910 h 243909"/>
              <a:gd name="connsiteX1" fmla="*/ 203778 w 203778"/>
              <a:gd name="connsiteY1" fmla="*/ 121870 h 243909"/>
              <a:gd name="connsiteX2" fmla="*/ 101889 w 203778"/>
              <a:gd name="connsiteY2" fmla="*/ 0 h 243909"/>
              <a:gd name="connsiteX3" fmla="*/ 0 w 203778"/>
              <a:gd name="connsiteY3" fmla="*/ 122040 h 243909"/>
              <a:gd name="connsiteX4" fmla="*/ 101889 w 203778"/>
              <a:gd name="connsiteY4" fmla="*/ 243910 h 24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778" h="243909">
                <a:moveTo>
                  <a:pt x="101889" y="243910"/>
                </a:moveTo>
                <a:cubicBezTo>
                  <a:pt x="116812" y="190516"/>
                  <a:pt x="153907" y="146085"/>
                  <a:pt x="203778" y="121870"/>
                </a:cubicBezTo>
                <a:cubicBezTo>
                  <a:pt x="153870" y="97788"/>
                  <a:pt x="116747" y="53385"/>
                  <a:pt x="101889" y="0"/>
                </a:cubicBezTo>
                <a:cubicBezTo>
                  <a:pt x="86966" y="53391"/>
                  <a:pt x="49872" y="97825"/>
                  <a:pt x="0" y="122040"/>
                </a:cubicBezTo>
                <a:cubicBezTo>
                  <a:pt x="49832" y="146218"/>
                  <a:pt x="86924" y="190581"/>
                  <a:pt x="101889" y="24391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AA70015B-ADEA-793E-6697-B61E3E50AC21}"/>
              </a:ext>
            </a:extLst>
          </p:cNvPr>
          <p:cNvSpPr>
            <a:spLocks/>
          </p:cNvSpPr>
          <p:nvPr/>
        </p:nvSpPr>
        <p:spPr>
          <a:xfrm rot="1338228">
            <a:off x="1189772" y="1399305"/>
            <a:ext cx="1317695" cy="943492"/>
          </a:xfrm>
          <a:custGeom>
            <a:avLst/>
            <a:gdLst>
              <a:gd name="connsiteX0" fmla="*/ 2463050 w 2597861"/>
              <a:gd name="connsiteY0" fmla="*/ 1050788 h 1860112"/>
              <a:gd name="connsiteX1" fmla="*/ 2346885 w 2597861"/>
              <a:gd name="connsiteY1" fmla="*/ 1118364 h 1860112"/>
              <a:gd name="connsiteX2" fmla="*/ 1624323 w 2597861"/>
              <a:gd name="connsiteY2" fmla="*/ 1054619 h 1860112"/>
              <a:gd name="connsiteX3" fmla="*/ 1469701 w 2597861"/>
              <a:gd name="connsiteY3" fmla="*/ 968822 h 1860112"/>
              <a:gd name="connsiteX4" fmla="*/ 1240067 w 2597861"/>
              <a:gd name="connsiteY4" fmla="*/ 665879 h 1860112"/>
              <a:gd name="connsiteX5" fmla="*/ 1205868 w 2597861"/>
              <a:gd name="connsiteY5" fmla="*/ 478647 h 1860112"/>
              <a:gd name="connsiteX6" fmla="*/ 1129124 w 2597861"/>
              <a:gd name="connsiteY6" fmla="*/ 454778 h 1860112"/>
              <a:gd name="connsiteX7" fmla="*/ 1086013 w 2597861"/>
              <a:gd name="connsiteY7" fmla="*/ 462498 h 1860112"/>
              <a:gd name="connsiteX8" fmla="*/ 915157 w 2597861"/>
              <a:gd name="connsiteY8" fmla="*/ 236979 h 1860112"/>
              <a:gd name="connsiteX9" fmla="*/ 833966 w 2597861"/>
              <a:gd name="connsiteY9" fmla="*/ 65544 h 1860112"/>
              <a:gd name="connsiteX10" fmla="*/ 689212 w 2597861"/>
              <a:gd name="connsiteY10" fmla="*/ 102054 h 1860112"/>
              <a:gd name="connsiteX11" fmla="*/ 258752 w 2597861"/>
              <a:gd name="connsiteY11" fmla="*/ 80541 h 1860112"/>
              <a:gd name="connsiteX12" fmla="*/ 80541 w 2597861"/>
              <a:gd name="connsiteY12" fmla="*/ 11565 h 1860112"/>
              <a:gd name="connsiteX13" fmla="*/ 11564 w 2597861"/>
              <a:gd name="connsiteY13" fmla="*/ 189775 h 1860112"/>
              <a:gd name="connsiteX14" fmla="*/ 189775 w 2597861"/>
              <a:gd name="connsiteY14" fmla="*/ 258750 h 1860112"/>
              <a:gd name="connsiteX15" fmla="*/ 256765 w 2597861"/>
              <a:gd name="connsiteY15" fmla="*/ 194066 h 1860112"/>
              <a:gd name="connsiteX16" fmla="*/ 656091 w 2597861"/>
              <a:gd name="connsiteY16" fmla="*/ 213933 h 1860112"/>
              <a:gd name="connsiteX17" fmla="*/ 807631 w 2597861"/>
              <a:gd name="connsiteY17" fmla="*/ 325404 h 1860112"/>
              <a:gd name="connsiteX18" fmla="*/ 834582 w 2597861"/>
              <a:gd name="connsiteY18" fmla="*/ 318349 h 1860112"/>
              <a:gd name="connsiteX19" fmla="*/ 1003678 w 2597861"/>
              <a:gd name="connsiteY19" fmla="*/ 541512 h 1860112"/>
              <a:gd name="connsiteX20" fmla="*/ 994313 w 2597861"/>
              <a:gd name="connsiteY20" fmla="*/ 589590 h 1860112"/>
              <a:gd name="connsiteX21" fmla="*/ 1129124 w 2597861"/>
              <a:gd name="connsiteY21" fmla="*/ 724401 h 1860112"/>
              <a:gd name="connsiteX22" fmla="*/ 1141044 w 2597861"/>
              <a:gd name="connsiteY22" fmla="*/ 723209 h 1860112"/>
              <a:gd name="connsiteX23" fmla="*/ 1379448 w 2597861"/>
              <a:gd name="connsiteY23" fmla="*/ 1037846 h 1860112"/>
              <a:gd name="connsiteX24" fmla="*/ 1363271 w 2597861"/>
              <a:gd name="connsiteY24" fmla="*/ 1100455 h 1860112"/>
              <a:gd name="connsiteX25" fmla="*/ 1441774 w 2597861"/>
              <a:gd name="connsiteY25" fmla="*/ 1222495 h 1860112"/>
              <a:gd name="connsiteX26" fmla="*/ 1461187 w 2597861"/>
              <a:gd name="connsiteY26" fmla="*/ 1494105 h 1860112"/>
              <a:gd name="connsiteX27" fmla="*/ 1408023 w 2597861"/>
              <a:gd name="connsiteY27" fmla="*/ 1676444 h 1860112"/>
              <a:gd name="connsiteX28" fmla="*/ 1590362 w 2597861"/>
              <a:gd name="connsiteY28" fmla="*/ 1729606 h 1860112"/>
              <a:gd name="connsiteX29" fmla="*/ 1631475 w 2597861"/>
              <a:gd name="connsiteY29" fmla="*/ 1694705 h 1860112"/>
              <a:gd name="connsiteX30" fmla="*/ 2066335 w 2597861"/>
              <a:gd name="connsiteY30" fmla="*/ 1798240 h 1860112"/>
              <a:gd name="connsiteX31" fmla="*/ 2252174 w 2597861"/>
              <a:gd name="connsiteY31" fmla="*/ 1838792 h 1860112"/>
              <a:gd name="connsiteX32" fmla="*/ 2292722 w 2597861"/>
              <a:gd name="connsiteY32" fmla="*/ 1652953 h 1860112"/>
              <a:gd name="connsiteX33" fmla="*/ 2266651 w 2597861"/>
              <a:gd name="connsiteY33" fmla="*/ 1623127 h 1860112"/>
              <a:gd name="connsiteX34" fmla="*/ 2449200 w 2597861"/>
              <a:gd name="connsiteY34" fmla="*/ 1318992 h 1860112"/>
              <a:gd name="connsiteX35" fmla="*/ 2463050 w 2597861"/>
              <a:gd name="connsiteY35" fmla="*/ 1320411 h 1860112"/>
              <a:gd name="connsiteX36" fmla="*/ 2597862 w 2597861"/>
              <a:gd name="connsiteY36" fmla="*/ 1185599 h 1860112"/>
              <a:gd name="connsiteX37" fmla="*/ 2463050 w 2597861"/>
              <a:gd name="connsiteY37" fmla="*/ 1050788 h 1860112"/>
              <a:gd name="connsiteX38" fmla="*/ 2053194 w 2597861"/>
              <a:gd name="connsiteY38" fmla="*/ 1678386 h 1860112"/>
              <a:gd name="connsiteX39" fmla="*/ 1658693 w 2597861"/>
              <a:gd name="connsiteY39" fmla="*/ 1584415 h 1860112"/>
              <a:gd name="connsiteX40" fmla="*/ 1574542 w 2597861"/>
              <a:gd name="connsiteY40" fmla="*/ 1485732 h 1860112"/>
              <a:gd name="connsiteX41" fmla="*/ 1555697 w 2597861"/>
              <a:gd name="connsiteY41" fmla="*/ 1221786 h 1860112"/>
              <a:gd name="connsiteX42" fmla="*/ 1614361 w 2597861"/>
              <a:gd name="connsiteY42" fmla="*/ 1167577 h 1860112"/>
              <a:gd name="connsiteX43" fmla="*/ 2336952 w 2597861"/>
              <a:gd name="connsiteY43" fmla="*/ 1231322 h 1860112"/>
              <a:gd name="connsiteX44" fmla="*/ 2351653 w 2597861"/>
              <a:gd name="connsiteY44" fmla="*/ 1261065 h 1860112"/>
              <a:gd name="connsiteX45" fmla="*/ 2152586 w 2597861"/>
              <a:gd name="connsiteY45" fmla="*/ 1592730 h 1860112"/>
              <a:gd name="connsiteX46" fmla="*/ 2053194 w 2597861"/>
              <a:gd name="connsiteY46" fmla="*/ 1678386 h 1860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597861" h="1860112">
                <a:moveTo>
                  <a:pt x="2463050" y="1050788"/>
                </a:moveTo>
                <a:cubicBezTo>
                  <a:pt x="2415037" y="1050949"/>
                  <a:pt x="2370760" y="1076708"/>
                  <a:pt x="2346885" y="1118364"/>
                </a:cubicBezTo>
                <a:lnTo>
                  <a:pt x="1624323" y="1054619"/>
                </a:lnTo>
                <a:cubicBezTo>
                  <a:pt x="1601865" y="991059"/>
                  <a:pt x="1535518" y="954242"/>
                  <a:pt x="1469701" y="968822"/>
                </a:cubicBezTo>
                <a:lnTo>
                  <a:pt x="1240067" y="665879"/>
                </a:lnTo>
                <a:cubicBezTo>
                  <a:pt x="1282327" y="604731"/>
                  <a:pt x="1267015" y="520904"/>
                  <a:pt x="1205868" y="478647"/>
                </a:cubicBezTo>
                <a:cubicBezTo>
                  <a:pt x="1183313" y="463060"/>
                  <a:pt x="1156538" y="454733"/>
                  <a:pt x="1129124" y="454778"/>
                </a:cubicBezTo>
                <a:cubicBezTo>
                  <a:pt x="1114426" y="454942"/>
                  <a:pt x="1099855" y="457551"/>
                  <a:pt x="1086013" y="462498"/>
                </a:cubicBezTo>
                <a:lnTo>
                  <a:pt x="915157" y="236979"/>
                </a:lnTo>
                <a:cubicBezTo>
                  <a:pt x="940076" y="167218"/>
                  <a:pt x="903728" y="90463"/>
                  <a:pt x="833966" y="65544"/>
                </a:cubicBezTo>
                <a:cubicBezTo>
                  <a:pt x="782775" y="47258"/>
                  <a:pt x="725609" y="61676"/>
                  <a:pt x="689212" y="102054"/>
                </a:cubicBezTo>
                <a:lnTo>
                  <a:pt x="258752" y="80541"/>
                </a:lnTo>
                <a:cubicBezTo>
                  <a:pt x="228588" y="12281"/>
                  <a:pt x="148799" y="-18601"/>
                  <a:pt x="80541" y="11565"/>
                </a:cubicBezTo>
                <a:cubicBezTo>
                  <a:pt x="12282" y="41729"/>
                  <a:pt x="-18600" y="121518"/>
                  <a:pt x="11564" y="189775"/>
                </a:cubicBezTo>
                <a:cubicBezTo>
                  <a:pt x="41728" y="258035"/>
                  <a:pt x="121516" y="288917"/>
                  <a:pt x="189775" y="258750"/>
                </a:cubicBezTo>
                <a:cubicBezTo>
                  <a:pt x="219064" y="245808"/>
                  <a:pt x="242804" y="222885"/>
                  <a:pt x="256765" y="194066"/>
                </a:cubicBezTo>
                <a:lnTo>
                  <a:pt x="656091" y="213933"/>
                </a:lnTo>
                <a:cubicBezTo>
                  <a:pt x="667157" y="286561"/>
                  <a:pt x="735003" y="336470"/>
                  <a:pt x="807631" y="325404"/>
                </a:cubicBezTo>
                <a:cubicBezTo>
                  <a:pt x="816838" y="324002"/>
                  <a:pt x="825872" y="321638"/>
                  <a:pt x="834582" y="318349"/>
                </a:cubicBezTo>
                <a:lnTo>
                  <a:pt x="1003678" y="541512"/>
                </a:lnTo>
                <a:cubicBezTo>
                  <a:pt x="997616" y="556823"/>
                  <a:pt x="994440" y="573123"/>
                  <a:pt x="994313" y="589590"/>
                </a:cubicBezTo>
                <a:cubicBezTo>
                  <a:pt x="994406" y="664006"/>
                  <a:pt x="1054708" y="724308"/>
                  <a:pt x="1129124" y="724401"/>
                </a:cubicBezTo>
                <a:cubicBezTo>
                  <a:pt x="1133211" y="724401"/>
                  <a:pt x="1137071" y="723550"/>
                  <a:pt x="1141044" y="723209"/>
                </a:cubicBezTo>
                <a:lnTo>
                  <a:pt x="1379448" y="1037846"/>
                </a:lnTo>
                <a:cubicBezTo>
                  <a:pt x="1368990" y="1057068"/>
                  <a:pt x="1363433" y="1078573"/>
                  <a:pt x="1363271" y="1100455"/>
                </a:cubicBezTo>
                <a:cubicBezTo>
                  <a:pt x="1363418" y="1152958"/>
                  <a:pt x="1394059" y="1200590"/>
                  <a:pt x="1441774" y="1222495"/>
                </a:cubicBezTo>
                <a:lnTo>
                  <a:pt x="1461187" y="1494105"/>
                </a:lnTo>
                <a:cubicBezTo>
                  <a:pt x="1396154" y="1529775"/>
                  <a:pt x="1372353" y="1611411"/>
                  <a:pt x="1408023" y="1676444"/>
                </a:cubicBezTo>
                <a:cubicBezTo>
                  <a:pt x="1443695" y="1741475"/>
                  <a:pt x="1525329" y="1765278"/>
                  <a:pt x="1590362" y="1729606"/>
                </a:cubicBezTo>
                <a:cubicBezTo>
                  <a:pt x="1606284" y="1720873"/>
                  <a:pt x="1620270" y="1708998"/>
                  <a:pt x="1631475" y="1694705"/>
                </a:cubicBezTo>
                <a:lnTo>
                  <a:pt x="2066335" y="1798240"/>
                </a:lnTo>
                <a:cubicBezTo>
                  <a:pt x="2106455" y="1860756"/>
                  <a:pt x="2189658" y="1878911"/>
                  <a:pt x="2252174" y="1838792"/>
                </a:cubicBezTo>
                <a:cubicBezTo>
                  <a:pt x="2314689" y="1798669"/>
                  <a:pt x="2332845" y="1715469"/>
                  <a:pt x="2292722" y="1652953"/>
                </a:cubicBezTo>
                <a:cubicBezTo>
                  <a:pt x="2285553" y="1641779"/>
                  <a:pt x="2276766" y="1631727"/>
                  <a:pt x="2266651" y="1623127"/>
                </a:cubicBezTo>
                <a:lnTo>
                  <a:pt x="2449200" y="1318992"/>
                </a:lnTo>
                <a:cubicBezTo>
                  <a:pt x="2453790" y="1319710"/>
                  <a:pt x="2458413" y="1320184"/>
                  <a:pt x="2463050" y="1320411"/>
                </a:cubicBezTo>
                <a:cubicBezTo>
                  <a:pt x="2537506" y="1320411"/>
                  <a:pt x="2597862" y="1260055"/>
                  <a:pt x="2597862" y="1185599"/>
                </a:cubicBezTo>
                <a:cubicBezTo>
                  <a:pt x="2597862" y="1111143"/>
                  <a:pt x="2537506" y="1050788"/>
                  <a:pt x="2463050" y="1050788"/>
                </a:cubicBezTo>
                <a:close/>
                <a:moveTo>
                  <a:pt x="2053194" y="1678386"/>
                </a:moveTo>
                <a:lnTo>
                  <a:pt x="1658693" y="1584415"/>
                </a:lnTo>
                <a:cubicBezTo>
                  <a:pt x="1649319" y="1539317"/>
                  <a:pt x="1617591" y="1502114"/>
                  <a:pt x="1574542" y="1485732"/>
                </a:cubicBezTo>
                <a:lnTo>
                  <a:pt x="1555697" y="1221786"/>
                </a:lnTo>
                <a:cubicBezTo>
                  <a:pt x="1580286" y="1210067"/>
                  <a:pt x="1600741" y="1191165"/>
                  <a:pt x="1614361" y="1167577"/>
                </a:cubicBezTo>
                <a:lnTo>
                  <a:pt x="2336952" y="1231322"/>
                </a:lnTo>
                <a:cubicBezTo>
                  <a:pt x="2340593" y="1241811"/>
                  <a:pt x="2345531" y="1251802"/>
                  <a:pt x="2351653" y="1261065"/>
                </a:cubicBezTo>
                <a:lnTo>
                  <a:pt x="2152586" y="1592730"/>
                </a:lnTo>
                <a:cubicBezTo>
                  <a:pt x="2106858" y="1602148"/>
                  <a:pt x="2069258" y="1634550"/>
                  <a:pt x="2053194" y="167838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A01B89D-0916-6A9E-EADB-871F0CBD6AF5}"/>
              </a:ext>
            </a:extLst>
          </p:cNvPr>
          <p:cNvSpPr>
            <a:spLocks/>
          </p:cNvSpPr>
          <p:nvPr/>
        </p:nvSpPr>
        <p:spPr>
          <a:xfrm>
            <a:off x="1206190" y="2196790"/>
            <a:ext cx="9779620" cy="2464419"/>
          </a:xfrm>
          <a:prstGeom prst="ellipse">
            <a:avLst/>
          </a:prstGeom>
          <a:solidFill>
            <a:srgbClr val="E4AADD">
              <a:alpha val="80000"/>
            </a:srgbClr>
          </a:solidFill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4995A-ECAE-239F-312B-815F687A56F0}"/>
              </a:ext>
            </a:extLst>
          </p:cNvPr>
          <p:cNvSpPr txBox="1">
            <a:spLocks/>
          </p:cNvSpPr>
          <p:nvPr/>
        </p:nvSpPr>
        <p:spPr>
          <a:xfrm>
            <a:off x="5524321" y="2756870"/>
            <a:ext cx="1194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4D4D4D"/>
                </a:solidFill>
                <a:latin typeface="EBS훈민정음 R" panose="02020503020101020101" pitchFamily="18" charset="-127"/>
                <a:ea typeface="EBS훈민정음 R" panose="02020503020101020101" pitchFamily="18" charset="-127"/>
              </a:rPr>
              <a:t>Part 1</a:t>
            </a:r>
            <a:endParaRPr lang="ko-KR" altLang="en-US" sz="2800" dirty="0">
              <a:solidFill>
                <a:srgbClr val="4D4D4D"/>
              </a:solidFill>
              <a:latin typeface="EBS훈민정음 R" panose="02020503020101020101" pitchFamily="18" charset="-127"/>
              <a:ea typeface="EBS훈민정음 R" panose="020205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53633" y="3470279"/>
            <a:ext cx="32864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spc="300" dirty="0">
                <a:solidFill>
                  <a:srgbClr val="4D4D4D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</a:rPr>
              <a:t>프로젝트 소개</a:t>
            </a:r>
          </a:p>
        </p:txBody>
      </p:sp>
      <p:sp>
        <p:nvSpPr>
          <p:cNvPr id="12" name="AutoShape 4" descr="Pink Purple Creative Technology Glare Ppt Background Material, Ppt ...">
            <a:extLst>
              <a:ext uri="{FF2B5EF4-FFF2-40B4-BE49-F238E27FC236}">
                <a16:creationId xmlns:a16="http://schemas.microsoft.com/office/drawing/2014/main" id="{24D095FA-136E-31C8-F8F0-676DD51515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4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DEFAC70-9B93-638B-1F61-7D50EB240694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ED307B-E642-2F9A-5FF9-625EAA75B262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1-1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6355" y="207408"/>
            <a:ext cx="3086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팀 소개 </a:t>
            </a:r>
            <a:r>
              <a:rPr lang="en-US" altLang="ko-KR" sz="2400" spc="3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역할분담</a:t>
            </a:r>
            <a:r>
              <a:rPr lang="en-US" altLang="ko-KR" sz="2400" spc="3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240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5" name="자유형: 도형 8"/>
          <p:cNvSpPr/>
          <p:nvPr/>
        </p:nvSpPr>
        <p:spPr>
          <a:xfrm>
            <a:off x="1447800" y="1328858"/>
            <a:ext cx="3863368" cy="2203449"/>
          </a:xfrm>
          <a:custGeom>
            <a:avLst/>
            <a:gdLst/>
            <a:rect l="l" t="t" r="r" b="b"/>
            <a:pathLst>
              <a:path w="3443324" h="4665133">
                <a:moveTo>
                  <a:pt x="0" y="344332"/>
                </a:moveTo>
                <a:cubicBezTo>
                  <a:pt x="0" y="154163"/>
                  <a:pt x="154163" y="0"/>
                  <a:pt x="344332" y="0"/>
                </a:cubicBezTo>
                <a:lnTo>
                  <a:pt x="3098992" y="0"/>
                </a:lnTo>
                <a:cubicBezTo>
                  <a:pt x="3289161" y="0"/>
                  <a:pt x="3443324" y="154163"/>
                  <a:pt x="3443324" y="344332"/>
                </a:cubicBezTo>
                <a:lnTo>
                  <a:pt x="3443324" y="4320801"/>
                </a:lnTo>
                <a:cubicBezTo>
                  <a:pt x="3443324" y="4510970"/>
                  <a:pt x="3289161" y="4665133"/>
                  <a:pt x="3098992" y="4665133"/>
                </a:cubicBezTo>
                <a:lnTo>
                  <a:pt x="344332" y="4665133"/>
                </a:lnTo>
                <a:cubicBezTo>
                  <a:pt x="154163" y="4665133"/>
                  <a:pt x="0" y="4510970"/>
                  <a:pt x="0" y="4320801"/>
                </a:cubicBezTo>
                <a:lnTo>
                  <a:pt x="0" y="344332"/>
                </a:lnTo>
                <a:close/>
              </a:path>
            </a:pathLst>
          </a:custGeom>
          <a:solidFill>
            <a:srgbClr val="dcccf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8272" tIns="2264325" rIns="398272" bIns="1331299" numCol="1" spcCol="1270" anchor="ctr" anchorCtr="0">
            <a:noAutofit/>
          </a:bodyPr>
          <a:p>
            <a:pPr marL="0" lvl="0" indent="0" algn="ctr" defTabSz="24892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5600" kern="1200"/>
          </a:p>
        </p:txBody>
      </p:sp>
      <p:pic>
        <p:nvPicPr>
          <p:cNvPr id="86" name="Imag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46494" y="1634489"/>
            <a:ext cx="457200" cy="457200"/>
          </a:xfrm>
          <a:prstGeom prst="rect">
            <a:avLst/>
          </a:prstGeom>
        </p:spPr>
      </p:pic>
      <p:pic>
        <p:nvPicPr>
          <p:cNvPr id="87" name="Imag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46494" y="2301239"/>
            <a:ext cx="762000" cy="220861"/>
          </a:xfrm>
          <a:prstGeom prst="rect">
            <a:avLst/>
          </a:prstGeom>
        </p:spPr>
      </p:pic>
      <p:pic>
        <p:nvPicPr>
          <p:cNvPr id="88" name="Imag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22694" y="2339339"/>
            <a:ext cx="152400" cy="121890"/>
          </a:xfrm>
          <a:prstGeom prst="rect">
            <a:avLst/>
          </a:prstGeom>
        </p:spPr>
      </p:pic>
      <p:pic>
        <p:nvPicPr>
          <p:cNvPr id="89" name="Imag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584694" y="2301239"/>
            <a:ext cx="1076325" cy="220861"/>
          </a:xfrm>
          <a:prstGeom prst="rect">
            <a:avLst/>
          </a:prstGeom>
        </p:spPr>
      </p:pic>
      <p:pic>
        <p:nvPicPr>
          <p:cNvPr id="90" name="Imag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660894" y="2339339"/>
            <a:ext cx="123825" cy="121890"/>
          </a:xfrm>
          <a:prstGeom prst="rect">
            <a:avLst/>
          </a:prstGeom>
        </p:spPr>
      </p:pic>
      <p:sp>
        <p:nvSpPr>
          <p:cNvPr id="91" name="Text 1"/>
          <p:cNvSpPr/>
          <p:nvPr/>
        </p:nvSpPr>
        <p:spPr>
          <a:xfrm>
            <a:off x="1889369" y="1634489"/>
            <a:ext cx="457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</a:t>
            </a:r>
            <a:endParaRPr lang="en-US" sz="1500" dirty="0"/>
          </a:p>
        </p:txBody>
      </p:sp>
      <p:sp>
        <p:nvSpPr>
          <p:cNvPr id="92" name="Text 2"/>
          <p:cNvSpPr/>
          <p:nvPr/>
        </p:nvSpPr>
        <p:spPr>
          <a:xfrm>
            <a:off x="2356094" y="1596389"/>
            <a:ext cx="7543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양지훈</a:t>
            </a:r>
            <a:endParaRPr lang="en-US" sz="1800" dirty="0"/>
          </a:p>
        </p:txBody>
      </p:sp>
      <p:sp>
        <p:nvSpPr>
          <p:cNvPr id="93" name="Text 3"/>
          <p:cNvSpPr/>
          <p:nvPr/>
        </p:nvSpPr>
        <p:spPr>
          <a:xfrm>
            <a:off x="2356094" y="1901189"/>
            <a:ext cx="628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조장</a:t>
            </a:r>
            <a:endParaRPr lang="en-US" sz="1200" dirty="0"/>
          </a:p>
        </p:txBody>
      </p:sp>
      <p:sp>
        <p:nvSpPr>
          <p:cNvPr id="94" name="Text 4"/>
          <p:cNvSpPr/>
          <p:nvPr/>
        </p:nvSpPr>
        <p:spPr>
          <a:xfrm>
            <a:off x="2013194" y="2301239"/>
            <a:ext cx="91440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AI 모델</a:t>
            </a:r>
            <a:endParaRPr lang="en-US" sz="960" dirty="0"/>
          </a:p>
        </p:txBody>
      </p:sp>
      <p:sp>
        <p:nvSpPr>
          <p:cNvPr id="95" name="Text 5"/>
          <p:cNvSpPr/>
          <p:nvPr/>
        </p:nvSpPr>
        <p:spPr>
          <a:xfrm>
            <a:off x="2822819" y="2301239"/>
            <a:ext cx="129159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프로젝트 관리</a:t>
            </a:r>
            <a:endParaRPr lang="en-US" sz="960" dirty="0"/>
          </a:p>
        </p:txBody>
      </p:sp>
      <p:sp>
        <p:nvSpPr>
          <p:cNvPr id="96" name="Text 6"/>
          <p:cNvSpPr/>
          <p:nvPr/>
        </p:nvSpPr>
        <p:spPr>
          <a:xfrm>
            <a:off x="1746494" y="2674500"/>
            <a:ext cx="4914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• 프로젝트 총괄</a:t>
            </a:r>
            <a:endParaRPr lang="en-US" sz="1200" dirty="0"/>
          </a:p>
        </p:txBody>
      </p:sp>
      <p:sp>
        <p:nvSpPr>
          <p:cNvPr id="97" name="Text 7"/>
          <p:cNvSpPr/>
          <p:nvPr/>
        </p:nvSpPr>
        <p:spPr>
          <a:xfrm>
            <a:off x="1746494" y="2903100"/>
            <a:ext cx="4914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• AI 모델 설계 및 개발</a:t>
            </a:r>
            <a:r>
              <a:rPr lang="en-US" altLang="ko-KR" sz="1200" dirty="0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lang="en-US" sz="1200" dirty="0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데이터 전처리</a:t>
            </a:r>
            <a:endParaRPr lang="en-US" sz="1200" dirty="0"/>
          </a:p>
        </p:txBody>
      </p:sp>
      <p:sp>
        <p:nvSpPr>
          <p:cNvPr id="98" name="Text 8"/>
          <p:cNvSpPr/>
          <p:nvPr/>
        </p:nvSpPr>
        <p:spPr>
          <a:xfrm>
            <a:off x="1746494" y="3131700"/>
            <a:ext cx="4914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• 전반적인 프로젝트 진행 관리 및 조율</a:t>
            </a:r>
            <a:endParaRPr lang="en-US" sz="12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810DE97-8B7C-FE79-2991-CE3B2C0B5762}"/>
              </a:ext>
            </a:extLst>
          </p:cNvPr>
          <p:cNvGrpSpPr/>
          <p:nvPr/>
        </p:nvGrpSpPr>
        <p:grpSpPr>
          <a:xfrm>
            <a:off x="6549383" y="1304993"/>
            <a:ext cx="5255909" cy="2203449"/>
            <a:chOff x="6097891" y="1578595"/>
            <a:chExt cx="5255909" cy="2203449"/>
          </a:xfrm>
        </p:grpSpPr>
        <p:sp>
          <p:nvSpPr>
            <p:cNvPr id="9" name="자유형: 도형 8"/>
            <p:cNvSpPr/>
            <p:nvPr/>
          </p:nvSpPr>
          <p:spPr>
            <a:xfrm>
              <a:off x="6097891" y="1578595"/>
              <a:ext cx="3863368" cy="2203449"/>
            </a:xfrm>
            <a:custGeom>
              <a:avLst/>
              <a:gdLst>
                <a:gd name="connsiteX0" fmla="*/ 0 w 3443324"/>
                <a:gd name="connsiteY0" fmla="*/ 344332 h 4665133"/>
                <a:gd name="connsiteX1" fmla="*/ 344332 w 3443324"/>
                <a:gd name="connsiteY1" fmla="*/ 0 h 4665133"/>
                <a:gd name="connsiteX2" fmla="*/ 3098992 w 3443324"/>
                <a:gd name="connsiteY2" fmla="*/ 0 h 4665133"/>
                <a:gd name="connsiteX3" fmla="*/ 3443324 w 3443324"/>
                <a:gd name="connsiteY3" fmla="*/ 344332 h 4665133"/>
                <a:gd name="connsiteX4" fmla="*/ 3443324 w 3443324"/>
                <a:gd name="connsiteY4" fmla="*/ 4320801 h 4665133"/>
                <a:gd name="connsiteX5" fmla="*/ 3098992 w 3443324"/>
                <a:gd name="connsiteY5" fmla="*/ 4665133 h 4665133"/>
                <a:gd name="connsiteX6" fmla="*/ 344332 w 3443324"/>
                <a:gd name="connsiteY6" fmla="*/ 4665133 h 4665133"/>
                <a:gd name="connsiteX7" fmla="*/ 0 w 3443324"/>
                <a:gd name="connsiteY7" fmla="*/ 4320801 h 4665133"/>
                <a:gd name="connsiteX8" fmla="*/ 0 w 3443324"/>
                <a:gd name="connsiteY8" fmla="*/ 344332 h 466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3324" h="4665133">
                  <a:moveTo>
                    <a:pt x="0" y="344332"/>
                  </a:moveTo>
                  <a:cubicBezTo>
                    <a:pt x="0" y="154163"/>
                    <a:pt x="154163" y="0"/>
                    <a:pt x="344332" y="0"/>
                  </a:cubicBezTo>
                  <a:lnTo>
                    <a:pt x="3098992" y="0"/>
                  </a:lnTo>
                  <a:cubicBezTo>
                    <a:pt x="3289161" y="0"/>
                    <a:pt x="3443324" y="154163"/>
                    <a:pt x="3443324" y="344332"/>
                  </a:cubicBezTo>
                  <a:lnTo>
                    <a:pt x="3443324" y="4320801"/>
                  </a:lnTo>
                  <a:cubicBezTo>
                    <a:pt x="3443324" y="4510970"/>
                    <a:pt x="3289161" y="4665133"/>
                    <a:pt x="3098992" y="4665133"/>
                  </a:cubicBezTo>
                  <a:lnTo>
                    <a:pt x="344332" y="4665133"/>
                  </a:lnTo>
                  <a:cubicBezTo>
                    <a:pt x="154163" y="4665133"/>
                    <a:pt x="0" y="4510970"/>
                    <a:pt x="0" y="4320801"/>
                  </a:cubicBezTo>
                  <a:lnTo>
                    <a:pt x="0" y="34433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rgbClr r="0" g="0" b="0"/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8272" tIns="2264325" rIns="398272" bIns="1331299" numCol="1" spcCol="1270" anchor="ctr" anchorCtr="0">
              <a:noAutofit/>
            </a:bodyPr>
            <a:lstStyle/>
            <a:p>
              <a:pPr marL="0" lvl="0" indent="0" algn="ctr" defTabSz="24892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5600" kern="1200"/>
            </a:p>
          </p:txBody>
        </p:sp>
        <p:pic>
          <p:nvPicPr>
            <p:cNvPr id="35" name="Image 9" descr="preencoded.png">
              <a:extLst>
                <a:ext uri="{FF2B5EF4-FFF2-40B4-BE49-F238E27FC236}">
                  <a16:creationId xmlns:a16="http://schemas.microsoft.com/office/drawing/2014/main" id="{1A801168-CC13-D8F2-97A6-F050EA2AD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38900" y="1885950"/>
              <a:ext cx="457200" cy="457200"/>
            </a:xfrm>
            <a:prstGeom prst="rect">
              <a:avLst/>
            </a:prstGeom>
          </p:spPr>
        </p:pic>
        <p:pic>
          <p:nvPicPr>
            <p:cNvPr id="36" name="Image 10" descr="preencoded.png">
              <a:extLst>
                <a:ext uri="{FF2B5EF4-FFF2-40B4-BE49-F238E27FC236}">
                  <a16:creationId xmlns:a16="http://schemas.microsoft.com/office/drawing/2014/main" id="{17662B75-FF36-AE4F-DCF3-0F748D7D7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38900" y="2552700"/>
              <a:ext cx="1276350" cy="220861"/>
            </a:xfrm>
            <a:prstGeom prst="rect">
              <a:avLst/>
            </a:prstGeom>
          </p:spPr>
        </p:pic>
        <p:pic>
          <p:nvPicPr>
            <p:cNvPr id="37" name="Image 11" descr="preencoded.png">
              <a:extLst>
                <a:ext uri="{FF2B5EF4-FFF2-40B4-BE49-F238E27FC236}">
                  <a16:creationId xmlns:a16="http://schemas.microsoft.com/office/drawing/2014/main" id="{FE6EF54E-DB39-9C53-5F09-99028F961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15100" y="2619375"/>
              <a:ext cx="95250" cy="121890"/>
            </a:xfrm>
            <a:prstGeom prst="rect">
              <a:avLst/>
            </a:prstGeom>
          </p:spPr>
        </p:pic>
        <p:pic>
          <p:nvPicPr>
            <p:cNvPr id="38" name="Image 12" descr="preencoded.png">
              <a:extLst>
                <a:ext uri="{FF2B5EF4-FFF2-40B4-BE49-F238E27FC236}">
                  <a16:creationId xmlns:a16="http://schemas.microsoft.com/office/drawing/2014/main" id="{AD304260-C01B-F3F2-4058-20667DC23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791450" y="2552700"/>
              <a:ext cx="695325" cy="220861"/>
            </a:xfrm>
            <a:prstGeom prst="rect">
              <a:avLst/>
            </a:prstGeom>
          </p:spPr>
        </p:pic>
        <p:pic>
          <p:nvPicPr>
            <p:cNvPr id="39" name="Image 13" descr="preencoded.png">
              <a:extLst>
                <a:ext uri="{FF2B5EF4-FFF2-40B4-BE49-F238E27FC236}">
                  <a16:creationId xmlns:a16="http://schemas.microsoft.com/office/drawing/2014/main" id="{FC033D63-D3FE-F9AB-BD50-B793A2808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867650" y="2619375"/>
              <a:ext cx="123825" cy="121890"/>
            </a:xfrm>
            <a:prstGeom prst="rect">
              <a:avLst/>
            </a:prstGeom>
          </p:spPr>
        </p:pic>
        <p:pic>
          <p:nvPicPr>
            <p:cNvPr id="40" name="Image 14" descr="preencoded.png">
              <a:extLst>
                <a:ext uri="{FF2B5EF4-FFF2-40B4-BE49-F238E27FC236}">
                  <a16:creationId xmlns:a16="http://schemas.microsoft.com/office/drawing/2014/main" id="{CBB54E93-A162-4BCA-FB02-C5084F54D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562975" y="2552700"/>
              <a:ext cx="495300" cy="220861"/>
            </a:xfrm>
            <a:prstGeom prst="rect">
              <a:avLst/>
            </a:prstGeom>
          </p:spPr>
        </p:pic>
        <p:pic>
          <p:nvPicPr>
            <p:cNvPr id="41" name="Image 15" descr="preencoded.png">
              <a:extLst>
                <a:ext uri="{FF2B5EF4-FFF2-40B4-BE49-F238E27FC236}">
                  <a16:creationId xmlns:a16="http://schemas.microsoft.com/office/drawing/2014/main" id="{6D8A1AC9-F2EC-1FD3-FCEA-8E75C0B80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639175" y="2619375"/>
              <a:ext cx="104775" cy="121890"/>
            </a:xfrm>
            <a:prstGeom prst="rect">
              <a:avLst/>
            </a:prstGeom>
          </p:spPr>
        </p:pic>
        <p:sp>
          <p:nvSpPr>
            <p:cNvPr id="42" name="Text 9">
              <a:extLst>
                <a:ext uri="{FF2B5EF4-FFF2-40B4-BE49-F238E27FC236}">
                  <a16:creationId xmlns:a16="http://schemas.microsoft.com/office/drawing/2014/main" id="{A37DDD61-025D-F483-86CA-FF3000A59963}"/>
                </a:ext>
              </a:extLst>
            </p:cNvPr>
            <p:cNvSpPr/>
            <p:nvPr/>
          </p:nvSpPr>
          <p:spPr>
            <a:xfrm>
              <a:off x="6581775" y="1885950"/>
              <a:ext cx="4572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</a:t>
              </a:r>
              <a:endParaRPr lang="en-US" sz="1500" dirty="0"/>
            </a:p>
          </p:txBody>
        </p:sp>
        <p:sp>
          <p:nvSpPr>
            <p:cNvPr id="43" name="Text 10">
              <a:extLst>
                <a:ext uri="{FF2B5EF4-FFF2-40B4-BE49-F238E27FC236}">
                  <a16:creationId xmlns:a16="http://schemas.microsoft.com/office/drawing/2014/main" id="{15770A11-7B51-986D-C919-9932485A7DFD}"/>
                </a:ext>
              </a:extLst>
            </p:cNvPr>
            <p:cNvSpPr/>
            <p:nvPr/>
          </p:nvSpPr>
          <p:spPr>
            <a:xfrm>
              <a:off x="7048500" y="1847850"/>
              <a:ext cx="1704975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최진석</a:t>
              </a:r>
              <a:endParaRPr lang="en-US" sz="1800" dirty="0"/>
            </a:p>
          </p:txBody>
        </p:sp>
        <p:sp>
          <p:nvSpPr>
            <p:cNvPr id="44" name="Text 11">
              <a:extLst>
                <a:ext uri="{FF2B5EF4-FFF2-40B4-BE49-F238E27FC236}">
                  <a16:creationId xmlns:a16="http://schemas.microsoft.com/office/drawing/2014/main" id="{42CDDFD7-032C-61CE-3995-9BB08119F32D}"/>
                </a:ext>
              </a:extLst>
            </p:cNvPr>
            <p:cNvSpPr/>
            <p:nvPr/>
          </p:nvSpPr>
          <p:spPr>
            <a:xfrm>
              <a:off x="7048500" y="2152650"/>
              <a:ext cx="204597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모바일 프론트·백엔드 / DB</a:t>
              </a:r>
              <a:endParaRPr lang="en-US" sz="1200" dirty="0"/>
            </a:p>
          </p:txBody>
        </p:sp>
        <p:sp>
          <p:nvSpPr>
            <p:cNvPr id="45" name="Text 12">
              <a:extLst>
                <a:ext uri="{FF2B5EF4-FFF2-40B4-BE49-F238E27FC236}">
                  <a16:creationId xmlns:a16="http://schemas.microsoft.com/office/drawing/2014/main" id="{2FB734A3-A3B3-C75C-DA1A-AFD0BC7D1F3A}"/>
                </a:ext>
              </a:extLst>
            </p:cNvPr>
            <p:cNvSpPr/>
            <p:nvPr/>
          </p:nvSpPr>
          <p:spPr>
            <a:xfrm>
              <a:off x="6648450" y="2552700"/>
              <a:ext cx="1531620" cy="22086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440"/>
                </a:lnSpc>
                <a:buNone/>
              </a:pPr>
              <a:r>
                <a:rPr lang="en-US" sz="96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모바일 프론트엔드</a:t>
              </a:r>
              <a:endParaRPr lang="en-US" sz="960" dirty="0"/>
            </a:p>
          </p:txBody>
        </p:sp>
        <p:sp>
          <p:nvSpPr>
            <p:cNvPr id="46" name="Text 13">
              <a:extLst>
                <a:ext uri="{FF2B5EF4-FFF2-40B4-BE49-F238E27FC236}">
                  <a16:creationId xmlns:a16="http://schemas.microsoft.com/office/drawing/2014/main" id="{B74BE278-906E-BE26-303F-43BBAFF75B2D}"/>
                </a:ext>
              </a:extLst>
            </p:cNvPr>
            <p:cNvSpPr/>
            <p:nvPr/>
          </p:nvSpPr>
          <p:spPr>
            <a:xfrm>
              <a:off x="8029575" y="2552700"/>
              <a:ext cx="695325" cy="22086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440"/>
                </a:lnSpc>
                <a:buNone/>
              </a:pPr>
              <a:r>
                <a:rPr lang="en-US" sz="96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백엔드</a:t>
              </a:r>
              <a:endParaRPr lang="en-US" sz="960" dirty="0"/>
            </a:p>
          </p:txBody>
        </p:sp>
        <p:sp>
          <p:nvSpPr>
            <p:cNvPr id="47" name="Text 14">
              <a:extLst>
                <a:ext uri="{FF2B5EF4-FFF2-40B4-BE49-F238E27FC236}">
                  <a16:creationId xmlns:a16="http://schemas.microsoft.com/office/drawing/2014/main" id="{5567C206-47FB-FD1E-39E8-A0FB640395F4}"/>
                </a:ext>
              </a:extLst>
            </p:cNvPr>
            <p:cNvSpPr/>
            <p:nvPr/>
          </p:nvSpPr>
          <p:spPr>
            <a:xfrm>
              <a:off x="8782050" y="2552700"/>
              <a:ext cx="495300" cy="22086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440"/>
                </a:lnSpc>
                <a:buNone/>
              </a:pPr>
              <a:r>
                <a:rPr lang="en-US" sz="960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DB</a:t>
              </a:r>
              <a:endParaRPr lang="en-US" sz="960" dirty="0"/>
            </a:p>
          </p:txBody>
        </p:sp>
        <p:sp>
          <p:nvSpPr>
            <p:cNvPr id="48" name="Text 15">
              <a:extLst>
                <a:ext uri="{FF2B5EF4-FFF2-40B4-BE49-F238E27FC236}">
                  <a16:creationId xmlns:a16="http://schemas.microsoft.com/office/drawing/2014/main" id="{1F958711-2527-556D-9F9A-7D78B794D873}"/>
                </a:ext>
              </a:extLst>
            </p:cNvPr>
            <p:cNvSpPr/>
            <p:nvPr/>
          </p:nvSpPr>
          <p:spPr>
            <a:xfrm>
              <a:off x="6438900" y="2925961"/>
              <a:ext cx="49149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 모바일 애플리케이션 프론트엔드 개발</a:t>
              </a:r>
              <a:endParaRPr lang="en-US" sz="1200" dirty="0"/>
            </a:p>
          </p:txBody>
        </p:sp>
        <p:sp>
          <p:nvSpPr>
            <p:cNvPr id="49" name="Text 16">
              <a:extLst>
                <a:ext uri="{FF2B5EF4-FFF2-40B4-BE49-F238E27FC236}">
                  <a16:creationId xmlns:a16="http://schemas.microsoft.com/office/drawing/2014/main" id="{C8623EEA-986F-ABDD-442E-8932552732F6}"/>
                </a:ext>
              </a:extLst>
            </p:cNvPr>
            <p:cNvSpPr/>
            <p:nvPr/>
          </p:nvSpPr>
          <p:spPr>
            <a:xfrm>
              <a:off x="6438900" y="3154561"/>
              <a:ext cx="49149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 백엔드 API 개발</a:t>
              </a:r>
              <a:endParaRPr lang="en-US" sz="1200" dirty="0"/>
            </a:p>
          </p:txBody>
        </p:sp>
        <p:sp>
          <p:nvSpPr>
            <p:cNvPr id="50" name="Text 17">
              <a:extLst>
                <a:ext uri="{FF2B5EF4-FFF2-40B4-BE49-F238E27FC236}">
                  <a16:creationId xmlns:a16="http://schemas.microsoft.com/office/drawing/2014/main" id="{13352486-8687-067C-A6CA-9EF6E6590CE8}"/>
                </a:ext>
              </a:extLst>
            </p:cNvPr>
            <p:cNvSpPr/>
            <p:nvPr/>
          </p:nvSpPr>
          <p:spPr>
            <a:xfrm>
              <a:off x="6438900" y="3383161"/>
              <a:ext cx="49149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 데이터베이스 설계/관리</a:t>
              </a:r>
              <a:endParaRPr lang="en-US" sz="1200" dirty="0"/>
            </a:p>
          </p:txBody>
        </p:sp>
      </p:grpSp>
      <p:grpSp>
        <p:nvGrpSpPr>
          <p:cNvPr id="70" name="그룹 69"/>
          <p:cNvGrpSpPr/>
          <p:nvPr/>
        </p:nvGrpSpPr>
        <p:grpSpPr>
          <a:xfrm rot="0">
            <a:off x="1447800" y="3857067"/>
            <a:ext cx="5204070" cy="2203449"/>
            <a:chOff x="882405" y="3609417"/>
            <a:chExt cx="5204070" cy="2203449"/>
          </a:xfrm>
        </p:grpSpPr>
        <p:sp>
          <p:nvSpPr>
            <p:cNvPr id="7" name="자유형: 도형 6"/>
            <p:cNvSpPr/>
            <p:nvPr/>
          </p:nvSpPr>
          <p:spPr>
            <a:xfrm>
              <a:off x="882405" y="3609417"/>
              <a:ext cx="3863367" cy="2203449"/>
            </a:xfrm>
            <a:custGeom>
              <a:avLst/>
              <a:gdLst>
                <a:gd name="connsiteX0" fmla="*/ 0 w 3443324"/>
                <a:gd name="connsiteY0" fmla="*/ 344332 h 4665133"/>
                <a:gd name="connsiteX1" fmla="*/ 344332 w 3443324"/>
                <a:gd name="connsiteY1" fmla="*/ 0 h 4665133"/>
                <a:gd name="connsiteX2" fmla="*/ 3098992 w 3443324"/>
                <a:gd name="connsiteY2" fmla="*/ 0 h 4665133"/>
                <a:gd name="connsiteX3" fmla="*/ 3443324 w 3443324"/>
                <a:gd name="connsiteY3" fmla="*/ 344332 h 4665133"/>
                <a:gd name="connsiteX4" fmla="*/ 3443324 w 3443324"/>
                <a:gd name="connsiteY4" fmla="*/ 4320801 h 4665133"/>
                <a:gd name="connsiteX5" fmla="*/ 3098992 w 3443324"/>
                <a:gd name="connsiteY5" fmla="*/ 4665133 h 4665133"/>
                <a:gd name="connsiteX6" fmla="*/ 344332 w 3443324"/>
                <a:gd name="connsiteY6" fmla="*/ 4665133 h 4665133"/>
                <a:gd name="connsiteX7" fmla="*/ 0 w 3443324"/>
                <a:gd name="connsiteY7" fmla="*/ 4320801 h 4665133"/>
                <a:gd name="connsiteX8" fmla="*/ 0 w 3443324"/>
                <a:gd name="connsiteY8" fmla="*/ 344332 h 466513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3324" h="4665133">
                  <a:moveTo>
                    <a:pt x="0" y="344332"/>
                  </a:moveTo>
                  <a:cubicBezTo>
                    <a:pt x="0" y="154163"/>
                    <a:pt x="154163" y="0"/>
                    <a:pt x="344332" y="0"/>
                  </a:cubicBezTo>
                  <a:lnTo>
                    <a:pt x="3098992" y="0"/>
                  </a:lnTo>
                  <a:cubicBezTo>
                    <a:pt x="3289161" y="0"/>
                    <a:pt x="3443324" y="154163"/>
                    <a:pt x="3443324" y="344332"/>
                  </a:cubicBezTo>
                  <a:lnTo>
                    <a:pt x="3443324" y="4320801"/>
                  </a:lnTo>
                  <a:cubicBezTo>
                    <a:pt x="3443324" y="4510970"/>
                    <a:pt x="3289161" y="4665133"/>
                    <a:pt x="3098992" y="4665133"/>
                  </a:cubicBezTo>
                  <a:lnTo>
                    <a:pt x="344332" y="4665133"/>
                  </a:lnTo>
                  <a:cubicBezTo>
                    <a:pt x="154163" y="4665133"/>
                    <a:pt x="0" y="4510970"/>
                    <a:pt x="0" y="4320801"/>
                  </a:cubicBezTo>
                  <a:lnTo>
                    <a:pt x="0" y="344332"/>
                  </a:lnTo>
                  <a:close/>
                </a:path>
              </a:pathLst>
            </a:custGeom>
            <a:solidFill>
              <a:srgbClr val="efe6fa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8272" tIns="2264325" rIns="398272" bIns="1331299" numCol="1" spcCol="1270" anchor="ctr" anchorCtr="0">
              <a:noAutofit/>
            </a:bodyPr>
            <a:p>
              <a:pPr marL="0" lvl="0" indent="0" algn="ctr" defTabSz="24892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5600" kern="1200"/>
            </a:p>
          </p:txBody>
        </p:sp>
        <p:pic>
          <p:nvPicPr>
            <p:cNvPr id="54" name="Image 17"/>
            <p:cNvPicPr>
              <a:picLocks noChangeAspect="1"/>
            </p:cNvPicPr>
            <p:nvPr/>
          </p:nvPicPr>
          <p:blipFill rotWithShape="1">
            <a:blip r:embed="rId15"/>
            <a:stretch>
              <a:fillRect/>
            </a:stretch>
          </p:blipFill>
          <p:spPr>
            <a:xfrm>
              <a:off x="1171575" y="3830552"/>
              <a:ext cx="457200" cy="457200"/>
            </a:xfrm>
            <a:prstGeom prst="rect">
              <a:avLst/>
            </a:prstGeom>
          </p:spPr>
        </p:pic>
        <p:pic>
          <p:nvPicPr>
            <p:cNvPr id="55" name="Image 18"/>
            <p:cNvPicPr>
              <a:picLocks noChangeAspect="1"/>
            </p:cNvPicPr>
            <p:nvPr/>
          </p:nvPicPr>
          <p:blipFill rotWithShape="1">
            <a:blip r:embed="rId16"/>
            <a:stretch>
              <a:fillRect/>
            </a:stretch>
          </p:blipFill>
          <p:spPr>
            <a:xfrm>
              <a:off x="1171575" y="4497302"/>
              <a:ext cx="762000" cy="220861"/>
            </a:xfrm>
            <a:prstGeom prst="rect">
              <a:avLst/>
            </a:prstGeom>
          </p:spPr>
        </p:pic>
        <p:pic>
          <p:nvPicPr>
            <p:cNvPr id="56" name="Image 19"/>
            <p:cNvPicPr>
              <a:picLocks noChangeAspect="1"/>
            </p:cNvPicPr>
            <p:nvPr/>
          </p:nvPicPr>
          <p:blipFill rotWithShape="1">
            <a:blip r:embed="rId17"/>
            <a:stretch>
              <a:fillRect/>
            </a:stretch>
          </p:blipFill>
          <p:spPr>
            <a:xfrm>
              <a:off x="1247775" y="4563977"/>
              <a:ext cx="152400" cy="121890"/>
            </a:xfrm>
            <a:prstGeom prst="rect">
              <a:avLst/>
            </a:prstGeom>
          </p:spPr>
        </p:pic>
        <p:pic>
          <p:nvPicPr>
            <p:cNvPr id="57" name="Image 20"/>
            <p:cNvPicPr>
              <a:picLocks noChangeAspect="1"/>
            </p:cNvPicPr>
            <p:nvPr/>
          </p:nvPicPr>
          <p:blipFill rotWithShape="1">
            <a:blip r:embed="rId18"/>
            <a:stretch>
              <a:fillRect/>
            </a:stretch>
          </p:blipFill>
          <p:spPr>
            <a:xfrm>
              <a:off x="2009775" y="4497302"/>
              <a:ext cx="933450" cy="220861"/>
            </a:xfrm>
            <a:prstGeom prst="rect">
              <a:avLst/>
            </a:prstGeom>
          </p:spPr>
        </p:pic>
        <p:pic>
          <p:nvPicPr>
            <p:cNvPr id="58" name="Image 21"/>
            <p:cNvPicPr>
              <a:picLocks noChangeAspect="1"/>
            </p:cNvPicPr>
            <p:nvPr/>
          </p:nvPicPr>
          <p:blipFill rotWithShape="1">
            <a:blip r:embed="rId19"/>
            <a:stretch>
              <a:fillRect/>
            </a:stretch>
          </p:blipFill>
          <p:spPr>
            <a:xfrm>
              <a:off x="2085975" y="4563977"/>
              <a:ext cx="95250" cy="121890"/>
            </a:xfrm>
            <a:prstGeom prst="rect">
              <a:avLst/>
            </a:prstGeom>
          </p:spPr>
        </p:pic>
        <p:pic>
          <p:nvPicPr>
            <p:cNvPr id="59" name="Image 22"/>
            <p:cNvPicPr>
              <a:picLocks noChangeAspect="1"/>
            </p:cNvPicPr>
            <p:nvPr/>
          </p:nvPicPr>
          <p:blipFill rotWithShape="1">
            <a:blip r:embed="rId20"/>
            <a:stretch>
              <a:fillRect/>
            </a:stretch>
          </p:blipFill>
          <p:spPr>
            <a:xfrm>
              <a:off x="3019425" y="4497302"/>
              <a:ext cx="819150" cy="220861"/>
            </a:xfrm>
            <a:prstGeom prst="rect">
              <a:avLst/>
            </a:prstGeom>
          </p:spPr>
        </p:pic>
        <p:pic>
          <p:nvPicPr>
            <p:cNvPr id="60" name="Image 23"/>
            <p:cNvPicPr>
              <a:picLocks noChangeAspect="1"/>
            </p:cNvPicPr>
            <p:nvPr/>
          </p:nvPicPr>
          <p:blipFill rotWithShape="1">
            <a:blip r:embed="rId21"/>
            <a:stretch>
              <a:fillRect/>
            </a:stretch>
          </p:blipFill>
          <p:spPr>
            <a:xfrm>
              <a:off x="3095625" y="4563977"/>
              <a:ext cx="133350" cy="121890"/>
            </a:xfrm>
            <a:prstGeom prst="rect">
              <a:avLst/>
            </a:prstGeom>
          </p:spPr>
        </p:pic>
        <p:sp>
          <p:nvSpPr>
            <p:cNvPr id="61" name="Text 18"/>
            <p:cNvSpPr/>
            <p:nvPr/>
          </p:nvSpPr>
          <p:spPr>
            <a:xfrm>
              <a:off x="1314450" y="3830552"/>
              <a:ext cx="4572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유</a:t>
              </a:r>
              <a:endParaRPr lang="en-US" sz="1500" dirty="0"/>
            </a:p>
          </p:txBody>
        </p:sp>
        <p:sp>
          <p:nvSpPr>
            <p:cNvPr id="62" name="Text 19"/>
            <p:cNvSpPr/>
            <p:nvPr/>
          </p:nvSpPr>
          <p:spPr>
            <a:xfrm>
              <a:off x="1781175" y="3792452"/>
              <a:ext cx="196215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333333"/>
                  </a:solidFill>
                  <a:latin typeface="Noto Sans KR"/>
                  <a:ea typeface="Noto Sans KR"/>
                  <a:cs typeface="Noto Sans KR"/>
                </a:rPr>
                <a:t>유다경</a:t>
              </a:r>
              <a:endParaRPr lang="en-US" sz="1800" dirty="0"/>
            </a:p>
          </p:txBody>
        </p:sp>
        <p:sp>
          <p:nvSpPr>
            <p:cNvPr id="63" name="Text 20"/>
            <p:cNvSpPr/>
            <p:nvPr/>
          </p:nvSpPr>
          <p:spPr>
            <a:xfrm>
              <a:off x="1781175" y="4097252"/>
              <a:ext cx="235458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</a:rPr>
                <a:t>웹·모바일 기획 / 데스크탑 개발</a:t>
              </a:r>
              <a:endParaRPr lang="en-US" sz="1200" dirty="0"/>
            </a:p>
          </p:txBody>
        </p:sp>
        <p:sp>
          <p:nvSpPr>
            <p:cNvPr id="64" name="Text 21"/>
            <p:cNvSpPr/>
            <p:nvPr/>
          </p:nvSpPr>
          <p:spPr>
            <a:xfrm>
              <a:off x="1438275" y="4497302"/>
              <a:ext cx="762000" cy="22086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>
                <a:lnSpc>
                  <a:spcPts val="1440"/>
                </a:lnSpc>
                <a:buNone/>
              </a:pPr>
              <a:r>
                <a:rPr lang="en-US" sz="960" dirty="0">
                  <a:solidFill>
                    <a:srgbClr val="333333"/>
                  </a:solidFill>
                  <a:latin typeface="Noto Sans KR"/>
                  <a:ea typeface="Noto Sans KR"/>
                  <a:cs typeface="Noto Sans KR"/>
                </a:rPr>
                <a:t> 웹 개발</a:t>
              </a:r>
              <a:endParaRPr lang="en-US" sz="960" dirty="0"/>
            </a:p>
          </p:txBody>
        </p:sp>
        <p:sp>
          <p:nvSpPr>
            <p:cNvPr id="65" name="Text 22"/>
            <p:cNvSpPr/>
            <p:nvPr/>
          </p:nvSpPr>
          <p:spPr>
            <a:xfrm>
              <a:off x="2219325" y="4497302"/>
              <a:ext cx="1120140" cy="22086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>
                <a:lnSpc>
                  <a:spcPts val="1440"/>
                </a:lnSpc>
                <a:buNone/>
              </a:pPr>
              <a:r>
                <a:rPr lang="en-US" sz="960" dirty="0">
                  <a:solidFill>
                    <a:srgbClr val="333333"/>
                  </a:solidFill>
                  <a:latin typeface="Noto Sans KR"/>
                  <a:ea typeface="Noto Sans KR"/>
                  <a:cs typeface="Noto Sans KR"/>
                </a:rPr>
                <a:t> 모바일 기획</a:t>
              </a:r>
              <a:endParaRPr lang="en-US" sz="960" dirty="0"/>
            </a:p>
          </p:txBody>
        </p:sp>
        <p:sp>
          <p:nvSpPr>
            <p:cNvPr id="66" name="Text 23"/>
            <p:cNvSpPr/>
            <p:nvPr/>
          </p:nvSpPr>
          <p:spPr>
            <a:xfrm>
              <a:off x="3267075" y="4497302"/>
              <a:ext cx="819150" cy="22086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>
                <a:lnSpc>
                  <a:spcPts val="1440"/>
                </a:lnSpc>
                <a:buNone/>
              </a:pPr>
              <a:r>
                <a:rPr lang="en-US" sz="960" dirty="0">
                  <a:solidFill>
                    <a:srgbClr val="333333"/>
                  </a:solidFill>
                  <a:latin typeface="Noto Sans KR"/>
                  <a:ea typeface="Noto Sans KR"/>
                  <a:cs typeface="Noto Sans KR"/>
                </a:rPr>
                <a:t> 데스크탑</a:t>
              </a:r>
              <a:endParaRPr lang="en-US" sz="960" dirty="0"/>
            </a:p>
          </p:txBody>
        </p:sp>
        <p:sp>
          <p:nvSpPr>
            <p:cNvPr id="67" name="Text 24"/>
            <p:cNvSpPr/>
            <p:nvPr/>
          </p:nvSpPr>
          <p:spPr>
            <a:xfrm>
              <a:off x="1171575" y="4870563"/>
              <a:ext cx="49149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</a:rPr>
                <a:t>• 웹 및 모바일 서비스 기획</a:t>
              </a:r>
              <a:endParaRPr lang="en-US" sz="1200" dirty="0"/>
            </a:p>
          </p:txBody>
        </p:sp>
        <p:sp>
          <p:nvSpPr>
            <p:cNvPr id="68" name="Text 25"/>
            <p:cNvSpPr/>
            <p:nvPr/>
          </p:nvSpPr>
          <p:spPr>
            <a:xfrm>
              <a:off x="1171575" y="5099163"/>
              <a:ext cx="49149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</a:rPr>
                <a:t>• 사용자 경험(UX) 설계</a:t>
              </a:r>
              <a:endParaRPr lang="en-US" sz="1200" dirty="0"/>
            </a:p>
          </p:txBody>
        </p:sp>
        <p:sp>
          <p:nvSpPr>
            <p:cNvPr id="69" name="Text 26"/>
            <p:cNvSpPr/>
            <p:nvPr/>
          </p:nvSpPr>
          <p:spPr>
            <a:xfrm>
              <a:off x="1171575" y="5327763"/>
              <a:ext cx="49149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</a:rPr>
                <a:t>• 데스크탑 애플리케이션 개발</a:t>
              </a:r>
              <a:endParaRPr lang="en-US" sz="1200" dirty="0"/>
            </a:p>
          </p:txBody>
        </p:sp>
      </p:grpSp>
      <p:sp>
        <p:nvSpPr>
          <p:cNvPr id="5" name="자유형: 도형 4"/>
          <p:cNvSpPr/>
          <p:nvPr/>
        </p:nvSpPr>
        <p:spPr>
          <a:xfrm>
            <a:off x="6553200" y="3854808"/>
            <a:ext cx="3863367" cy="2203449"/>
          </a:xfrm>
          <a:custGeom>
            <a:avLst/>
            <a:gdLst>
              <a:gd name="connsiteX0" fmla="*/ 0 w 3443324"/>
              <a:gd name="connsiteY0" fmla="*/ 344332 h 4665133"/>
              <a:gd name="connsiteX1" fmla="*/ 344332 w 3443324"/>
              <a:gd name="connsiteY1" fmla="*/ 0 h 4665133"/>
              <a:gd name="connsiteX2" fmla="*/ 3098992 w 3443324"/>
              <a:gd name="connsiteY2" fmla="*/ 0 h 4665133"/>
              <a:gd name="connsiteX3" fmla="*/ 3443324 w 3443324"/>
              <a:gd name="connsiteY3" fmla="*/ 344332 h 4665133"/>
              <a:gd name="connsiteX4" fmla="*/ 3443324 w 3443324"/>
              <a:gd name="connsiteY4" fmla="*/ 4320801 h 4665133"/>
              <a:gd name="connsiteX5" fmla="*/ 3098992 w 3443324"/>
              <a:gd name="connsiteY5" fmla="*/ 4665133 h 4665133"/>
              <a:gd name="connsiteX6" fmla="*/ 344332 w 3443324"/>
              <a:gd name="connsiteY6" fmla="*/ 4665133 h 4665133"/>
              <a:gd name="connsiteX7" fmla="*/ 0 w 3443324"/>
              <a:gd name="connsiteY7" fmla="*/ 4320801 h 4665133"/>
              <a:gd name="connsiteX8" fmla="*/ 0 w 3443324"/>
              <a:gd name="connsiteY8" fmla="*/ 344332 h 466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3324" h="4665133">
                <a:moveTo>
                  <a:pt x="0" y="344332"/>
                </a:moveTo>
                <a:cubicBezTo>
                  <a:pt x="0" y="154163"/>
                  <a:pt x="154163" y="0"/>
                  <a:pt x="344332" y="0"/>
                </a:cubicBezTo>
                <a:lnTo>
                  <a:pt x="3098992" y="0"/>
                </a:lnTo>
                <a:cubicBezTo>
                  <a:pt x="3289161" y="0"/>
                  <a:pt x="3443324" y="154163"/>
                  <a:pt x="3443324" y="344332"/>
                </a:cubicBezTo>
                <a:lnTo>
                  <a:pt x="3443324" y="4320801"/>
                </a:lnTo>
                <a:cubicBezTo>
                  <a:pt x="3443324" y="4510970"/>
                  <a:pt x="3289161" y="4665133"/>
                  <a:pt x="3098992" y="4665133"/>
                </a:cubicBezTo>
                <a:lnTo>
                  <a:pt x="344332" y="4665133"/>
                </a:lnTo>
                <a:cubicBezTo>
                  <a:pt x="154163" y="4665133"/>
                  <a:pt x="0" y="4510970"/>
                  <a:pt x="0" y="4320801"/>
                </a:cubicBezTo>
                <a:lnTo>
                  <a:pt x="0" y="34433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8272" tIns="2264325" rIns="398272" bIns="1331299" numCol="1" spcCol="1270" anchor="ctr" anchorCtr="0">
            <a:noAutofit/>
          </a:bodyPr>
          <a:lstStyle/>
          <a:p>
            <a:pPr marL="0" lvl="0" indent="0" algn="ctr" defTabSz="24892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5600" kern="1200"/>
          </a:p>
        </p:txBody>
      </p:sp>
      <p:pic>
        <p:nvPicPr>
          <p:cNvPr id="71" name="Image 25" descr="preencoded.png">
            <a:extLst>
              <a:ext uri="{FF2B5EF4-FFF2-40B4-BE49-F238E27FC236}">
                <a16:creationId xmlns:a16="http://schemas.microsoft.com/office/drawing/2014/main" id="{4B3D0B0D-528E-3704-EFBF-6118584B143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22784" y="4127570"/>
            <a:ext cx="457200" cy="457200"/>
          </a:xfrm>
          <a:prstGeom prst="rect">
            <a:avLst/>
          </a:prstGeom>
        </p:spPr>
      </p:pic>
      <p:pic>
        <p:nvPicPr>
          <p:cNvPr id="72" name="Image 26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3772218" y="2300675"/>
            <a:ext cx="1052195" cy="220861"/>
          </a:xfrm>
          <a:prstGeom prst="rect">
            <a:avLst/>
          </a:prstGeom>
        </p:spPr>
      </p:pic>
      <p:pic>
        <p:nvPicPr>
          <p:cNvPr id="73" name="Image 27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7065659" y="4794320"/>
            <a:ext cx="552450" cy="220861"/>
          </a:xfrm>
          <a:prstGeom prst="rect">
            <a:avLst/>
          </a:prstGeom>
        </p:spPr>
      </p:pic>
      <p:pic>
        <p:nvPicPr>
          <p:cNvPr id="74" name="Image 28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7155194" y="4835595"/>
            <a:ext cx="95250" cy="121890"/>
          </a:xfrm>
          <a:prstGeom prst="rect">
            <a:avLst/>
          </a:prstGeom>
        </p:spPr>
      </p:pic>
      <p:sp>
        <p:nvSpPr>
          <p:cNvPr id="75" name="Text 27">
            <a:extLst>
              <a:ext uri="{FF2B5EF4-FFF2-40B4-BE49-F238E27FC236}">
                <a16:creationId xmlns:a16="http://schemas.microsoft.com/office/drawing/2014/main" id="{3753E0B4-8345-C662-DE71-4CA42A7BB010}"/>
              </a:ext>
            </a:extLst>
          </p:cNvPr>
          <p:cNvSpPr/>
          <p:nvPr/>
        </p:nvSpPr>
        <p:spPr>
          <a:xfrm>
            <a:off x="7065659" y="4127570"/>
            <a:ext cx="457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</a:t>
            </a:r>
            <a:endParaRPr lang="en-US" sz="1500" dirty="0"/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413CFD7A-08B8-8EC6-E053-E521D39DA500}"/>
              </a:ext>
            </a:extLst>
          </p:cNvPr>
          <p:cNvSpPr/>
          <p:nvPr/>
        </p:nvSpPr>
        <p:spPr>
          <a:xfrm>
            <a:off x="7532384" y="4089470"/>
            <a:ext cx="13144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박지은</a:t>
            </a:r>
            <a:endParaRPr lang="en-US" sz="1800" dirty="0"/>
          </a:p>
        </p:txBody>
      </p:sp>
      <p:sp>
        <p:nvSpPr>
          <p:cNvPr id="77" name="Text 29">
            <a:extLst>
              <a:ext uri="{FF2B5EF4-FFF2-40B4-BE49-F238E27FC236}">
                <a16:creationId xmlns:a16="http://schemas.microsoft.com/office/drawing/2014/main" id="{8C2563CB-A5DB-F6E5-977C-801F0E2AFA4B}"/>
              </a:ext>
            </a:extLst>
          </p:cNvPr>
          <p:cNvSpPr/>
          <p:nvPr/>
        </p:nvSpPr>
        <p:spPr>
          <a:xfrm>
            <a:off x="7532384" y="4394270"/>
            <a:ext cx="1577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/ PPT</a:t>
            </a:r>
            <a:endParaRPr lang="en-US" sz="1200" dirty="0"/>
          </a:p>
        </p:txBody>
      </p:sp>
      <p:sp>
        <p:nvSpPr>
          <p:cNvPr id="78" name="Text 30"/>
          <p:cNvSpPr/>
          <p:nvPr/>
        </p:nvSpPr>
        <p:spPr>
          <a:xfrm>
            <a:off x="3956699" y="2300675"/>
            <a:ext cx="114300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데이터 전처리</a:t>
            </a:r>
            <a:endParaRPr lang="en-US" sz="960" dirty="0"/>
          </a:p>
        </p:txBody>
      </p:sp>
      <p:sp>
        <p:nvSpPr>
          <p:cNvPr id="79" name="Text 31"/>
          <p:cNvSpPr/>
          <p:nvPr/>
        </p:nvSpPr>
        <p:spPr>
          <a:xfrm>
            <a:off x="7288544" y="4794320"/>
            <a:ext cx="66294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PPT</a:t>
            </a:r>
            <a:endParaRPr lang="en-US" sz="96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EDA24CA-9E40-5D37-378B-7CA35842A273}"/>
              </a:ext>
            </a:extLst>
          </p:cNvPr>
          <p:cNvSpPr/>
          <p:nvPr/>
        </p:nvSpPr>
        <p:spPr>
          <a:xfrm>
            <a:off x="6922784" y="5167581"/>
            <a:ext cx="4914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AI 모델 학습을 위한 데이터 수집</a:t>
            </a:r>
            <a:endParaRPr lang="en-US" sz="1200" dirty="0"/>
          </a:p>
        </p:txBody>
      </p:sp>
      <p:sp>
        <p:nvSpPr>
          <p:cNvPr id="82" name="Text 34"/>
          <p:cNvSpPr/>
          <p:nvPr/>
        </p:nvSpPr>
        <p:spPr>
          <a:xfrm>
            <a:off x="6922784" y="5415231"/>
            <a:ext cx="4914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• 발표 자료(PPT) 제작 및 디자인</a:t>
            </a:r>
            <a:endParaRPr lang="en-US" sz="1200" dirty="0"/>
          </a:p>
        </p:txBody>
      </p:sp>
      <p:pic>
        <p:nvPicPr>
          <p:cNvPr id="84" name="Image 15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3867157" y="2339092"/>
            <a:ext cx="104775" cy="1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72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902B2-9CA1-2D27-3FC9-C90BA9EB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986B11B-E308-5C64-3CAB-39020A31672F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F4ABD9-612D-3B82-10E3-79ADB0185A2F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1-2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0A0C28-27CC-5222-CFDE-C32C3B4324BC}"/>
              </a:ext>
            </a:extLst>
          </p:cNvPr>
          <p:cNvSpPr txBox="1"/>
          <p:nvPr/>
        </p:nvSpPr>
        <p:spPr>
          <a:xfrm>
            <a:off x="686355" y="207408"/>
            <a:ext cx="236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프로젝트 개요</a:t>
            </a:r>
          </a:p>
        </p:txBody>
      </p:sp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1C7B5C0B-8832-A542-2EE7-B413270F24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" y="1628775"/>
            <a:ext cx="10972800" cy="1066800"/>
          </a:xfrm>
          <a:prstGeom prst="rect">
            <a:avLst/>
          </a:prstGeom>
          <a:solidFill>
            <a:srgbClr val="7A6EE0"/>
          </a:solidFill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47597938-86D9-A820-6845-7F3266334D6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00" y="1866900"/>
            <a:ext cx="571500" cy="571500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AF528202-D97C-E591-92B0-9411B8A3A1E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42975" y="1981200"/>
            <a:ext cx="361950" cy="342900"/>
          </a:xfrm>
          <a:prstGeom prst="rect">
            <a:avLst/>
          </a:prstGeom>
        </p:spPr>
      </p:pic>
      <p:pic>
        <p:nvPicPr>
          <p:cNvPr id="12" name="Image 5" descr="preencoded.png">
            <a:extLst>
              <a:ext uri="{FF2B5EF4-FFF2-40B4-BE49-F238E27FC236}">
                <a16:creationId xmlns:a16="http://schemas.microsoft.com/office/drawing/2014/main" id="{25546A08-ADCC-1647-54D0-9A4B044D20A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6000"/>
            <a:grayscl/>
          </a:blip>
          <a:stretch>
            <a:fillRect/>
          </a:stretch>
        </p:blipFill>
        <p:spPr>
          <a:xfrm>
            <a:off x="609600" y="2990850"/>
            <a:ext cx="10972800" cy="1066800"/>
          </a:xfrm>
          <a:prstGeom prst="rect">
            <a:avLst/>
          </a:prstGeom>
          <a:solidFill>
            <a:srgbClr val="7A6EE0"/>
          </a:solidFill>
        </p:spPr>
      </p:pic>
      <p:pic>
        <p:nvPicPr>
          <p:cNvPr id="13" name="Image 6" descr="preencoded.png">
            <a:extLst>
              <a:ext uri="{FF2B5EF4-FFF2-40B4-BE49-F238E27FC236}">
                <a16:creationId xmlns:a16="http://schemas.microsoft.com/office/drawing/2014/main" id="{698E89C9-5127-A711-592C-D6DE87B5BAC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8200" y="3238500"/>
            <a:ext cx="571500" cy="571500"/>
          </a:xfrm>
          <a:prstGeom prst="rect">
            <a:avLst/>
          </a:prstGeom>
        </p:spPr>
      </p:pic>
      <p:pic>
        <p:nvPicPr>
          <p:cNvPr id="15" name="Image 7" descr="preencoded.png">
            <a:extLst>
              <a:ext uri="{FF2B5EF4-FFF2-40B4-BE49-F238E27FC236}">
                <a16:creationId xmlns:a16="http://schemas.microsoft.com/office/drawing/2014/main" id="{2BC14DA5-B147-B207-379F-853A95993CA5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81075" y="3352800"/>
            <a:ext cx="285750" cy="342900"/>
          </a:xfrm>
          <a:prstGeom prst="rect">
            <a:avLst/>
          </a:prstGeom>
        </p:spPr>
      </p:pic>
      <p:pic>
        <p:nvPicPr>
          <p:cNvPr id="16" name="Image 8" descr="preencoded.png">
            <a:extLst>
              <a:ext uri="{FF2B5EF4-FFF2-40B4-BE49-F238E27FC236}">
                <a16:creationId xmlns:a16="http://schemas.microsoft.com/office/drawing/2014/main" id="{724AD853-CAC2-ABC9-0E9B-4BA4F1C74F1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6000"/>
            <a:grayscl/>
          </a:blip>
          <a:stretch>
            <a:fillRect/>
          </a:stretch>
        </p:blipFill>
        <p:spPr>
          <a:xfrm>
            <a:off x="609600" y="4362450"/>
            <a:ext cx="10972800" cy="1066800"/>
          </a:xfrm>
          <a:prstGeom prst="rect">
            <a:avLst/>
          </a:prstGeom>
          <a:solidFill>
            <a:srgbClr val="7A6EE0"/>
          </a:solidFill>
        </p:spPr>
      </p:pic>
      <p:pic>
        <p:nvPicPr>
          <p:cNvPr id="17" name="Image 9" descr="preencoded.png">
            <a:extLst>
              <a:ext uri="{FF2B5EF4-FFF2-40B4-BE49-F238E27FC236}">
                <a16:creationId xmlns:a16="http://schemas.microsoft.com/office/drawing/2014/main" id="{94E28C5D-3757-959D-C797-DAAFFA5D0D1E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8200" y="4610100"/>
            <a:ext cx="571500" cy="571500"/>
          </a:xfrm>
          <a:prstGeom prst="rect">
            <a:avLst/>
          </a:prstGeom>
        </p:spPr>
      </p:pic>
      <p:pic>
        <p:nvPicPr>
          <p:cNvPr id="20" name="Image 10" descr="preencoded.png">
            <a:extLst>
              <a:ext uri="{FF2B5EF4-FFF2-40B4-BE49-F238E27FC236}">
                <a16:creationId xmlns:a16="http://schemas.microsoft.com/office/drawing/2014/main" id="{18F0BADB-28B6-3104-BA86-DFB54B80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42975" y="4724400"/>
            <a:ext cx="361950" cy="342900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7BBF14B5-E413-70FD-4635-50DF6CB2C8E0}"/>
              </a:ext>
            </a:extLst>
          </p:cNvPr>
          <p:cNvSpPr/>
          <p:nvPr/>
        </p:nvSpPr>
        <p:spPr>
          <a:xfrm>
            <a:off x="1638300" y="1847850"/>
            <a:ext cx="5600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과정명</a:t>
            </a:r>
            <a:endParaRPr lang="en-US" sz="15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F8966D4E-A22C-AEB3-E6E1-A5D3372AE980}"/>
              </a:ext>
            </a:extLst>
          </p:cNvPr>
          <p:cNvSpPr/>
          <p:nvPr/>
        </p:nvSpPr>
        <p:spPr>
          <a:xfrm>
            <a:off x="1638300" y="2190750"/>
            <a:ext cx="6720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(산대특) JAVA &amp; Python 기반 빅데이터 분석 활용 AI 플랫폼 개발자 양성과정</a:t>
            </a:r>
            <a:endParaRPr lang="en-US" sz="135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2C4BA04E-2611-7F9D-CBA7-DDDB57D79765}"/>
              </a:ext>
            </a:extLst>
          </p:cNvPr>
          <p:cNvSpPr/>
          <p:nvPr/>
        </p:nvSpPr>
        <p:spPr>
          <a:xfrm>
            <a:off x="1638300" y="321945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목적</a:t>
            </a:r>
            <a:endParaRPr lang="en-US" sz="15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453DE9D6-D42E-72B0-ECD6-94E7696FFAD5}"/>
              </a:ext>
            </a:extLst>
          </p:cNvPr>
          <p:cNvSpPr/>
          <p:nvPr/>
        </p:nvSpPr>
        <p:spPr>
          <a:xfrm>
            <a:off x="1638300" y="356235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집중력 관리에 특화된 AI 챗봇 '포커스 에이드(Focus-Aid)'의 소개 및 시연</a:t>
            </a:r>
            <a:endParaRPr lang="en-US" sz="135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73A7F11D-4E79-EDAA-BDC5-D966CCA0DD99}"/>
              </a:ext>
            </a:extLst>
          </p:cNvPr>
          <p:cNvSpPr/>
          <p:nvPr/>
        </p:nvSpPr>
        <p:spPr>
          <a:xfrm>
            <a:off x="1638300" y="4591050"/>
            <a:ext cx="91154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컨셉</a:t>
            </a:r>
            <a:endParaRPr lang="en-US" sz="15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FF8EC082-A51C-FE05-39BF-BAE56BBF88E4}"/>
              </a:ext>
            </a:extLst>
          </p:cNvPr>
          <p:cNvSpPr/>
          <p:nvPr/>
        </p:nvSpPr>
        <p:spPr>
          <a:xfrm>
            <a:off x="1638300" y="4933950"/>
            <a:ext cx="109385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사용자가 흥미 있는 주제 분야를 분석하고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관련 일정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활동을 추천하는 </a:t>
            </a: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챗봇</a:t>
            </a:r>
            <a:endParaRPr lang="en-US" sz="1350" dirty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7710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 2" descr="preencoded.png">
            <a:extLst>
              <a:ext uri="{FF2B5EF4-FFF2-40B4-BE49-F238E27FC236}">
                <a16:creationId xmlns:a16="http://schemas.microsoft.com/office/drawing/2014/main" id="{3554A289-8876-5C3C-B18D-B23C77FA70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4600" y="1628775"/>
            <a:ext cx="5257800" cy="4162424"/>
          </a:xfrm>
          <a:prstGeom prst="rect">
            <a:avLst/>
          </a:prstGeom>
          <a:solidFill>
            <a:srgbClr val="DCCCFF"/>
          </a:solidFill>
        </p:spPr>
      </p:pic>
      <p:pic>
        <p:nvPicPr>
          <p:cNvPr id="80" name="Image 2" descr="preencoded.png">
            <a:extLst>
              <a:ext uri="{FF2B5EF4-FFF2-40B4-BE49-F238E27FC236}">
                <a16:creationId xmlns:a16="http://schemas.microsoft.com/office/drawing/2014/main" id="{3D31D399-58EB-B0F1-BFDD-6C1D183FC7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2526" y="1628775"/>
            <a:ext cx="5257800" cy="4162424"/>
          </a:xfrm>
          <a:prstGeom prst="rect">
            <a:avLst/>
          </a:prstGeom>
          <a:solidFill>
            <a:srgbClr val="DCCCFF"/>
          </a:solidFill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DEFAC70-9B93-638B-1F61-7D50EB240694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1-3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6355" y="207408"/>
            <a:ext cx="3276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추진 배경 및 필요성</a:t>
            </a:r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922B8FC4-5C4F-C188-CF80-7ED7E0CC4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305050"/>
            <a:ext cx="571500" cy="571500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E2B4B309-2AAF-25CB-454D-CE03C1695D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2438400"/>
            <a:ext cx="285750" cy="304800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90B264E2-83B4-FF49-9A4D-13B6C80F32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219450"/>
            <a:ext cx="571500" cy="571500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F72E2FF3-BA76-84C0-9A8E-3FC81C0D1C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3352800"/>
            <a:ext cx="228600" cy="304800"/>
          </a:xfrm>
          <a:prstGeom prst="rect">
            <a:avLst/>
          </a:prstGeom>
        </p:spPr>
      </p:pic>
      <p:pic>
        <p:nvPicPr>
          <p:cNvPr id="20" name="Image 7" descr="preencoded.png">
            <a:extLst>
              <a:ext uri="{FF2B5EF4-FFF2-40B4-BE49-F238E27FC236}">
                <a16:creationId xmlns:a16="http://schemas.microsoft.com/office/drawing/2014/main" id="{F756A141-A18A-1014-1128-246C799C8D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133850"/>
            <a:ext cx="571500" cy="571500"/>
          </a:xfrm>
          <a:prstGeom prst="rect">
            <a:avLst/>
          </a:prstGeom>
        </p:spPr>
      </p:pic>
      <p:pic>
        <p:nvPicPr>
          <p:cNvPr id="21" name="Image 8" descr="preencoded.png">
            <a:extLst>
              <a:ext uri="{FF2B5EF4-FFF2-40B4-BE49-F238E27FC236}">
                <a16:creationId xmlns:a16="http://schemas.microsoft.com/office/drawing/2014/main" id="{8D694DCB-3017-C02E-2427-8DD150602B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4267200"/>
            <a:ext cx="228600" cy="304800"/>
          </a:xfrm>
          <a:prstGeom prst="rect">
            <a:avLst/>
          </a:prstGeom>
        </p:spPr>
      </p:pic>
      <p:pic>
        <p:nvPicPr>
          <p:cNvPr id="23" name="Image 10" descr="preencoded.png">
            <a:extLst>
              <a:ext uri="{FF2B5EF4-FFF2-40B4-BE49-F238E27FC236}">
                <a16:creationId xmlns:a16="http://schemas.microsoft.com/office/drawing/2014/main" id="{6FB29531-4004-0AD3-8581-F0D2473B0A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2305050"/>
            <a:ext cx="571500" cy="571500"/>
          </a:xfrm>
          <a:prstGeom prst="rect">
            <a:avLst/>
          </a:prstGeom>
        </p:spPr>
      </p:pic>
      <p:pic>
        <p:nvPicPr>
          <p:cNvPr id="24" name="Image 11" descr="preencoded.png">
            <a:extLst>
              <a:ext uri="{FF2B5EF4-FFF2-40B4-BE49-F238E27FC236}">
                <a16:creationId xmlns:a16="http://schemas.microsoft.com/office/drawing/2014/main" id="{2F330369-ABC1-B552-94A9-B6FE9B5551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6075" y="2438400"/>
            <a:ext cx="285750" cy="304800"/>
          </a:xfrm>
          <a:prstGeom prst="rect">
            <a:avLst/>
          </a:prstGeom>
        </p:spPr>
      </p:pic>
      <p:pic>
        <p:nvPicPr>
          <p:cNvPr id="25" name="Image 12" descr="preencoded.png">
            <a:extLst>
              <a:ext uri="{FF2B5EF4-FFF2-40B4-BE49-F238E27FC236}">
                <a16:creationId xmlns:a16="http://schemas.microsoft.com/office/drawing/2014/main" id="{4F691E21-74A6-0985-AF86-E017D789BE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3219450"/>
            <a:ext cx="571500" cy="571500"/>
          </a:xfrm>
          <a:prstGeom prst="rect">
            <a:avLst/>
          </a:prstGeom>
        </p:spPr>
      </p:pic>
      <p:pic>
        <p:nvPicPr>
          <p:cNvPr id="33" name="Image 13" descr="preencoded.png">
            <a:extLst>
              <a:ext uri="{FF2B5EF4-FFF2-40B4-BE49-F238E27FC236}">
                <a16:creationId xmlns:a16="http://schemas.microsoft.com/office/drawing/2014/main" id="{C71FA1BD-969D-24FC-139F-14F3569249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24650" y="3352800"/>
            <a:ext cx="228600" cy="304800"/>
          </a:xfrm>
          <a:prstGeom prst="rect">
            <a:avLst/>
          </a:prstGeom>
        </p:spPr>
      </p:pic>
      <p:pic>
        <p:nvPicPr>
          <p:cNvPr id="34" name="Image 14" descr="preencoded.png">
            <a:extLst>
              <a:ext uri="{FF2B5EF4-FFF2-40B4-BE49-F238E27FC236}">
                <a16:creationId xmlns:a16="http://schemas.microsoft.com/office/drawing/2014/main" id="{03EACD75-FB11-865B-781F-9CB49611DB3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4133850"/>
            <a:ext cx="571500" cy="571500"/>
          </a:xfrm>
          <a:prstGeom prst="rect">
            <a:avLst/>
          </a:prstGeom>
        </p:spPr>
      </p:pic>
      <p:pic>
        <p:nvPicPr>
          <p:cNvPr id="35" name="Image 15" descr="preencoded.png">
            <a:extLst>
              <a:ext uri="{FF2B5EF4-FFF2-40B4-BE49-F238E27FC236}">
                <a16:creationId xmlns:a16="http://schemas.microsoft.com/office/drawing/2014/main" id="{9432EC6F-0C9D-D479-AD0F-6718C643C3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6075" y="4267200"/>
            <a:ext cx="285750" cy="304800"/>
          </a:xfrm>
          <a:prstGeom prst="rect">
            <a:avLst/>
          </a:prstGeom>
        </p:spPr>
      </p:pic>
      <p:sp>
        <p:nvSpPr>
          <p:cNvPr id="36" name="Text 1">
            <a:extLst>
              <a:ext uri="{FF2B5EF4-FFF2-40B4-BE49-F238E27FC236}">
                <a16:creationId xmlns:a16="http://schemas.microsoft.com/office/drawing/2014/main" id="{80DD96A6-2723-FB08-F5E0-073A633A8665}"/>
              </a:ext>
            </a:extLst>
          </p:cNvPr>
          <p:cNvSpPr/>
          <p:nvPr/>
        </p:nvSpPr>
        <p:spPr>
          <a:xfrm>
            <a:off x="838200" y="1847850"/>
            <a:ext cx="4800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70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챗봇의 한계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3C0A1625-F18A-CF4C-1221-3ACD1AF1412D}"/>
              </a:ext>
            </a:extLst>
          </p:cNvPr>
          <p:cNvSpPr/>
          <p:nvPr/>
        </p:nvSpPr>
        <p:spPr>
          <a:xfrm>
            <a:off x="1562100" y="2305050"/>
            <a:ext cx="407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질의응답에 초점</a:t>
            </a:r>
            <a:endParaRPr lang="en-US" sz="150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B7DF9E71-AD16-6256-36EC-A68159577664}"/>
              </a:ext>
            </a:extLst>
          </p:cNvPr>
          <p:cNvSpPr/>
          <p:nvPr/>
        </p:nvSpPr>
        <p:spPr>
          <a:xfrm>
            <a:off x="1562100" y="2609850"/>
            <a:ext cx="4076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챗봇들은 주로 단순 질의응답 기능에 초점을 맞추고 있어 사용자의 집중을 유지하는 데 한계가 있음</a:t>
            </a:r>
            <a:endParaRPr lang="en-US" sz="12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9B708AAD-2495-467C-1BF1-DB7875256D8B}"/>
              </a:ext>
            </a:extLst>
          </p:cNvPr>
          <p:cNvSpPr/>
          <p:nvPr/>
        </p:nvSpPr>
        <p:spPr>
          <a:xfrm>
            <a:off x="1562100" y="3219450"/>
            <a:ext cx="407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주제 이탈</a:t>
            </a:r>
            <a:endParaRPr lang="en-US" sz="15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1204338E-4946-FF7E-91AF-9E327B0ACAA0}"/>
              </a:ext>
            </a:extLst>
          </p:cNvPr>
          <p:cNvSpPr/>
          <p:nvPr/>
        </p:nvSpPr>
        <p:spPr>
          <a:xfrm>
            <a:off x="1562100" y="3524250"/>
            <a:ext cx="4076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중 주제 이탈이 잦아 사용자의 집중을 유지하는 데 어려움 있음</a:t>
            </a:r>
            <a:endParaRPr lang="en-US" sz="120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9F7A2F22-8962-0276-6A53-27BF1C277BF5}"/>
              </a:ext>
            </a:extLst>
          </p:cNvPr>
          <p:cNvSpPr/>
          <p:nvPr/>
        </p:nvSpPr>
        <p:spPr>
          <a:xfrm>
            <a:off x="1562100" y="4133850"/>
            <a:ext cx="407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능동적 집중 관리 부족</a:t>
            </a:r>
            <a:endParaRPr lang="en-US" sz="150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79569A69-24EE-E4DE-D4A9-0133456205C9}"/>
              </a:ext>
            </a:extLst>
          </p:cNvPr>
          <p:cNvSpPr/>
          <p:nvPr/>
        </p:nvSpPr>
        <p:spPr>
          <a:xfrm>
            <a:off x="1562100" y="4438650"/>
            <a:ext cx="4076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설정한 목표에 맞춰 다시 집중하도록 능동적으로 가이드하는 기능이 부족함</a:t>
            </a:r>
            <a:endParaRPr lang="en-US" sz="120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3BBC09C1-C20C-6374-B073-E2426615B1F3}"/>
              </a:ext>
            </a:extLst>
          </p:cNvPr>
          <p:cNvSpPr/>
          <p:nvPr/>
        </p:nvSpPr>
        <p:spPr>
          <a:xfrm>
            <a:off x="6553200" y="1847850"/>
            <a:ext cx="4800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00B0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 일정 추천 서비스 수요 증가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DD2ECBAB-383A-2907-0300-40A07E48608F}"/>
              </a:ext>
            </a:extLst>
          </p:cNvPr>
          <p:cNvSpPr/>
          <p:nvPr/>
        </p:nvSpPr>
        <p:spPr>
          <a:xfrm>
            <a:off x="7277100" y="2305050"/>
            <a:ext cx="407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취미</a:t>
            </a:r>
            <a:r>
              <a:rPr lang="en-US" altLang="ko-KR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 기반 활동 추천 수요 확대</a:t>
            </a:r>
            <a:endParaRPr lang="en-US" sz="15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61A4F37E-AE79-B003-8A85-94BF78B31170}"/>
              </a:ext>
            </a:extLst>
          </p:cNvPr>
          <p:cNvSpPr/>
          <p:nvPr/>
        </p:nvSpPr>
        <p:spPr>
          <a:xfrm>
            <a:off x="7277100" y="2609850"/>
            <a:ext cx="4076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맞춤형 라이프 스타일 및 일정 추천 서비스의 수요가 꾸준히 확대되고 있음</a:t>
            </a:r>
            <a:endParaRPr lang="en-US" sz="12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9138859C-58DA-282C-E211-FD97768596D8}"/>
              </a:ext>
            </a:extLst>
          </p:cNvPr>
          <p:cNvSpPr/>
          <p:nvPr/>
        </p:nvSpPr>
        <p:spPr>
          <a:xfrm>
            <a:off x="7277100" y="3219450"/>
            <a:ext cx="407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누구에게나 필요한 서비스</a:t>
            </a:r>
            <a:endParaRPr lang="en-US" sz="150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66004B52-80B5-5BFC-27FC-4349A05814D2}"/>
              </a:ext>
            </a:extLst>
          </p:cNvPr>
          <p:cNvSpPr/>
          <p:nvPr/>
        </p:nvSpPr>
        <p:spPr>
          <a:xfrm>
            <a:off x="7277100" y="3524250"/>
            <a:ext cx="4076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연령이나 직업과 상관 없이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누구나 자신의 관심사와 취향에 맞춘 일정 추천을 원함</a:t>
            </a:r>
            <a:endParaRPr lang="en-US" sz="12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0AB0B336-43D4-C2C2-DE7E-DEF0F6C48689}"/>
              </a:ext>
            </a:extLst>
          </p:cNvPr>
          <p:cNvSpPr/>
          <p:nvPr/>
        </p:nvSpPr>
        <p:spPr>
          <a:xfrm>
            <a:off x="7277100" y="4133850"/>
            <a:ext cx="407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altLang="ko-KR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개인화 서비스 필요성 증가</a:t>
            </a:r>
            <a:endParaRPr lang="en-US" sz="1500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685A9AF6-6026-1926-296C-B500FB076E7E}"/>
              </a:ext>
            </a:extLst>
          </p:cNvPr>
          <p:cNvSpPr/>
          <p:nvPr/>
        </p:nvSpPr>
        <p:spPr>
          <a:xfrm>
            <a:off x="7277100" y="4438650"/>
            <a:ext cx="4076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맞춤형 라이프 스타일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취미 활동을 추천할 수 있는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서비스의 필요성이 확대되고 있음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7433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F2878A6-8159-9C0B-D968-0F0054AE664F}"/>
              </a:ext>
            </a:extLst>
          </p:cNvPr>
          <p:cNvSpPr/>
          <p:nvPr/>
        </p:nvSpPr>
        <p:spPr>
          <a:xfrm>
            <a:off x="8196482" y="1619248"/>
            <a:ext cx="3454450" cy="3409951"/>
          </a:xfrm>
          <a:prstGeom prst="roundRect">
            <a:avLst>
              <a:gd name="adj" fmla="val 3632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97F7091-7F64-416F-E226-DEA2F7FE0383}"/>
              </a:ext>
            </a:extLst>
          </p:cNvPr>
          <p:cNvSpPr/>
          <p:nvPr/>
        </p:nvSpPr>
        <p:spPr>
          <a:xfrm>
            <a:off x="4356049" y="1619248"/>
            <a:ext cx="3454450" cy="3409951"/>
          </a:xfrm>
          <a:prstGeom prst="roundRect">
            <a:avLst>
              <a:gd name="adj" fmla="val 36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B9C16200-921C-68DF-D2F9-49FC01034912}"/>
              </a:ext>
            </a:extLst>
          </p:cNvPr>
          <p:cNvSpPr/>
          <p:nvPr/>
        </p:nvSpPr>
        <p:spPr>
          <a:xfrm>
            <a:off x="572671" y="1619249"/>
            <a:ext cx="3454450" cy="3409951"/>
          </a:xfrm>
          <a:prstGeom prst="roundRect">
            <a:avLst>
              <a:gd name="adj" fmla="val 3632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FBFB6F-D73D-011E-9DEC-97B0C6E2A108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A0C5B7-56E1-94F6-F8EB-36EB16348174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1-4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F22A76-14AF-1E1B-B22C-C79C30457515}"/>
              </a:ext>
            </a:extLst>
          </p:cNvPr>
          <p:cNvSpPr txBox="1"/>
          <p:nvPr/>
        </p:nvSpPr>
        <p:spPr>
          <a:xfrm>
            <a:off x="686355" y="207408"/>
            <a:ext cx="236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프로젝트 비전</a:t>
            </a:r>
          </a:p>
        </p:txBody>
      </p:sp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AF589E3E-E5E5-A14F-2435-CF43B9F11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750" y="1847850"/>
            <a:ext cx="762000" cy="762000"/>
          </a:xfrm>
          <a:prstGeom prst="rect">
            <a:avLst/>
          </a:prstGeom>
        </p:spPr>
      </p:pic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0A6FBA08-ACE6-0D3B-9BA4-8A631D190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300" y="2038350"/>
            <a:ext cx="342900" cy="381000"/>
          </a:xfrm>
          <a:prstGeom prst="rect">
            <a:avLst/>
          </a:prstGeom>
        </p:spPr>
      </p:pic>
      <p:pic>
        <p:nvPicPr>
          <p:cNvPr id="9" name="Image 6" descr="preencoded.png">
            <a:extLst>
              <a:ext uri="{FF2B5EF4-FFF2-40B4-BE49-F238E27FC236}">
                <a16:creationId xmlns:a16="http://schemas.microsoft.com/office/drawing/2014/main" id="{258EC7FE-BFD7-8A51-99BF-7684E19AF2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851" y="1847850"/>
            <a:ext cx="762000" cy="762000"/>
          </a:xfrm>
          <a:prstGeom prst="rect">
            <a:avLst/>
          </a:prstGeom>
        </p:spPr>
      </p:pic>
      <p:pic>
        <p:nvPicPr>
          <p:cNvPr id="10" name="Image 7" descr="preencoded.png">
            <a:extLst>
              <a:ext uri="{FF2B5EF4-FFF2-40B4-BE49-F238E27FC236}">
                <a16:creationId xmlns:a16="http://schemas.microsoft.com/office/drawing/2014/main" id="{72FD78A8-2CD6-D4D7-C244-81149FFC8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401" y="2038350"/>
            <a:ext cx="342900" cy="381000"/>
          </a:xfrm>
          <a:prstGeom prst="rect">
            <a:avLst/>
          </a:prstGeom>
        </p:spPr>
      </p:pic>
      <p:pic>
        <p:nvPicPr>
          <p:cNvPr id="12" name="Image 9" descr="preencoded.png">
            <a:extLst>
              <a:ext uri="{FF2B5EF4-FFF2-40B4-BE49-F238E27FC236}">
                <a16:creationId xmlns:a16="http://schemas.microsoft.com/office/drawing/2014/main" id="{641443CC-063A-9F22-D470-CFCA6FD1C4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4101" y="1847850"/>
            <a:ext cx="762000" cy="762000"/>
          </a:xfrm>
          <a:prstGeom prst="rect">
            <a:avLst/>
          </a:prstGeom>
        </p:spPr>
      </p:pic>
      <p:pic>
        <p:nvPicPr>
          <p:cNvPr id="13" name="Image 10" descr="preencoded.png">
            <a:extLst>
              <a:ext uri="{FF2B5EF4-FFF2-40B4-BE49-F238E27FC236}">
                <a16:creationId xmlns:a16="http://schemas.microsoft.com/office/drawing/2014/main" id="{DD7093D2-D35A-697D-05B7-859B66ACBC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2701" y="2038350"/>
            <a:ext cx="304800" cy="381000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838785" y="2800350"/>
            <a:ext cx="289024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ctr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흥미 기반 활동 참여 확대</a:t>
            </a:r>
            <a:endParaRPr lang="en-US" sz="18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E8BBB40A-3425-2789-1A43-9CB833DE6E2D}"/>
              </a:ext>
            </a:extLst>
          </p:cNvPr>
          <p:cNvSpPr/>
          <p:nvPr/>
        </p:nvSpPr>
        <p:spPr>
          <a:xfrm>
            <a:off x="838200" y="3257550"/>
            <a:ext cx="29971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포커스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에이드는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흥미와 관심사를 분석해 관련 활동과 일정을 추천하여 삶의 만족도와 참여도를 높입니다</a:t>
            </a:r>
            <a:endParaRPr lang="en-US" sz="12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EA47FCAA-40AC-E28A-9DB6-612A93782414}"/>
              </a:ext>
            </a:extLst>
          </p:cNvPr>
          <p:cNvSpPr/>
          <p:nvPr/>
        </p:nvSpPr>
        <p:spPr>
          <a:xfrm>
            <a:off x="4884271" y="2800350"/>
            <a:ext cx="2423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자기주도적 성장 지원</a:t>
            </a:r>
            <a:endParaRPr lang="en-US" sz="1800" dirty="0"/>
          </a:p>
        </p:txBody>
      </p:sp>
      <p:sp>
        <p:nvSpPr>
          <p:cNvPr id="28" name="Text 4"/>
          <p:cNvSpPr/>
          <p:nvPr/>
        </p:nvSpPr>
        <p:spPr>
          <a:xfrm>
            <a:off x="4597301" y="3257550"/>
            <a:ext cx="2997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사용자의 잠재력을 최대한 발휘할 수 있도록 돕고, 자기</a:t>
            </a:r>
            <a:r>
              <a:rPr lang="ko-KR" alt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계발의</a:t>
            </a:r>
            <a:r>
              <a:rPr lang="en-US" altLang="ko-KR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방향성을</a:t>
            </a:r>
            <a:r>
              <a:rPr lang="en-US" altLang="ko-KR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제시하고</a:t>
            </a:r>
            <a:r>
              <a:rPr lang="en-US" altLang="ko-KR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지속적인</a:t>
            </a:r>
            <a:r>
              <a:rPr lang="en-US" altLang="ko-KR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습관을 형성하는 데 필요한 피드백을 제공합니다.</a:t>
            </a: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F6DF365C-8446-2FDC-7256-D65F18655EDC}"/>
              </a:ext>
            </a:extLst>
          </p:cNvPr>
          <p:cNvSpPr/>
          <p:nvPr/>
        </p:nvSpPr>
        <p:spPr>
          <a:xfrm>
            <a:off x="8723531" y="2800350"/>
            <a:ext cx="22631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확장 가능성</a:t>
            </a:r>
            <a:endParaRPr lang="en-US" sz="18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09A03797-3783-F743-6B4E-1A37B10124BB}"/>
              </a:ext>
            </a:extLst>
          </p:cNvPr>
          <p:cNvSpPr/>
          <p:nvPr/>
        </p:nvSpPr>
        <p:spPr>
          <a:xfrm>
            <a:off x="8356550" y="3257550"/>
            <a:ext cx="29971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취미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여가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라이프스타일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웰니스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다양한 분야로 확장 가능하며 개인화된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서비스로 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혁신적인 가치를 창출합니다</a:t>
            </a:r>
            <a:endParaRPr lang="en-US" sz="12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3978A69A-B49B-D285-C977-8C7C085D1AA8}"/>
              </a:ext>
            </a:extLst>
          </p:cNvPr>
          <p:cNvSpPr/>
          <p:nvPr/>
        </p:nvSpPr>
        <p:spPr>
          <a:xfrm>
            <a:off x="609600" y="5333999"/>
            <a:ext cx="10972800" cy="645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i="1" dirty="0">
                <a:solidFill>
                  <a:srgbClr val="7A6E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"포커스 에이드는 단순한 AI 챗봇을 넘어, </a:t>
            </a:r>
            <a:r>
              <a:rPr lang="ko-KR" altLang="en-US" i="1" dirty="0">
                <a:solidFill>
                  <a:srgbClr val="7A6E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흥미와 관심사를 분석해</a:t>
            </a:r>
            <a:endParaRPr lang="en-US" altLang="ko-KR" i="1" dirty="0">
              <a:solidFill>
                <a:srgbClr val="7A6EE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lnSpc>
                <a:spcPts val="2100"/>
              </a:lnSpc>
              <a:buNone/>
            </a:pPr>
            <a:r>
              <a:rPr lang="ko-KR" altLang="en-US" i="1" dirty="0">
                <a:solidFill>
                  <a:srgbClr val="7A6E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 일정을 제안하고 자기주도적 성장을 지원하는 라이프 파트너가 됩니다</a:t>
            </a:r>
            <a:r>
              <a:rPr lang="en-US" altLang="ko-KR" i="1" dirty="0">
                <a:solidFill>
                  <a:srgbClr val="7A6E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r>
              <a:rPr lang="en-US" i="1" dirty="0">
                <a:solidFill>
                  <a:srgbClr val="7A6E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dirty="0">
              <a:solidFill>
                <a:srgbClr val="7A6E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816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2" descr="preencoded.png">
            <a:extLst>
              <a:ext uri="{FF2B5EF4-FFF2-40B4-BE49-F238E27FC236}">
                <a16:creationId xmlns:a16="http://schemas.microsoft.com/office/drawing/2014/main" id="{AA8BB905-C9A2-7B62-7D44-61328D8836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" y="2038350"/>
            <a:ext cx="10972800" cy="1066800"/>
          </a:xfrm>
          <a:prstGeom prst="rect">
            <a:avLst/>
          </a:prstGeom>
          <a:solidFill>
            <a:srgbClr val="7A6EE0"/>
          </a:solidFill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CF72F00-A143-94DF-42CD-E85085384C9C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5D52DB-443A-006E-175A-5F1E65B06C21}"/>
              </a:ext>
            </a:extLst>
          </p:cNvPr>
          <p:cNvSpPr txBox="1"/>
          <p:nvPr/>
        </p:nvSpPr>
        <p:spPr>
          <a:xfrm>
            <a:off x="702526" y="57537"/>
            <a:ext cx="92685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1-5</a:t>
            </a:r>
          </a:p>
          <a:p>
            <a:pPr lvl="0"/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00DDC7-CADA-7420-F0EC-5D9ABDE36475}"/>
              </a:ext>
            </a:extLst>
          </p:cNvPr>
          <p:cNvSpPr txBox="1"/>
          <p:nvPr/>
        </p:nvSpPr>
        <p:spPr>
          <a:xfrm>
            <a:off x="686355" y="207408"/>
            <a:ext cx="236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프로젝트 컨셉</a:t>
            </a:r>
          </a:p>
        </p:txBody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981AF7C3-7D81-751F-8E15-10342B38934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600" y="1543050"/>
            <a:ext cx="219075" cy="342900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76F75900-482C-5D27-674D-DAE2F1161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409950"/>
            <a:ext cx="5334000" cy="1828800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80B3F652-5D7E-67D3-7752-C558FC004F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638550"/>
            <a:ext cx="285750" cy="304800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6710DCCE-DDA9-2DEA-E4EE-5A2EDB1E75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133850"/>
            <a:ext cx="152400" cy="152400"/>
          </a:xfrm>
          <a:prstGeom prst="rect">
            <a:avLst/>
          </a:prstGeom>
        </p:spPr>
      </p:pic>
      <p:pic>
        <p:nvPicPr>
          <p:cNvPr id="20" name="Image 7" descr="preencoded.png">
            <a:extLst>
              <a:ext uri="{FF2B5EF4-FFF2-40B4-BE49-F238E27FC236}">
                <a16:creationId xmlns:a16="http://schemas.microsoft.com/office/drawing/2014/main" id="{934BD742-76FD-BAD3-5C7A-B17E2B325B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476750"/>
            <a:ext cx="152400" cy="152400"/>
          </a:xfrm>
          <a:prstGeom prst="rect">
            <a:avLst/>
          </a:prstGeom>
        </p:spPr>
      </p:pic>
      <p:pic>
        <p:nvPicPr>
          <p:cNvPr id="21" name="Image 8" descr="preencoded.png">
            <a:extLst>
              <a:ext uri="{FF2B5EF4-FFF2-40B4-BE49-F238E27FC236}">
                <a16:creationId xmlns:a16="http://schemas.microsoft.com/office/drawing/2014/main" id="{A9A36630-D343-9CFB-D4D4-F11504E5B8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4819650"/>
            <a:ext cx="152400" cy="152400"/>
          </a:xfrm>
          <a:prstGeom prst="rect">
            <a:avLst/>
          </a:prstGeom>
        </p:spPr>
      </p:pic>
      <p:pic>
        <p:nvPicPr>
          <p:cNvPr id="22" name="Image 9" descr="preencoded.png">
            <a:extLst>
              <a:ext uri="{FF2B5EF4-FFF2-40B4-BE49-F238E27FC236}">
                <a16:creationId xmlns:a16="http://schemas.microsoft.com/office/drawing/2014/main" id="{EDC73494-2756-1C57-4163-5525A25357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3409950"/>
            <a:ext cx="5334000" cy="1828800"/>
          </a:xfrm>
          <a:prstGeom prst="rect">
            <a:avLst/>
          </a:prstGeom>
        </p:spPr>
      </p:pic>
      <p:pic>
        <p:nvPicPr>
          <p:cNvPr id="23" name="Image 10" descr="preencoded.png">
            <a:extLst>
              <a:ext uri="{FF2B5EF4-FFF2-40B4-BE49-F238E27FC236}">
                <a16:creationId xmlns:a16="http://schemas.microsoft.com/office/drawing/2014/main" id="{CE84FF6B-A6F7-3544-47A4-5A840D53D4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638550"/>
            <a:ext cx="285750" cy="304800"/>
          </a:xfrm>
          <a:prstGeom prst="rect">
            <a:avLst/>
          </a:prstGeom>
        </p:spPr>
      </p:pic>
      <p:pic>
        <p:nvPicPr>
          <p:cNvPr id="24" name="Image 11" descr="preencoded.png">
            <a:extLst>
              <a:ext uri="{FF2B5EF4-FFF2-40B4-BE49-F238E27FC236}">
                <a16:creationId xmlns:a16="http://schemas.microsoft.com/office/drawing/2014/main" id="{70657D7B-DD31-FB87-0D71-AB9D0DB660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4133850"/>
            <a:ext cx="152400" cy="152400"/>
          </a:xfrm>
          <a:prstGeom prst="rect">
            <a:avLst/>
          </a:prstGeom>
        </p:spPr>
      </p:pic>
      <p:pic>
        <p:nvPicPr>
          <p:cNvPr id="25" name="Image 12" descr="preencoded.png">
            <a:extLst>
              <a:ext uri="{FF2B5EF4-FFF2-40B4-BE49-F238E27FC236}">
                <a16:creationId xmlns:a16="http://schemas.microsoft.com/office/drawing/2014/main" id="{B19D5D44-7B9B-99DF-7FE9-B74BAF242E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476750"/>
            <a:ext cx="152400" cy="152400"/>
          </a:xfrm>
          <a:prstGeom prst="rect">
            <a:avLst/>
          </a:prstGeom>
        </p:spPr>
      </p:pic>
      <p:pic>
        <p:nvPicPr>
          <p:cNvPr id="32" name="Image 13" descr="preencoded.png">
            <a:extLst>
              <a:ext uri="{FF2B5EF4-FFF2-40B4-BE49-F238E27FC236}">
                <a16:creationId xmlns:a16="http://schemas.microsoft.com/office/drawing/2014/main" id="{06935F69-5A4D-CF43-ADC7-BCBECD8F75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4819650"/>
            <a:ext cx="152400" cy="152400"/>
          </a:xfrm>
          <a:prstGeom prst="rect">
            <a:avLst/>
          </a:prstGeom>
        </p:spPr>
      </p:pic>
      <p:sp>
        <p:nvSpPr>
          <p:cNvPr id="33" name="Text 1">
            <a:extLst>
              <a:ext uri="{FF2B5EF4-FFF2-40B4-BE49-F238E27FC236}">
                <a16:creationId xmlns:a16="http://schemas.microsoft.com/office/drawing/2014/main" id="{E0756335-CDAD-27BC-6B79-A9607BAB6EA8}"/>
              </a:ext>
            </a:extLst>
          </p:cNvPr>
          <p:cNvSpPr/>
          <p:nvPr/>
        </p:nvSpPr>
        <p:spPr>
          <a:xfrm>
            <a:off x="981075" y="1562100"/>
            <a:ext cx="15887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아이디어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52138560-B941-A588-9A03-C59ECE333220}"/>
              </a:ext>
            </a:extLst>
          </p:cNvPr>
          <p:cNvSpPr/>
          <p:nvPr/>
        </p:nvSpPr>
        <p:spPr>
          <a:xfrm>
            <a:off x="838200" y="2266950"/>
            <a:ext cx="1051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능동적 주제 제어 기반 </a:t>
            </a:r>
            <a:r>
              <a:rPr lang="en-US" sz="15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"집중 가이드 챗봇"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83A358A2-2696-F4E8-246B-CF81F12B20C3}"/>
              </a:ext>
            </a:extLst>
          </p:cNvPr>
          <p:cNvSpPr/>
          <p:nvPr/>
        </p:nvSpPr>
        <p:spPr>
          <a:xfrm>
            <a:off x="1238250" y="3657600"/>
            <a:ext cx="1303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포커스 에이드</a:t>
            </a:r>
            <a:endParaRPr lang="en-US" sz="1500" dirty="0"/>
          </a:p>
        </p:txBody>
      </p:sp>
      <p:sp>
        <p:nvSpPr>
          <p:cNvPr id="36" name="Text 5"/>
          <p:cNvSpPr/>
          <p:nvPr/>
        </p:nvSpPr>
        <p:spPr>
          <a:xfrm>
            <a:off x="1066800" y="4095750"/>
            <a:ext cx="3289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사용자의 답변을 분석해 핵심 주제도출</a:t>
            </a:r>
            <a:endParaRPr lang="en-US" sz="12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07FE6D4E-3C9B-951F-7C3F-6760ACE86543}"/>
              </a:ext>
            </a:extLst>
          </p:cNvPr>
          <p:cNvSpPr/>
          <p:nvPr/>
        </p:nvSpPr>
        <p:spPr>
          <a:xfrm>
            <a:off x="1066800" y="4438650"/>
            <a:ext cx="2754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관심사와 관련된 맞춤형 일정 추천</a:t>
            </a:r>
            <a:endParaRPr lang="en-US" sz="12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8CEA2E50-03AE-53D9-CAE0-CAFEB4E9BAE3}"/>
              </a:ext>
            </a:extLst>
          </p:cNvPr>
          <p:cNvSpPr/>
          <p:nvPr/>
        </p:nvSpPr>
        <p:spPr>
          <a:xfrm>
            <a:off x="1066800" y="4781550"/>
            <a:ext cx="20231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주간 </a:t>
            </a:r>
            <a:r>
              <a:rPr lang="ko-KR" alt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플래너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제공</a:t>
            </a:r>
            <a:endParaRPr lang="en-US" sz="120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4B20583C-4D70-4CCA-AB93-CC705E55496B}"/>
              </a:ext>
            </a:extLst>
          </p:cNvPr>
          <p:cNvSpPr/>
          <p:nvPr/>
        </p:nvSpPr>
        <p:spPr>
          <a:xfrm>
            <a:off x="6877050" y="3657600"/>
            <a:ext cx="891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챗봇</a:t>
            </a:r>
            <a:endParaRPr lang="en-US" sz="150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5988A3C3-0FC7-53A5-5D86-34C02A3B2DDF}"/>
              </a:ext>
            </a:extLst>
          </p:cNvPr>
          <p:cNvSpPr/>
          <p:nvPr/>
        </p:nvSpPr>
        <p:spPr>
          <a:xfrm>
            <a:off x="6705600" y="4095750"/>
            <a:ext cx="1634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질의응답에 초점</a:t>
            </a:r>
            <a:endParaRPr lang="en-US" sz="1200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64CE10CE-A2AC-C54B-54B5-F1F62F3CCFD7}"/>
              </a:ext>
            </a:extLst>
          </p:cNvPr>
          <p:cNvSpPr/>
          <p:nvPr/>
        </p:nvSpPr>
        <p:spPr>
          <a:xfrm>
            <a:off x="6705599" y="4438650"/>
            <a:ext cx="31781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개인 취향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흥미 반영 불가</a:t>
            </a:r>
            <a:endParaRPr lang="en-US" sz="12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159DCF77-3F72-0BC3-86DC-03D41EE40FFF}"/>
              </a:ext>
            </a:extLst>
          </p:cNvPr>
          <p:cNvSpPr/>
          <p:nvPr/>
        </p:nvSpPr>
        <p:spPr>
          <a:xfrm>
            <a:off x="6705599" y="4781550"/>
            <a:ext cx="30548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추천이나 맞춤형 계획 생성 기능 부재</a:t>
            </a:r>
            <a:endParaRPr lang="en-US" sz="1200" dirty="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D552ADE7-7052-73BE-3AD9-FFDC9AB8445E}"/>
              </a:ext>
            </a:extLst>
          </p:cNvPr>
          <p:cNvSpPr/>
          <p:nvPr/>
        </p:nvSpPr>
        <p:spPr>
          <a:xfrm>
            <a:off x="838200" y="2609850"/>
            <a:ext cx="12618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답변을 분석해 핵심 관심사를 도출하고</a:t>
            </a:r>
            <a:r>
              <a:rPr lang="en-US" altLang="ko-KR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주제와 연계된 주간 일정을 제안하는 </a:t>
            </a:r>
            <a:r>
              <a:rPr lang="ko-KR" altLang="en-US" sz="13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</a:t>
            </a:r>
            <a:r>
              <a:rPr lang="ko-KR" alt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봇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98463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36A2-7E2F-E62F-4A09-B363EFDE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디자인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EEE1A4-94EA-07E9-4235-CEBA59A7B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" y="-5756"/>
            <a:ext cx="12186239" cy="6845104"/>
          </a:xfrm>
          <a:prstGeom prst="rect">
            <a:avLst/>
          </a:prstGeom>
        </p:spPr>
      </p:pic>
      <p:sp>
        <p:nvSpPr>
          <p:cNvPr id="3" name="직사각형 1">
            <a:extLst>
              <a:ext uri="{FF2B5EF4-FFF2-40B4-BE49-F238E27FC236}">
                <a16:creationId xmlns:a16="http://schemas.microsoft.com/office/drawing/2014/main" id="{83C1FECD-5807-340C-8032-1B78AED50C9E}"/>
              </a:ext>
            </a:extLst>
          </p:cNvPr>
          <p:cNvSpPr/>
          <p:nvPr/>
        </p:nvSpPr>
        <p:spPr>
          <a:xfrm>
            <a:off x="25407" y="0"/>
            <a:ext cx="12192000" cy="686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B3763FBC-D478-A550-6D18-7E1303743F69}"/>
              </a:ext>
            </a:extLst>
          </p:cNvPr>
          <p:cNvSpPr/>
          <p:nvPr/>
        </p:nvSpPr>
        <p:spPr>
          <a:xfrm>
            <a:off x="10805031" y="2430018"/>
            <a:ext cx="482483" cy="577504"/>
          </a:xfrm>
          <a:custGeom>
            <a:avLst/>
            <a:gdLst/>
            <a:ahLst/>
            <a:cxnLst/>
            <a:rect l="l" t="t" r="r" b="b"/>
            <a:pathLst>
              <a:path w="482483" h="577504">
                <a:moveTo>
                  <a:pt x="241242" y="577505"/>
                </a:moveTo>
                <a:cubicBezTo>
                  <a:pt x="276583" y="451142"/>
                  <a:pt x="364423" y="346003"/>
                  <a:pt x="482484" y="288752"/>
                </a:cubicBezTo>
                <a:cubicBezTo>
                  <a:pt x="364273" y="231689"/>
                  <a:pt x="276370" y="126476"/>
                  <a:pt x="241242" y="0"/>
                </a:cubicBezTo>
                <a:cubicBezTo>
                  <a:pt x="205893" y="126360"/>
                  <a:pt x="118058" y="231493"/>
                  <a:pt x="0" y="288752"/>
                </a:cubicBezTo>
                <a:cubicBezTo>
                  <a:pt x="118061" y="346003"/>
                  <a:pt x="205901" y="451142"/>
                  <a:pt x="241242" y="57750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DFB978AE-C699-766C-4D50-C0E1DC169050}"/>
              </a:ext>
            </a:extLst>
          </p:cNvPr>
          <p:cNvSpPr/>
          <p:nvPr/>
        </p:nvSpPr>
        <p:spPr>
          <a:xfrm>
            <a:off x="1082131" y="2206199"/>
            <a:ext cx="332062" cy="397339"/>
          </a:xfrm>
          <a:custGeom>
            <a:avLst/>
            <a:gdLst/>
            <a:ahLst/>
            <a:cxnLst/>
            <a:rect l="l" t="t" r="r" b="b"/>
            <a:pathLst>
              <a:path w="332062" h="397339">
                <a:moveTo>
                  <a:pt x="165974" y="0"/>
                </a:moveTo>
                <a:cubicBezTo>
                  <a:pt x="141671" y="86946"/>
                  <a:pt x="81236" y="159288"/>
                  <a:pt x="0" y="198670"/>
                </a:cubicBezTo>
                <a:cubicBezTo>
                  <a:pt x="81236" y="238052"/>
                  <a:pt x="141671" y="310393"/>
                  <a:pt x="165974" y="397340"/>
                </a:cubicBezTo>
                <a:cubicBezTo>
                  <a:pt x="190329" y="310388"/>
                  <a:pt x="250804" y="238052"/>
                  <a:pt x="332062" y="198670"/>
                </a:cubicBezTo>
                <a:cubicBezTo>
                  <a:pt x="250690" y="159433"/>
                  <a:pt x="190170" y="87037"/>
                  <a:pt x="16597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A1F996A6-50D1-9DC4-64D2-E5E0A060A131}"/>
              </a:ext>
            </a:extLst>
          </p:cNvPr>
          <p:cNvSpPr/>
          <p:nvPr/>
        </p:nvSpPr>
        <p:spPr>
          <a:xfrm>
            <a:off x="10437335" y="2353835"/>
            <a:ext cx="203778" cy="243909"/>
          </a:xfrm>
          <a:custGeom>
            <a:avLst/>
            <a:gdLst/>
            <a:ahLst/>
            <a:cxnLst/>
            <a:rect l="l" t="t" r="r" b="b"/>
            <a:pathLst>
              <a:path w="203778" h="243909">
                <a:moveTo>
                  <a:pt x="101889" y="243910"/>
                </a:moveTo>
                <a:cubicBezTo>
                  <a:pt x="116812" y="190516"/>
                  <a:pt x="153907" y="146085"/>
                  <a:pt x="203778" y="121870"/>
                </a:cubicBezTo>
                <a:cubicBezTo>
                  <a:pt x="153870" y="97788"/>
                  <a:pt x="116747" y="53385"/>
                  <a:pt x="101889" y="0"/>
                </a:cubicBezTo>
                <a:cubicBezTo>
                  <a:pt x="86966" y="53391"/>
                  <a:pt x="49872" y="97825"/>
                  <a:pt x="0" y="122040"/>
                </a:cubicBezTo>
                <a:cubicBezTo>
                  <a:pt x="49832" y="146218"/>
                  <a:pt x="86924" y="190581"/>
                  <a:pt x="101889" y="24391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963987EB-F84D-4392-8843-61EA8D2DAC38}"/>
              </a:ext>
            </a:extLst>
          </p:cNvPr>
          <p:cNvSpPr/>
          <p:nvPr/>
        </p:nvSpPr>
        <p:spPr>
          <a:xfrm rot="1338228">
            <a:off x="1189772" y="1399305"/>
            <a:ext cx="1317695" cy="943492"/>
          </a:xfrm>
          <a:custGeom>
            <a:avLst/>
            <a:gdLst/>
            <a:ahLst/>
            <a:cxnLst/>
            <a:rect l="l" t="t" r="r" b="b"/>
            <a:pathLst>
              <a:path w="2597861" h="1860112">
                <a:moveTo>
                  <a:pt x="2463050" y="1050788"/>
                </a:moveTo>
                <a:cubicBezTo>
                  <a:pt x="2415037" y="1050949"/>
                  <a:pt x="2370760" y="1076708"/>
                  <a:pt x="2346885" y="1118364"/>
                </a:cubicBezTo>
                <a:lnTo>
                  <a:pt x="1624323" y="1054619"/>
                </a:lnTo>
                <a:cubicBezTo>
                  <a:pt x="1601865" y="991059"/>
                  <a:pt x="1535518" y="954242"/>
                  <a:pt x="1469701" y="968822"/>
                </a:cubicBezTo>
                <a:lnTo>
                  <a:pt x="1240067" y="665879"/>
                </a:lnTo>
                <a:cubicBezTo>
                  <a:pt x="1282327" y="604731"/>
                  <a:pt x="1267015" y="520904"/>
                  <a:pt x="1205868" y="478647"/>
                </a:cubicBezTo>
                <a:cubicBezTo>
                  <a:pt x="1183313" y="463060"/>
                  <a:pt x="1156538" y="454733"/>
                  <a:pt x="1129124" y="454778"/>
                </a:cubicBezTo>
                <a:cubicBezTo>
                  <a:pt x="1114426" y="454942"/>
                  <a:pt x="1099855" y="457551"/>
                  <a:pt x="1086013" y="462498"/>
                </a:cubicBezTo>
                <a:lnTo>
                  <a:pt x="915157" y="236979"/>
                </a:lnTo>
                <a:cubicBezTo>
                  <a:pt x="940076" y="167218"/>
                  <a:pt x="903728" y="90463"/>
                  <a:pt x="833966" y="65544"/>
                </a:cubicBezTo>
                <a:cubicBezTo>
                  <a:pt x="782775" y="47258"/>
                  <a:pt x="725609" y="61676"/>
                  <a:pt x="689212" y="102054"/>
                </a:cubicBezTo>
                <a:lnTo>
                  <a:pt x="258752" y="80541"/>
                </a:lnTo>
                <a:cubicBezTo>
                  <a:pt x="228588" y="12281"/>
                  <a:pt x="148799" y="-18601"/>
                  <a:pt x="80541" y="11565"/>
                </a:cubicBezTo>
                <a:cubicBezTo>
                  <a:pt x="12282" y="41729"/>
                  <a:pt x="-18600" y="121518"/>
                  <a:pt x="11564" y="189775"/>
                </a:cubicBezTo>
                <a:cubicBezTo>
                  <a:pt x="41728" y="258035"/>
                  <a:pt x="121516" y="288917"/>
                  <a:pt x="189775" y="258750"/>
                </a:cubicBezTo>
                <a:cubicBezTo>
                  <a:pt x="219064" y="245808"/>
                  <a:pt x="242804" y="222885"/>
                  <a:pt x="256765" y="194066"/>
                </a:cubicBezTo>
                <a:lnTo>
                  <a:pt x="656091" y="213933"/>
                </a:lnTo>
                <a:cubicBezTo>
                  <a:pt x="667157" y="286561"/>
                  <a:pt x="735003" y="336470"/>
                  <a:pt x="807631" y="325404"/>
                </a:cubicBezTo>
                <a:cubicBezTo>
                  <a:pt x="816838" y="324002"/>
                  <a:pt x="825872" y="321638"/>
                  <a:pt x="834582" y="318349"/>
                </a:cubicBezTo>
                <a:lnTo>
                  <a:pt x="1003678" y="541512"/>
                </a:lnTo>
                <a:cubicBezTo>
                  <a:pt x="997616" y="556823"/>
                  <a:pt x="994440" y="573123"/>
                  <a:pt x="994313" y="589590"/>
                </a:cubicBezTo>
                <a:cubicBezTo>
                  <a:pt x="994406" y="664006"/>
                  <a:pt x="1054708" y="724308"/>
                  <a:pt x="1129124" y="724401"/>
                </a:cubicBezTo>
                <a:cubicBezTo>
                  <a:pt x="1133211" y="724401"/>
                  <a:pt x="1137071" y="723550"/>
                  <a:pt x="1141044" y="723209"/>
                </a:cubicBezTo>
                <a:lnTo>
                  <a:pt x="1379448" y="1037846"/>
                </a:lnTo>
                <a:cubicBezTo>
                  <a:pt x="1368990" y="1057068"/>
                  <a:pt x="1363433" y="1078573"/>
                  <a:pt x="1363271" y="1100455"/>
                </a:cubicBezTo>
                <a:cubicBezTo>
                  <a:pt x="1363418" y="1152958"/>
                  <a:pt x="1394059" y="1200590"/>
                  <a:pt x="1441774" y="1222495"/>
                </a:cubicBezTo>
                <a:lnTo>
                  <a:pt x="1461187" y="1494105"/>
                </a:lnTo>
                <a:cubicBezTo>
                  <a:pt x="1396154" y="1529775"/>
                  <a:pt x="1372353" y="1611411"/>
                  <a:pt x="1408023" y="1676444"/>
                </a:cubicBezTo>
                <a:cubicBezTo>
                  <a:pt x="1443695" y="1741475"/>
                  <a:pt x="1525329" y="1765278"/>
                  <a:pt x="1590362" y="1729606"/>
                </a:cubicBezTo>
                <a:cubicBezTo>
                  <a:pt x="1606284" y="1720873"/>
                  <a:pt x="1620270" y="1708998"/>
                  <a:pt x="1631475" y="1694705"/>
                </a:cubicBezTo>
                <a:lnTo>
                  <a:pt x="2066335" y="1798240"/>
                </a:lnTo>
                <a:cubicBezTo>
                  <a:pt x="2106455" y="1860756"/>
                  <a:pt x="2189658" y="1878911"/>
                  <a:pt x="2252174" y="1838792"/>
                </a:cubicBezTo>
                <a:cubicBezTo>
                  <a:pt x="2314689" y="1798669"/>
                  <a:pt x="2332845" y="1715469"/>
                  <a:pt x="2292722" y="1652953"/>
                </a:cubicBezTo>
                <a:cubicBezTo>
                  <a:pt x="2285553" y="1641779"/>
                  <a:pt x="2276766" y="1631727"/>
                  <a:pt x="2266651" y="1623127"/>
                </a:cubicBezTo>
                <a:lnTo>
                  <a:pt x="2449200" y="1318992"/>
                </a:lnTo>
                <a:cubicBezTo>
                  <a:pt x="2453790" y="1319710"/>
                  <a:pt x="2458413" y="1320184"/>
                  <a:pt x="2463050" y="1320411"/>
                </a:cubicBezTo>
                <a:cubicBezTo>
                  <a:pt x="2537506" y="1320411"/>
                  <a:pt x="2597862" y="1260055"/>
                  <a:pt x="2597862" y="1185599"/>
                </a:cubicBezTo>
                <a:cubicBezTo>
                  <a:pt x="2597862" y="1111143"/>
                  <a:pt x="2537506" y="1050788"/>
                  <a:pt x="2463050" y="1050788"/>
                </a:cubicBezTo>
                <a:close/>
                <a:moveTo>
                  <a:pt x="2053194" y="1678386"/>
                </a:moveTo>
                <a:lnTo>
                  <a:pt x="1658693" y="1584415"/>
                </a:lnTo>
                <a:cubicBezTo>
                  <a:pt x="1649319" y="1539317"/>
                  <a:pt x="1617591" y="1502114"/>
                  <a:pt x="1574542" y="1485732"/>
                </a:cubicBezTo>
                <a:lnTo>
                  <a:pt x="1555697" y="1221786"/>
                </a:lnTo>
                <a:cubicBezTo>
                  <a:pt x="1580286" y="1210067"/>
                  <a:pt x="1600741" y="1191165"/>
                  <a:pt x="1614361" y="1167577"/>
                </a:cubicBezTo>
                <a:lnTo>
                  <a:pt x="2336952" y="1231322"/>
                </a:lnTo>
                <a:cubicBezTo>
                  <a:pt x="2340593" y="1241811"/>
                  <a:pt x="2345531" y="1251802"/>
                  <a:pt x="2351653" y="1261065"/>
                </a:cubicBezTo>
                <a:lnTo>
                  <a:pt x="2152586" y="1592730"/>
                </a:lnTo>
                <a:cubicBezTo>
                  <a:pt x="2106858" y="1602148"/>
                  <a:pt x="2069258" y="1634550"/>
                  <a:pt x="2053194" y="167838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5F58435-30CE-F676-AE26-3792B61DDB59}"/>
              </a:ext>
            </a:extLst>
          </p:cNvPr>
          <p:cNvSpPr/>
          <p:nvPr/>
        </p:nvSpPr>
        <p:spPr>
          <a:xfrm>
            <a:off x="1206190" y="2196790"/>
            <a:ext cx="9779620" cy="2464419"/>
          </a:xfrm>
          <a:prstGeom prst="ellipse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A48C86-5A80-E21F-C367-F25E1C3C1789}"/>
              </a:ext>
            </a:extLst>
          </p:cNvPr>
          <p:cNvSpPr txBox="1">
            <a:spLocks/>
          </p:cNvSpPr>
          <p:nvPr/>
        </p:nvSpPr>
        <p:spPr>
          <a:xfrm>
            <a:off x="5496268" y="2756870"/>
            <a:ext cx="1250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4D4D4D"/>
                </a:solidFill>
                <a:latin typeface="EBS훈민정음 R" panose="02020503020101020101" pitchFamily="18" charset="-127"/>
                <a:ea typeface="EBS훈민정음 R" panose="02020503020101020101" pitchFamily="18" charset="-127"/>
              </a:rPr>
              <a:t>Part 2</a:t>
            </a:r>
            <a:endParaRPr lang="ko-KR" altLang="en-US" sz="2800" dirty="0">
              <a:solidFill>
                <a:srgbClr val="4D4D4D"/>
              </a:solidFill>
              <a:latin typeface="EBS훈민정음 R" panose="02020503020101020101" pitchFamily="18" charset="-127"/>
              <a:ea typeface="EBS훈민정음 R" panose="020205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DDD9C-6FB3-6051-DAA7-BCDDDA256569}"/>
              </a:ext>
            </a:extLst>
          </p:cNvPr>
          <p:cNvSpPr txBox="1"/>
          <p:nvPr/>
        </p:nvSpPr>
        <p:spPr>
          <a:xfrm>
            <a:off x="4351276" y="3375029"/>
            <a:ext cx="35413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spc="300" dirty="0">
                <a:solidFill>
                  <a:srgbClr val="4D4D4D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</a:rPr>
              <a:t>주요기능 </a:t>
            </a:r>
            <a:r>
              <a:rPr lang="en-US" altLang="ko-KR" sz="4400" spc="300" dirty="0">
                <a:solidFill>
                  <a:srgbClr val="4D4D4D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</a:rPr>
              <a:t>&amp;</a:t>
            </a:r>
            <a:r>
              <a:rPr lang="ko-KR" altLang="en-US" sz="4400" spc="300" dirty="0">
                <a:solidFill>
                  <a:srgbClr val="4D4D4D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</a:rPr>
              <a:t>기술</a:t>
            </a:r>
          </a:p>
        </p:txBody>
      </p:sp>
    </p:spTree>
    <p:extLst>
      <p:ext uri="{BB962C8B-B14F-4D97-AF65-F5344CB8AC3E}">
        <p14:creationId xmlns:p14="http://schemas.microsoft.com/office/powerpoint/2010/main" val="162982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B4E7B-C790-A51B-4990-407EFFB6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2" descr="preencoded.png">
            <a:extLst>
              <a:ext uri="{FF2B5EF4-FFF2-40B4-BE49-F238E27FC236}">
                <a16:creationId xmlns:a16="http://schemas.microsoft.com/office/drawing/2014/main" id="{DFB58CDD-612F-0464-5FB1-011ADFBE7A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4585" y="1544282"/>
            <a:ext cx="5257800" cy="4162424"/>
          </a:xfrm>
          <a:prstGeom prst="rect">
            <a:avLst/>
          </a:prstGeom>
          <a:solidFill>
            <a:srgbClr val="DCCCFF"/>
          </a:solidFill>
        </p:spPr>
      </p:pic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8A20F676-FAA7-7F44-4483-4BF1BD1EB2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700" y="1544282"/>
            <a:ext cx="5257800" cy="4162424"/>
          </a:xfrm>
          <a:prstGeom prst="rect">
            <a:avLst/>
          </a:prstGeom>
          <a:solidFill>
            <a:srgbClr val="DCCCFF"/>
          </a:solidFill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BFE5968-D499-9D7B-AFD7-4ABF8B90B73B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43B68F-0D0A-2203-3A72-4195CB0EFEF7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2-1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86D8A6-EE42-0535-28BB-0D35ED18CF9E}"/>
              </a:ext>
            </a:extLst>
          </p:cNvPr>
          <p:cNvSpPr txBox="1"/>
          <p:nvPr/>
        </p:nvSpPr>
        <p:spPr>
          <a:xfrm>
            <a:off x="686355" y="207408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주요기능</a:t>
            </a:r>
          </a:p>
        </p:txBody>
      </p:sp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247D7AEB-9E1E-09C3-2201-71468ABFD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850" y="1771650"/>
            <a:ext cx="571500" cy="628650"/>
          </a:xfrm>
          <a:prstGeom prst="rect">
            <a:avLst/>
          </a:prstGeom>
        </p:spPr>
      </p:pic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E66601C-6515-8C3B-E016-048D408D6C5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33725" y="1914525"/>
            <a:ext cx="285750" cy="342900"/>
          </a:xfrm>
          <a:prstGeom prst="rect">
            <a:avLst/>
          </a:prstGeom>
        </p:spPr>
      </p:pic>
      <p:pic>
        <p:nvPicPr>
          <p:cNvPr id="11" name="Image 8" descr="preencoded.png">
            <a:extLst>
              <a:ext uri="{FF2B5EF4-FFF2-40B4-BE49-F238E27FC236}">
                <a16:creationId xmlns:a16="http://schemas.microsoft.com/office/drawing/2014/main" id="{4C66F383-8E44-C1F5-B7BE-3F050E7A5F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264877"/>
            <a:ext cx="4876800" cy="609600"/>
          </a:xfrm>
          <a:prstGeom prst="rect">
            <a:avLst/>
          </a:prstGeom>
        </p:spPr>
      </p:pic>
      <p:pic>
        <p:nvPicPr>
          <p:cNvPr id="13" name="Image 10" descr="preencoded.png">
            <a:extLst>
              <a:ext uri="{FF2B5EF4-FFF2-40B4-BE49-F238E27FC236}">
                <a16:creationId xmlns:a16="http://schemas.microsoft.com/office/drawing/2014/main" id="{A78A7FBF-5C23-27B7-6F3B-05F3E7173B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8700" y="1771650"/>
            <a:ext cx="533400" cy="628650"/>
          </a:xfrm>
          <a:prstGeom prst="rect">
            <a:avLst/>
          </a:prstGeom>
        </p:spPr>
      </p:pic>
      <p:pic>
        <p:nvPicPr>
          <p:cNvPr id="17" name="Image 11" descr="preencoded.png">
            <a:extLst>
              <a:ext uri="{FF2B5EF4-FFF2-40B4-BE49-F238E27FC236}">
                <a16:creationId xmlns:a16="http://schemas.microsoft.com/office/drawing/2014/main" id="{D2B3C04B-6ACC-4F17-C655-73117790D13F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91575" y="1914525"/>
            <a:ext cx="247650" cy="342900"/>
          </a:xfrm>
          <a:prstGeom prst="rect">
            <a:avLst/>
          </a:prstGeom>
        </p:spPr>
      </p:pic>
      <p:pic>
        <p:nvPicPr>
          <p:cNvPr id="26" name="Image 12" descr="preencoded.png">
            <a:extLst>
              <a:ext uri="{FF2B5EF4-FFF2-40B4-BE49-F238E27FC236}">
                <a16:creationId xmlns:a16="http://schemas.microsoft.com/office/drawing/2014/main" id="{6053ACFF-43B6-E90C-F3FA-BA690C3B94F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77000" y="3038475"/>
            <a:ext cx="152400" cy="152400"/>
          </a:xfrm>
          <a:prstGeom prst="rect">
            <a:avLst/>
          </a:prstGeom>
        </p:spPr>
      </p:pic>
      <p:pic>
        <p:nvPicPr>
          <p:cNvPr id="27" name="Image 13" descr="preencoded.png">
            <a:extLst>
              <a:ext uri="{FF2B5EF4-FFF2-40B4-BE49-F238E27FC236}">
                <a16:creationId xmlns:a16="http://schemas.microsoft.com/office/drawing/2014/main" id="{46477EEC-F35D-7018-7F9B-2891EB45E48E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77000" y="3381375"/>
            <a:ext cx="152400" cy="152400"/>
          </a:xfrm>
          <a:prstGeom prst="rect">
            <a:avLst/>
          </a:prstGeom>
        </p:spPr>
      </p:pic>
      <p:pic>
        <p:nvPicPr>
          <p:cNvPr id="28" name="Image 14" descr="preencoded.png">
            <a:extLst>
              <a:ext uri="{FF2B5EF4-FFF2-40B4-BE49-F238E27FC236}">
                <a16:creationId xmlns:a16="http://schemas.microsoft.com/office/drawing/2014/main" id="{4EF46E5A-23B7-CCC0-E841-41450E9D485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77000" y="3737959"/>
            <a:ext cx="152400" cy="152400"/>
          </a:xfrm>
          <a:prstGeom prst="rect">
            <a:avLst/>
          </a:prstGeom>
        </p:spPr>
      </p:pic>
      <p:pic>
        <p:nvPicPr>
          <p:cNvPr id="29" name="Image 15" descr="preencoded.png">
            <a:extLst>
              <a:ext uri="{FF2B5EF4-FFF2-40B4-BE49-F238E27FC236}">
                <a16:creationId xmlns:a16="http://schemas.microsoft.com/office/drawing/2014/main" id="{B9527FC5-426B-3EDC-6274-4BE26B0EFD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4295775"/>
            <a:ext cx="4876800" cy="748836"/>
          </a:xfrm>
          <a:prstGeom prst="rect">
            <a:avLst/>
          </a:prstGeom>
        </p:spPr>
      </p:pic>
      <p:sp>
        <p:nvSpPr>
          <p:cNvPr id="30" name="Text 1">
            <a:extLst>
              <a:ext uri="{FF2B5EF4-FFF2-40B4-BE49-F238E27FC236}">
                <a16:creationId xmlns:a16="http://schemas.microsoft.com/office/drawing/2014/main" id="{2C5B2389-6E43-23F1-ACC0-C2A7A7F3212F}"/>
              </a:ext>
            </a:extLst>
          </p:cNvPr>
          <p:cNvSpPr/>
          <p:nvPr/>
        </p:nvSpPr>
        <p:spPr>
          <a:xfrm>
            <a:off x="1836420" y="2543175"/>
            <a:ext cx="2880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 기반 대화 주제 분류</a:t>
            </a:r>
            <a:endParaRPr lang="en-US" sz="18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32C8735B-6CFA-E23B-C939-F0B5BB071BEF}"/>
              </a:ext>
            </a:extLst>
          </p:cNvPr>
          <p:cNvSpPr/>
          <p:nvPr/>
        </p:nvSpPr>
        <p:spPr>
          <a:xfrm>
            <a:off x="1066800" y="3000375"/>
            <a:ext cx="4648200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답변을 실시간으로 분석해 핵심 관심사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분류</a:t>
            </a:r>
            <a:endParaRPr lang="en-US" sz="1200" dirty="0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9DDD2106-D42C-FE71-FBFD-49599740589B}"/>
              </a:ext>
            </a:extLst>
          </p:cNvPr>
          <p:cNvSpPr/>
          <p:nvPr/>
        </p:nvSpPr>
        <p:spPr>
          <a:xfrm>
            <a:off x="1066800" y="3396894"/>
            <a:ext cx="5086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형태소 분석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/TF-IDF 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 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 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기법을 활용해 의미를 추출</a:t>
            </a:r>
            <a:endParaRPr lang="en-US" sz="1200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BAC052CD-A48F-A573-D93D-668C5E1508EC}"/>
              </a:ext>
            </a:extLst>
          </p:cNvPr>
          <p:cNvSpPr/>
          <p:nvPr/>
        </p:nvSpPr>
        <p:spPr>
          <a:xfrm>
            <a:off x="1066800" y="3810000"/>
            <a:ext cx="3486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도출된 주제를 기반으로 맞춤형 일정 추천 준비</a:t>
            </a:r>
            <a:endParaRPr lang="en-US" sz="12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02E5A023-A62C-4546-A07E-F11064FA582D}"/>
              </a:ext>
            </a:extLst>
          </p:cNvPr>
          <p:cNvSpPr/>
          <p:nvPr/>
        </p:nvSpPr>
        <p:spPr>
          <a:xfrm>
            <a:off x="981075" y="4360127"/>
            <a:ext cx="45910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</a:t>
            </a:r>
            <a:endParaRPr lang="en-US" sz="105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77C33E1A-A6B5-6CB3-2038-CBF1B1D59232}"/>
              </a:ext>
            </a:extLst>
          </p:cNvPr>
          <p:cNvSpPr/>
          <p:nvPr/>
        </p:nvSpPr>
        <p:spPr>
          <a:xfrm>
            <a:off x="981075" y="4588727"/>
            <a:ext cx="5509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주말에 친구랑 뭐 할지 고민이야" → </a:t>
            </a:r>
            <a:r>
              <a:rPr lang="ko-KR" alt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여가</a:t>
            </a:r>
            <a:r>
              <a:rPr lang="en-US" altLang="ko-KR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취미 활동 주제로 분류</a:t>
            </a:r>
            <a:endParaRPr lang="en-US" sz="105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FBD11AD4-4D1C-DACC-A770-A0E085926B61}"/>
              </a:ext>
            </a:extLst>
          </p:cNvPr>
          <p:cNvSpPr/>
          <p:nvPr/>
        </p:nvSpPr>
        <p:spPr>
          <a:xfrm>
            <a:off x="7623810" y="2543175"/>
            <a:ext cx="25831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 일정 추천</a:t>
            </a:r>
            <a:endParaRPr lang="en-US" sz="180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1A4D317F-AAF7-F5E7-BB09-50504A745B43}"/>
              </a:ext>
            </a:extLst>
          </p:cNvPr>
          <p:cNvSpPr/>
          <p:nvPr/>
        </p:nvSpPr>
        <p:spPr>
          <a:xfrm>
            <a:off x="6705600" y="3000375"/>
            <a:ext cx="5040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개의 질문과 답변을 분석해 흥미 주제 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Top2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도출</a:t>
            </a:r>
            <a:endParaRPr lang="en-US" sz="12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749AB291-9B9A-84BC-ED87-1AEC8FBC7D58}"/>
              </a:ext>
            </a:extLst>
          </p:cNvPr>
          <p:cNvSpPr/>
          <p:nvPr/>
        </p:nvSpPr>
        <p:spPr>
          <a:xfrm>
            <a:off x="6705600" y="3343275"/>
            <a:ext cx="4648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최종 주제를 선택하면 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월</a:t>
            </a:r>
            <a:r>
              <a:rPr lang="en-US" altLang="ko-KR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</a:t>
            </a: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 주간 일정을 자동 생성</a:t>
            </a:r>
            <a:endParaRPr lang="en-US" sz="1200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9CF09468-36B2-7921-8241-067D80BCC3DD}"/>
              </a:ext>
            </a:extLst>
          </p:cNvPr>
          <p:cNvSpPr/>
          <p:nvPr/>
        </p:nvSpPr>
        <p:spPr>
          <a:xfrm>
            <a:off x="6705600" y="3699859"/>
            <a:ext cx="4480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관심사와 답변을 반영해 개인화된 계획을 제공</a:t>
            </a:r>
            <a:endParaRPr lang="en-US" sz="1200" dirty="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79810DC3-2304-CE53-DFFE-B2522144EACE}"/>
              </a:ext>
            </a:extLst>
          </p:cNvPr>
          <p:cNvSpPr/>
          <p:nvPr/>
        </p:nvSpPr>
        <p:spPr>
          <a:xfrm>
            <a:off x="6619875" y="4391025"/>
            <a:ext cx="45910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</a:t>
            </a:r>
            <a:endParaRPr lang="en-US" sz="1050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C492A78D-9B51-0E98-1F21-B744AEE93C13}"/>
              </a:ext>
            </a:extLst>
          </p:cNvPr>
          <p:cNvSpPr/>
          <p:nvPr/>
        </p:nvSpPr>
        <p:spPr>
          <a:xfrm>
            <a:off x="6815081" y="4619625"/>
            <a:ext cx="5509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＂</a:t>
            </a:r>
            <a:r>
              <a:rPr lang="ko-KR" alt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스포츠 주제를 선택하면</a:t>
            </a:r>
            <a:r>
              <a:rPr lang="en-US" altLang="ko-KR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월요일엔 러닝</a:t>
            </a:r>
            <a:r>
              <a:rPr lang="en-US" altLang="ko-KR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ko-KR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	</a:t>
            </a:r>
            <a:r>
              <a:rPr lang="ko-KR" alt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주말엔 경기관람처럼 구체적인 일정을 추천합니다</a:t>
            </a: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050" dirty="0"/>
          </a:p>
        </p:txBody>
      </p:sp>
      <p:pic>
        <p:nvPicPr>
          <p:cNvPr id="56" name="Image 12" descr="preencoded.png">
            <a:extLst>
              <a:ext uri="{FF2B5EF4-FFF2-40B4-BE49-F238E27FC236}">
                <a16:creationId xmlns:a16="http://schemas.microsoft.com/office/drawing/2014/main" id="{EC39F551-B7D5-7FEF-626C-6D608B217894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1560" y="3028201"/>
            <a:ext cx="152400" cy="152400"/>
          </a:xfrm>
          <a:prstGeom prst="rect">
            <a:avLst/>
          </a:prstGeom>
        </p:spPr>
      </p:pic>
      <p:pic>
        <p:nvPicPr>
          <p:cNvPr id="57" name="Image 13" descr="preencoded.png">
            <a:extLst>
              <a:ext uri="{FF2B5EF4-FFF2-40B4-BE49-F238E27FC236}">
                <a16:creationId xmlns:a16="http://schemas.microsoft.com/office/drawing/2014/main" id="{44CB434B-2506-886C-B046-1368136108FB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1560" y="3432745"/>
            <a:ext cx="152400" cy="152400"/>
          </a:xfrm>
          <a:prstGeom prst="rect">
            <a:avLst/>
          </a:prstGeom>
        </p:spPr>
      </p:pic>
      <p:pic>
        <p:nvPicPr>
          <p:cNvPr id="58" name="Image 14" descr="preencoded.png">
            <a:extLst>
              <a:ext uri="{FF2B5EF4-FFF2-40B4-BE49-F238E27FC236}">
                <a16:creationId xmlns:a16="http://schemas.microsoft.com/office/drawing/2014/main" id="{A5D2218B-9C14-E735-6C81-81E061A87E19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1560" y="3850973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1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2" descr="preencoded.png">
            <a:extLst>
              <a:ext uri="{FF2B5EF4-FFF2-40B4-BE49-F238E27FC236}">
                <a16:creationId xmlns:a16="http://schemas.microsoft.com/office/drawing/2014/main" id="{20F4D8AE-0266-E956-C237-7C6C74F664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7668" y="1544282"/>
            <a:ext cx="5257800" cy="4406574"/>
          </a:xfrm>
          <a:prstGeom prst="rect">
            <a:avLst/>
          </a:prstGeom>
          <a:solidFill>
            <a:srgbClr val="DCCCFF"/>
          </a:solidFill>
        </p:spPr>
      </p:pic>
      <p:sp>
        <p:nvSpPr>
          <p:cNvPr id="66" name="사각형: 둥근 모서리 65"/>
          <p:cNvSpPr/>
          <p:nvPr/>
        </p:nvSpPr>
        <p:spPr>
          <a:xfrm>
            <a:off x="647533" y="4752758"/>
            <a:ext cx="4288302" cy="396122"/>
          </a:xfrm>
          <a:prstGeom prst="roundRect">
            <a:avLst>
              <a:gd name="adj" fmla="val 23218"/>
            </a:avLst>
          </a:prstGeom>
          <a:solidFill>
            <a:srgbClr val="dcc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5" name="사각형: 둥근 모서리 64"/>
          <p:cNvSpPr/>
          <p:nvPr/>
        </p:nvSpPr>
        <p:spPr>
          <a:xfrm>
            <a:off x="630408" y="4066699"/>
            <a:ext cx="4939812" cy="583593"/>
          </a:xfrm>
          <a:prstGeom prst="roundRect">
            <a:avLst>
              <a:gd name="adj" fmla="val 23218"/>
            </a:avLst>
          </a:prstGeom>
          <a:solidFill>
            <a:srgbClr val="dcc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F5BCF365-EB61-3D55-D467-95600BE29AA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6000"/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2" y="1544281"/>
            <a:ext cx="5257800" cy="4406575"/>
          </a:xfrm>
          <a:prstGeom prst="rect">
            <a:avLst/>
          </a:prstGeom>
          <a:solidFill>
            <a:srgbClr val="DCCCFF"/>
          </a:solidFill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83B8AC4-61A8-3829-A064-CAD853E946C1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4160DE-69A6-4B51-5D7A-C2C21B25DB28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2-1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BC9DC1-7366-CEE5-FAFF-3DCF94E7B59A}"/>
              </a:ext>
            </a:extLst>
          </p:cNvPr>
          <p:cNvSpPr txBox="1"/>
          <p:nvPr/>
        </p:nvSpPr>
        <p:spPr>
          <a:xfrm>
            <a:off x="686355" y="207408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주요기능</a:t>
            </a:r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CDE897F7-A322-8BC6-3574-1F695FB1B7F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8200" y="1771650"/>
            <a:ext cx="571500" cy="628650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CB7E8D7E-4F18-07E1-FD94-D4394528FB0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91349" y="1914525"/>
            <a:ext cx="285750" cy="342900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A33D6F2A-9F45-4DC9-EBA9-D4C08CE1CBCD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8200" y="2733675"/>
            <a:ext cx="152400" cy="152400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CC7E2A27-6428-B858-413B-05294FE708DC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8200" y="3038475"/>
            <a:ext cx="152400" cy="152400"/>
          </a:xfrm>
          <a:prstGeom prst="rect">
            <a:avLst/>
          </a:prstGeom>
        </p:spPr>
      </p:pic>
      <p:pic>
        <p:nvPicPr>
          <p:cNvPr id="20" name="Image 7" descr="preencoded.png">
            <a:extLst>
              <a:ext uri="{FF2B5EF4-FFF2-40B4-BE49-F238E27FC236}">
                <a16:creationId xmlns:a16="http://schemas.microsoft.com/office/drawing/2014/main" id="{E164901B-0FBB-F3A0-B669-33E55F4E827D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8200" y="3343275"/>
            <a:ext cx="152400" cy="152400"/>
          </a:xfrm>
          <a:prstGeom prst="rect">
            <a:avLst/>
          </a:prstGeom>
        </p:spPr>
      </p:pic>
      <p:pic>
        <p:nvPicPr>
          <p:cNvPr id="24" name="Image 11" descr="preencoded.png">
            <a:extLst>
              <a:ext uri="{FF2B5EF4-FFF2-40B4-BE49-F238E27FC236}">
                <a16:creationId xmlns:a16="http://schemas.microsoft.com/office/drawing/2014/main" id="{601A3BFB-3660-2E3A-F20D-2F71862FA5E6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77000" y="1771650"/>
            <a:ext cx="609600" cy="628650"/>
          </a:xfrm>
          <a:prstGeom prst="rect">
            <a:avLst/>
          </a:prstGeom>
        </p:spPr>
      </p:pic>
      <p:pic>
        <p:nvPicPr>
          <p:cNvPr id="25" name="Image 12" descr="preencoded.png">
            <a:extLst>
              <a:ext uri="{FF2B5EF4-FFF2-40B4-BE49-F238E27FC236}">
                <a16:creationId xmlns:a16="http://schemas.microsoft.com/office/drawing/2014/main" id="{903C2238-9962-FEA2-B10A-1AE11CA456A1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19875" y="1914525"/>
            <a:ext cx="323850" cy="342900"/>
          </a:xfrm>
          <a:prstGeom prst="rect">
            <a:avLst/>
          </a:prstGeom>
        </p:spPr>
      </p:pic>
      <p:pic>
        <p:nvPicPr>
          <p:cNvPr id="32" name="Image 13" descr="preencoded.png">
            <a:extLst>
              <a:ext uri="{FF2B5EF4-FFF2-40B4-BE49-F238E27FC236}">
                <a16:creationId xmlns:a16="http://schemas.microsoft.com/office/drawing/2014/main" id="{4347FBCE-EC69-27EA-42CC-EDE463142102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77000" y="2733675"/>
            <a:ext cx="152400" cy="152400"/>
          </a:xfrm>
          <a:prstGeom prst="rect">
            <a:avLst/>
          </a:prstGeom>
        </p:spPr>
      </p:pic>
      <p:pic>
        <p:nvPicPr>
          <p:cNvPr id="33" name="Image 14" descr="preencoded.png">
            <a:extLst>
              <a:ext uri="{FF2B5EF4-FFF2-40B4-BE49-F238E27FC236}">
                <a16:creationId xmlns:a16="http://schemas.microsoft.com/office/drawing/2014/main" id="{CFAAB3B9-0EA7-A6B5-C5CC-8C89993AE737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77000" y="3038475"/>
            <a:ext cx="152400" cy="152400"/>
          </a:xfrm>
          <a:prstGeom prst="rect">
            <a:avLst/>
          </a:prstGeom>
        </p:spPr>
      </p:pic>
      <p:pic>
        <p:nvPicPr>
          <p:cNvPr id="34" name="Image 15" descr="preencoded.png">
            <a:extLst>
              <a:ext uri="{FF2B5EF4-FFF2-40B4-BE49-F238E27FC236}">
                <a16:creationId xmlns:a16="http://schemas.microsoft.com/office/drawing/2014/main" id="{F17E91C6-B572-9F20-95ED-72C5B6255A6A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77000" y="3343275"/>
            <a:ext cx="152400" cy="152400"/>
          </a:xfrm>
          <a:prstGeom prst="rect">
            <a:avLst/>
          </a:prstGeom>
        </p:spPr>
      </p:pic>
      <p:pic>
        <p:nvPicPr>
          <p:cNvPr id="35" name="Image 16" descr="preencoded.png">
            <a:extLst>
              <a:ext uri="{FF2B5EF4-FFF2-40B4-BE49-F238E27FC236}">
                <a16:creationId xmlns:a16="http://schemas.microsoft.com/office/drawing/2014/main" id="{CC727225-8D88-731F-3E5A-2D9635DA045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3781425"/>
            <a:ext cx="2905211" cy="1428750"/>
          </a:xfrm>
          <a:prstGeom prst="rect">
            <a:avLst/>
          </a:prstGeom>
        </p:spPr>
      </p:pic>
      <p:sp>
        <p:nvSpPr>
          <p:cNvPr id="37" name="Text 1">
            <a:extLst>
              <a:ext uri="{FF2B5EF4-FFF2-40B4-BE49-F238E27FC236}">
                <a16:creationId xmlns:a16="http://schemas.microsoft.com/office/drawing/2014/main" id="{2ADE8912-8E39-E1B2-4B25-92CECF234B32}"/>
              </a:ext>
            </a:extLst>
          </p:cNvPr>
          <p:cNvSpPr/>
          <p:nvPr/>
        </p:nvSpPr>
        <p:spPr>
          <a:xfrm>
            <a:off x="1562100" y="1984465"/>
            <a:ext cx="3086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 기반 일정 추천 메시지</a:t>
            </a:r>
            <a:endParaRPr lang="en-US" sz="18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E0174738-B3D5-B724-0DC3-4DB196DB4C79}"/>
              </a:ext>
            </a:extLst>
          </p:cNvPr>
          <p:cNvSpPr/>
          <p:nvPr/>
        </p:nvSpPr>
        <p:spPr>
          <a:xfrm>
            <a:off x="1066800" y="2695575"/>
            <a:ext cx="4674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답변과 선택된 주제를 기반으로 맞춤형 일정 메시지 제공</a:t>
            </a:r>
            <a:endParaRPr lang="en-US" sz="12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2418CEBD-E7F8-2030-0E7B-FF51115E10EE}"/>
              </a:ext>
            </a:extLst>
          </p:cNvPr>
          <p:cNvSpPr/>
          <p:nvPr/>
        </p:nvSpPr>
        <p:spPr>
          <a:xfrm>
            <a:off x="1066800" y="3000375"/>
            <a:ext cx="47891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계획 속 활동을 자연스럽게 이어갈 수 있도록 대화형 안내</a:t>
            </a:r>
            <a:endParaRPr lang="en-US" sz="120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CFBEA119-B13E-4812-0A16-7E53372E072F}"/>
              </a:ext>
            </a:extLst>
          </p:cNvPr>
          <p:cNvSpPr/>
          <p:nvPr/>
        </p:nvSpPr>
        <p:spPr>
          <a:xfrm>
            <a:off x="1066800" y="3305175"/>
            <a:ext cx="4137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시 일정 변경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 활동을 제안해 유연하게 대응</a:t>
            </a:r>
            <a:endParaRPr lang="en-US" sz="12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04D73E1B-2302-8AA5-DFA3-7616AED6E8F1}"/>
              </a:ext>
            </a:extLst>
          </p:cNvPr>
          <p:cNvSpPr/>
          <p:nvPr/>
        </p:nvSpPr>
        <p:spPr>
          <a:xfrm>
            <a:off x="838200" y="3686175"/>
            <a:ext cx="4876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챗봇 메시지 예시:</a:t>
            </a:r>
            <a:endParaRPr lang="en-US" sz="1050" dirty="0"/>
          </a:p>
        </p:txBody>
      </p:sp>
      <p:sp>
        <p:nvSpPr>
          <p:cNvPr id="42" name="Text 6"/>
          <p:cNvSpPr/>
          <p:nvPr/>
        </p:nvSpPr>
        <p:spPr>
          <a:xfrm>
            <a:off x="695325" y="4162425"/>
            <a:ext cx="4683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＂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최근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주말에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시간가는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줄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모르고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집중했던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일이나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즐거웠던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활동이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있으신가요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?</a:t>
            </a:r>
            <a:r>
              <a:rPr 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"</a:t>
            </a:r>
            <a:endParaRPr lang="en-US" sz="1050" dirty="0"/>
          </a:p>
        </p:txBody>
      </p:sp>
      <p:sp>
        <p:nvSpPr>
          <p:cNvPr id="43" name="Text 7"/>
          <p:cNvSpPr/>
          <p:nvPr/>
        </p:nvSpPr>
        <p:spPr>
          <a:xfrm>
            <a:off x="790575" y="4833886"/>
            <a:ext cx="3952875" cy="2238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"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추가적인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계획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변경이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필요하면</a:t>
            </a:r>
            <a:r>
              <a:rPr lang="en-US" altLang="ko-KR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말해주세요</a:t>
            </a:r>
            <a:r>
              <a:rPr lang="en-US" sz="105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"</a:t>
            </a:r>
            <a:endParaRPr lang="en-US" sz="1050" dirty="0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B9D22083-D6DC-9D3F-DA44-D82167742927}"/>
              </a:ext>
            </a:extLst>
          </p:cNvPr>
          <p:cNvSpPr/>
          <p:nvPr/>
        </p:nvSpPr>
        <p:spPr>
          <a:xfrm>
            <a:off x="7239000" y="1963917"/>
            <a:ext cx="26746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맞춤형 대시보드</a:t>
            </a:r>
            <a:endParaRPr lang="en-US" sz="1800" dirty="0"/>
          </a:p>
        </p:txBody>
      </p:sp>
      <p:sp>
        <p:nvSpPr>
          <p:cNvPr id="55" name="Text 9"/>
          <p:cNvSpPr/>
          <p:nvPr/>
        </p:nvSpPr>
        <p:spPr>
          <a:xfrm>
            <a:off x="6705600" y="2695575"/>
            <a:ext cx="40290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답변 데이터를 기반으로 관심사별 점수와 순위를 시각화</a:t>
            </a:r>
            <a:endParaRPr lang="en-US" sz="12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BA4AD3BA-073A-4BD3-66B6-567C32E98D54}"/>
              </a:ext>
            </a:extLst>
          </p:cNvPr>
          <p:cNvSpPr/>
          <p:nvPr/>
        </p:nvSpPr>
        <p:spPr>
          <a:xfrm>
            <a:off x="6705600" y="3000375"/>
            <a:ext cx="48806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Top2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주제를 사용자에게 제시하고 선택하도록 지원</a:t>
            </a:r>
            <a:endParaRPr lang="en-US" sz="120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8C36B212-C6DE-6B78-98D9-F014878A1BFA}"/>
              </a:ext>
            </a:extLst>
          </p:cNvPr>
          <p:cNvSpPr/>
          <p:nvPr/>
        </p:nvSpPr>
        <p:spPr>
          <a:xfrm>
            <a:off x="6705600" y="3305175"/>
            <a:ext cx="4648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주제와 연결된 주간 일정 구성을 한눈에 확인 가능</a:t>
            </a:r>
            <a:endParaRPr lang="en-US" sz="120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31C717DA-1F12-527F-BA74-0D8D5D4EA44E}"/>
              </a:ext>
            </a:extLst>
          </p:cNvPr>
          <p:cNvSpPr/>
          <p:nvPr/>
        </p:nvSpPr>
        <p:spPr>
          <a:xfrm>
            <a:off x="6781800" y="3902075"/>
            <a:ext cx="1527617" cy="12606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“스포츠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40% </a:t>
            </a:r>
          </a:p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영화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미디어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30% </a:t>
            </a:r>
          </a:p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여행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15%</a:t>
            </a:r>
          </a:p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경제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제태크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7.5%</a:t>
            </a:r>
          </a:p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/IT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7.5%”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7" name="Pic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9683116" y="3686473"/>
            <a:ext cx="1671318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65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타원 1"/>
          <p:cNvSpPr/>
          <p:nvPr/>
        </p:nvSpPr>
        <p:spPr>
          <a:xfrm>
            <a:off x="1206190" y="2196790"/>
            <a:ext cx="9779620" cy="2464419"/>
          </a:xfrm>
          <a:prstGeom prst="ellipse">
            <a:avLst/>
          </a:prstGeom>
          <a:noFill/>
          <a:ln w="76200">
            <a:solidFill>
              <a:srgbClr val="C1B2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EFAC70-9B93-638B-1F61-7D50EB240694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2-2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6355" y="207408"/>
            <a:ext cx="2476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기술</a:t>
            </a:r>
            <a:r>
              <a:rPr lang="en-US" altLang="ko-KR" sz="2400" spc="3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스텍</a:t>
            </a:r>
            <a:r>
              <a:rPr lang="en-US" altLang="ko-KR" sz="2400" spc="3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요약</a:t>
            </a:r>
          </a:p>
        </p:txBody>
      </p:sp>
      <p:sp>
        <p:nvSpPr>
          <p:cNvPr id="36" name="타원 5"/>
          <p:cNvSpPr/>
          <p:nvPr/>
        </p:nvSpPr>
        <p:spPr>
          <a:xfrm>
            <a:off x="623700" y="2214610"/>
            <a:ext cx="2624582" cy="262458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7"/>
          <p:cNvSpPr/>
          <p:nvPr/>
        </p:nvSpPr>
        <p:spPr>
          <a:xfrm>
            <a:off x="2994530" y="1528348"/>
            <a:ext cx="1190570" cy="11905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14"/>
          <p:cNvSpPr/>
          <p:nvPr/>
        </p:nvSpPr>
        <p:spPr>
          <a:xfrm>
            <a:off x="3382444" y="3194770"/>
            <a:ext cx="982433" cy="982433"/>
          </a:xfrm>
          <a:prstGeom prst="ellipse">
            <a:avLst/>
          </a:prstGeom>
          <a:solidFill>
            <a:schemeClr val="accent4">
              <a:alpha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15"/>
          <p:cNvSpPr/>
          <p:nvPr/>
        </p:nvSpPr>
        <p:spPr>
          <a:xfrm>
            <a:off x="2558647" y="4531115"/>
            <a:ext cx="1361244" cy="1361244"/>
          </a:xfrm>
          <a:prstGeom prst="ellipse">
            <a:avLst/>
          </a:prstGeom>
          <a:solidFill>
            <a:srgbClr val="FFF7CC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 flipH="1">
            <a:off x="675640" y="3202362"/>
            <a:ext cx="2493010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Frontend</a:t>
            </a:r>
            <a:endParaRPr lang="ko-KR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TextBox 31"/>
          <p:cNvSpPr txBox="1"/>
          <p:nvPr/>
        </p:nvSpPr>
        <p:spPr>
          <a:xfrm flipH="1">
            <a:off x="3003477" y="1923578"/>
            <a:ext cx="119062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HTML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 flipH="1">
            <a:off x="2634403" y="4903732"/>
            <a:ext cx="1190625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ava</a:t>
            </a:r>
            <a:b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</a:b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Script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 flipH="1">
            <a:off x="3297528" y="3534681"/>
            <a:ext cx="1190625" cy="335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SS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0" name="타원 5"/>
          <p:cNvSpPr/>
          <p:nvPr/>
        </p:nvSpPr>
        <p:spPr>
          <a:xfrm>
            <a:off x="9012685" y="2488295"/>
            <a:ext cx="2624582" cy="2624581"/>
          </a:xfrm>
          <a:prstGeom prst="ellipse">
            <a:avLst/>
          </a:prstGeom>
          <a:solidFill>
            <a:srgbClr val="D8BEE4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7"/>
          <p:cNvSpPr/>
          <p:nvPr/>
        </p:nvSpPr>
        <p:spPr>
          <a:xfrm>
            <a:off x="8658729" y="1386743"/>
            <a:ext cx="1190570" cy="1190570"/>
          </a:xfrm>
          <a:prstGeom prst="ellipse">
            <a:avLst/>
          </a:prstGeom>
          <a:solidFill>
            <a:srgbClr val="DFE6F7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13"/>
          <p:cNvSpPr/>
          <p:nvPr/>
        </p:nvSpPr>
        <p:spPr>
          <a:xfrm>
            <a:off x="8026400" y="2809114"/>
            <a:ext cx="802456" cy="746363"/>
          </a:xfrm>
          <a:prstGeom prst="ellipse">
            <a:avLst/>
          </a:prstGeom>
          <a:solidFill>
            <a:srgbClr val="EBDEF1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14"/>
          <p:cNvSpPr/>
          <p:nvPr/>
        </p:nvSpPr>
        <p:spPr>
          <a:xfrm>
            <a:off x="9068868" y="5178510"/>
            <a:ext cx="982433" cy="982433"/>
          </a:xfrm>
          <a:prstGeom prst="ellipse">
            <a:avLst/>
          </a:prstGeom>
          <a:solidFill>
            <a:srgbClr val="D3D3EB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15"/>
          <p:cNvSpPr/>
          <p:nvPr/>
        </p:nvSpPr>
        <p:spPr>
          <a:xfrm>
            <a:off x="7622137" y="3870080"/>
            <a:ext cx="1361244" cy="136124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28"/>
          <p:cNvSpPr txBox="1"/>
          <p:nvPr/>
        </p:nvSpPr>
        <p:spPr>
          <a:xfrm flipH="1">
            <a:off x="9064625" y="3476047"/>
            <a:ext cx="2493010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Backend</a:t>
            </a:r>
            <a:endParaRPr lang="ko-KR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6" name="TextBox 31"/>
          <p:cNvSpPr txBox="1"/>
          <p:nvPr/>
        </p:nvSpPr>
        <p:spPr>
          <a:xfrm flipH="1">
            <a:off x="8658786" y="1818803"/>
            <a:ext cx="119062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JAVA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7" name="TextBox 32"/>
          <p:cNvSpPr txBox="1"/>
          <p:nvPr/>
        </p:nvSpPr>
        <p:spPr>
          <a:xfrm flipH="1">
            <a:off x="7707418" y="4255397"/>
            <a:ext cx="1190625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Spring</a:t>
            </a:r>
          </a:p>
          <a:p>
            <a:pPr algn="ctr"/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Boot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8" name="TextBox 33"/>
          <p:cNvSpPr txBox="1"/>
          <p:nvPr/>
        </p:nvSpPr>
        <p:spPr>
          <a:xfrm flipH="1">
            <a:off x="8983952" y="5518421"/>
            <a:ext cx="1190625" cy="335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Python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9" name="TextBox 34"/>
          <p:cNvSpPr txBox="1"/>
          <p:nvPr/>
        </p:nvSpPr>
        <p:spPr>
          <a:xfrm flipH="1">
            <a:off x="7622139" y="3051659"/>
            <a:ext cx="1604987" cy="34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MySQL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0" name="타원 15"/>
          <p:cNvSpPr/>
          <p:nvPr/>
        </p:nvSpPr>
        <p:spPr>
          <a:xfrm>
            <a:off x="958447" y="5310356"/>
            <a:ext cx="1105303" cy="1014809"/>
          </a:xfrm>
          <a:prstGeom prst="ellipse">
            <a:avLst/>
          </a:prstGeom>
          <a:solidFill>
            <a:srgbClr val="FFE7D8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32"/>
          <p:cNvSpPr txBox="1"/>
          <p:nvPr/>
        </p:nvSpPr>
        <p:spPr>
          <a:xfrm flipH="1">
            <a:off x="1043728" y="5600423"/>
            <a:ext cx="966763" cy="295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Figma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2" name="TextBox 2"/>
          <p:cNvSpPr txBox="1"/>
          <p:nvPr/>
        </p:nvSpPr>
        <p:spPr>
          <a:xfrm>
            <a:off x="4401214" y="3069344"/>
            <a:ext cx="3579495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500" b="1" dirty="0">
                <a:solidFill>
                  <a:srgbClr val="C0CDEF"/>
                </a:solidFill>
                <a:latin typeface="Comic Sans MS"/>
                <a:ea typeface="Comic Sans MS"/>
                <a:cs typeface="Comic Sans MS"/>
              </a:rPr>
              <a:t>Focus-Aid</a:t>
            </a:r>
            <a:endParaRPr lang="ko-KR" altLang="en-US" sz="5500" b="1" dirty="0">
              <a:solidFill>
                <a:srgbClr val="C0CDEF"/>
              </a:solidFill>
              <a:latin typeface="Comic Sans MS"/>
              <a:ea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09426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0EFC7656-E267-2E24-E69C-3B9C6C5B7FD9}"/>
              </a:ext>
            </a:extLst>
          </p:cNvPr>
          <p:cNvSpPr/>
          <p:nvPr/>
        </p:nvSpPr>
        <p:spPr>
          <a:xfrm>
            <a:off x="6172200" y="2866084"/>
            <a:ext cx="5238750" cy="1409700"/>
          </a:xfrm>
          <a:prstGeom prst="roundRect">
            <a:avLst>
              <a:gd name="adj" fmla="val 3632"/>
            </a:avLst>
          </a:prstGeom>
          <a:solidFill>
            <a:srgbClr val="E6E1F7"/>
          </a:solidFill>
          <a:ln>
            <a:noFill/>
          </a:ln>
          <a:effectLst>
            <a:outerShdw dist="38100" dir="10800000" algn="r" rotWithShape="0">
              <a:srgbClr val="B5A6D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54BEB63E-6B99-1802-8BB2-4204B4715894}"/>
              </a:ext>
            </a:extLst>
          </p:cNvPr>
          <p:cNvSpPr/>
          <p:nvPr/>
        </p:nvSpPr>
        <p:spPr>
          <a:xfrm>
            <a:off x="609600" y="2866084"/>
            <a:ext cx="5238750" cy="1409700"/>
          </a:xfrm>
          <a:prstGeom prst="roundRect">
            <a:avLst>
              <a:gd name="adj" fmla="val 3632"/>
            </a:avLst>
          </a:prstGeom>
          <a:solidFill>
            <a:srgbClr val="E6E1F7"/>
          </a:solidFill>
          <a:ln>
            <a:noFill/>
          </a:ln>
          <a:effectLst>
            <a:outerShdw dist="38100" dir="10800000" algn="r" rotWithShape="0">
              <a:srgbClr val="B5A6D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74271FF-38A5-7967-5E0D-B9BA18DE60B6}"/>
              </a:ext>
            </a:extLst>
          </p:cNvPr>
          <p:cNvSpPr/>
          <p:nvPr/>
        </p:nvSpPr>
        <p:spPr>
          <a:xfrm>
            <a:off x="6172200" y="1332557"/>
            <a:ext cx="5238750" cy="1409700"/>
          </a:xfrm>
          <a:prstGeom prst="roundRect">
            <a:avLst>
              <a:gd name="adj" fmla="val 3632"/>
            </a:avLst>
          </a:prstGeom>
          <a:solidFill>
            <a:srgbClr val="E6E1F7"/>
          </a:solidFill>
          <a:ln>
            <a:noFill/>
          </a:ln>
          <a:effectLst>
            <a:outerShdw dist="38100" dir="10800000" algn="r" rotWithShape="0">
              <a:srgbClr val="B5A6D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6027F245-A408-D7F2-F624-C0A46BD358A7}"/>
              </a:ext>
            </a:extLst>
          </p:cNvPr>
          <p:cNvSpPr/>
          <p:nvPr/>
        </p:nvSpPr>
        <p:spPr>
          <a:xfrm>
            <a:off x="609600" y="1332557"/>
            <a:ext cx="5238750" cy="1409700"/>
          </a:xfrm>
          <a:prstGeom prst="roundRect">
            <a:avLst>
              <a:gd name="adj" fmla="val 3632"/>
            </a:avLst>
          </a:prstGeom>
          <a:solidFill>
            <a:srgbClr val="E6E1F7"/>
          </a:solidFill>
          <a:ln>
            <a:noFill/>
          </a:ln>
          <a:effectLst>
            <a:outerShdw dist="38100" dir="10800000" algn="r" rotWithShape="0">
              <a:srgbClr val="B5A6D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9D3B3F02-0C9F-B292-AD6B-5BA5EBA255F0}"/>
              </a:ext>
            </a:extLst>
          </p:cNvPr>
          <p:cNvSpPr/>
          <p:nvPr/>
        </p:nvSpPr>
        <p:spPr>
          <a:xfrm>
            <a:off x="609601" y="4486275"/>
            <a:ext cx="10801350" cy="1929703"/>
          </a:xfrm>
          <a:prstGeom prst="roundRect">
            <a:avLst>
              <a:gd name="adj" fmla="val 3632"/>
            </a:avLst>
          </a:prstGeom>
          <a:solidFill>
            <a:srgbClr val="C1B2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F33E87-E02B-B81A-88A5-9878F209A8A0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058D9B-13CC-A87B-6D61-3EC69ACE90ED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2-2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BB201E-28FA-4E7B-72B3-417B983669A5}"/>
              </a:ext>
            </a:extLst>
          </p:cNvPr>
          <p:cNvSpPr txBox="1"/>
          <p:nvPr/>
        </p:nvSpPr>
        <p:spPr>
          <a:xfrm>
            <a:off x="686355" y="207408"/>
            <a:ext cx="2476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기술</a:t>
            </a:r>
            <a:r>
              <a:rPr lang="en-US" altLang="ko-KR" sz="2400" spc="3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스텍</a:t>
            </a:r>
            <a:r>
              <a:rPr lang="en-US" altLang="ko-KR" sz="2400" spc="3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요약</a:t>
            </a:r>
          </a:p>
        </p:txBody>
      </p:sp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84255DB7-FF4D-DB1B-1C2B-9C46D8DF52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0100" y="1543050"/>
            <a:ext cx="381000" cy="304800"/>
          </a:xfrm>
          <a:prstGeom prst="rect">
            <a:avLst/>
          </a:prstGeom>
        </p:spPr>
      </p:pic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01A54127-99A7-E0AA-9E06-AA21D9D25F8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00800" y="1543050"/>
            <a:ext cx="304800" cy="304800"/>
          </a:xfrm>
          <a:prstGeom prst="rect">
            <a:avLst/>
          </a:prstGeom>
        </p:spPr>
      </p:pic>
      <p:pic>
        <p:nvPicPr>
          <p:cNvPr id="8" name="Image 7" descr="preencoded.png">
            <a:extLst>
              <a:ext uri="{FF2B5EF4-FFF2-40B4-BE49-F238E27FC236}">
                <a16:creationId xmlns:a16="http://schemas.microsoft.com/office/drawing/2014/main" id="{25BA9663-18DD-46FF-F728-B33CEBD6365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0100" y="3105150"/>
            <a:ext cx="266700" cy="304800"/>
          </a:xfrm>
          <a:prstGeom prst="rect">
            <a:avLst/>
          </a:prstGeom>
        </p:spPr>
      </p:pic>
      <p:pic>
        <p:nvPicPr>
          <p:cNvPr id="10" name="Image 9" descr="preencoded.png">
            <a:extLst>
              <a:ext uri="{FF2B5EF4-FFF2-40B4-BE49-F238E27FC236}">
                <a16:creationId xmlns:a16="http://schemas.microsoft.com/office/drawing/2014/main" id="{36CC8663-EFB1-E27E-954D-73651FD6644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00800" y="3105150"/>
            <a:ext cx="304800" cy="304800"/>
          </a:xfrm>
          <a:prstGeom prst="rect">
            <a:avLst/>
          </a:prstGeom>
        </p:spPr>
      </p:pic>
      <p:pic>
        <p:nvPicPr>
          <p:cNvPr id="14" name="Image 13" descr="preencoded.png">
            <a:extLst>
              <a:ext uri="{FF2B5EF4-FFF2-40B4-BE49-F238E27FC236}">
                <a16:creationId xmlns:a16="http://schemas.microsoft.com/office/drawing/2014/main" id="{8D647DFB-0F23-4D94-00AF-62A9FFADAB6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60402" y="5562600"/>
            <a:ext cx="200025" cy="228600"/>
          </a:xfrm>
          <a:prstGeom prst="rect">
            <a:avLst/>
          </a:prstGeom>
        </p:spPr>
      </p:pic>
      <p:pic>
        <p:nvPicPr>
          <p:cNvPr id="17" name="Image 16" descr="preencoded.png">
            <a:extLst>
              <a:ext uri="{FF2B5EF4-FFF2-40B4-BE49-F238E27FC236}">
                <a16:creationId xmlns:a16="http://schemas.microsoft.com/office/drawing/2014/main" id="{0EF7EE16-CD85-9BE3-A357-DB02C0CA641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61620" y="5562600"/>
            <a:ext cx="200025" cy="228600"/>
          </a:xfrm>
          <a:prstGeom prst="rect">
            <a:avLst/>
          </a:prstGeom>
        </p:spPr>
      </p:pic>
      <p:pic>
        <p:nvPicPr>
          <p:cNvPr id="22" name="Image 19" descr="preencoded.png">
            <a:extLst>
              <a:ext uri="{FF2B5EF4-FFF2-40B4-BE49-F238E27FC236}">
                <a16:creationId xmlns:a16="http://schemas.microsoft.com/office/drawing/2014/main" id="{A704F68E-A186-4C93-6C86-46D1455B1AA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15188" y="5562600"/>
            <a:ext cx="200025" cy="228600"/>
          </a:xfrm>
          <a:prstGeom prst="rect">
            <a:avLst/>
          </a:prstGeom>
        </p:spPr>
      </p:pic>
      <p:pic>
        <p:nvPicPr>
          <p:cNvPr id="25" name="Image 22" descr="preencoded.png">
            <a:extLst>
              <a:ext uri="{FF2B5EF4-FFF2-40B4-BE49-F238E27FC236}">
                <a16:creationId xmlns:a16="http://schemas.microsoft.com/office/drawing/2014/main" id="{6435ADED-5FC6-AFD3-B699-B77DB085362E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02055" y="5562600"/>
            <a:ext cx="200025" cy="228600"/>
          </a:xfrm>
          <a:prstGeom prst="rect">
            <a:avLst/>
          </a:prstGeom>
        </p:spPr>
      </p:pic>
      <p:sp>
        <p:nvSpPr>
          <p:cNvPr id="28" name="Text 1">
            <a:extLst>
              <a:ext uri="{FF2B5EF4-FFF2-40B4-BE49-F238E27FC236}">
                <a16:creationId xmlns:a16="http://schemas.microsoft.com/office/drawing/2014/main" id="{B28A17D4-A406-4182-AA0A-C6DEBC2E064E}"/>
              </a:ext>
            </a:extLst>
          </p:cNvPr>
          <p:cNvSpPr/>
          <p:nvPr/>
        </p:nvSpPr>
        <p:spPr>
          <a:xfrm>
            <a:off x="1295400" y="1543050"/>
            <a:ext cx="12573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8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1E61F38C-1893-8918-1B01-C96B26AABF89}"/>
              </a:ext>
            </a:extLst>
          </p:cNvPr>
          <p:cNvSpPr/>
          <p:nvPr/>
        </p:nvSpPr>
        <p:spPr>
          <a:xfrm>
            <a:off x="990600" y="196215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HTML, CSS, JavaScript</a:t>
            </a:r>
            <a:endParaRPr lang="en-US" sz="12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522F8C4D-399A-AC4C-491C-1704526F8232}"/>
              </a:ext>
            </a:extLst>
          </p:cNvPr>
          <p:cNvSpPr/>
          <p:nvPr/>
        </p:nvSpPr>
        <p:spPr>
          <a:xfrm>
            <a:off x="990600" y="222885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 (UI/UX 디자인)</a:t>
            </a:r>
            <a:endParaRPr lang="en-US" sz="1200" dirty="0"/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A15C1B55-5F24-B52B-02CA-7F949F83AA0E}"/>
              </a:ext>
            </a:extLst>
          </p:cNvPr>
          <p:cNvSpPr/>
          <p:nvPr/>
        </p:nvSpPr>
        <p:spPr>
          <a:xfrm>
            <a:off x="6819900" y="1543050"/>
            <a:ext cx="7543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800" dirty="0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CECFEC62-C6B2-251B-9E2F-2B1D433829E4}"/>
              </a:ext>
            </a:extLst>
          </p:cNvPr>
          <p:cNvSpPr/>
          <p:nvPr/>
        </p:nvSpPr>
        <p:spPr>
          <a:xfrm>
            <a:off x="6591300" y="196215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</a:t>
            </a:r>
            <a:endParaRPr lang="en-US" sz="12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60573EA6-5329-8A3F-2ED0-2A4652958E76}"/>
              </a:ext>
            </a:extLst>
          </p:cNvPr>
          <p:cNvSpPr/>
          <p:nvPr/>
        </p:nvSpPr>
        <p:spPr>
          <a:xfrm>
            <a:off x="6591300" y="222885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프레임워크</a:t>
            </a:r>
            <a:endParaRPr lang="en-US" sz="1200" dirty="0"/>
          </a:p>
        </p:txBody>
      </p:sp>
      <p:sp>
        <p:nvSpPr>
          <p:cNvPr id="56" name="Text 7"/>
          <p:cNvSpPr/>
          <p:nvPr/>
        </p:nvSpPr>
        <p:spPr>
          <a:xfrm>
            <a:off x="1181100" y="3105150"/>
            <a:ext cx="260795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데이터베이스</a:t>
            </a:r>
            <a:r>
              <a:rPr lang="en-US" altLang="ko-KR" sz="1800" b="1" dirty="0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 (</a:t>
            </a:r>
            <a:r>
              <a:rPr lang="ko-KR" altLang="en-US" sz="1800" b="1" dirty="0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준비중</a:t>
            </a:r>
            <a:r>
              <a:rPr lang="en-US" altLang="ko-KR" sz="1800" b="1" dirty="0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)</a:t>
            </a:r>
            <a:endParaRPr lang="en-US" sz="1800" dirty="0"/>
          </a:p>
        </p:txBody>
      </p:sp>
      <p:sp>
        <p:nvSpPr>
          <p:cNvPr id="57" name="Text 8"/>
          <p:cNvSpPr/>
          <p:nvPr/>
        </p:nvSpPr>
        <p:spPr>
          <a:xfrm>
            <a:off x="990600" y="352425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차후</a:t>
            </a:r>
            <a:r>
              <a:rPr lang="en-US" altLang="ko-KR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MySQL </a:t>
            </a:r>
            <a:r>
              <a:rPr lang="ko-KR" alt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lang="en-US" altLang="ko-KR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DB</a:t>
            </a:r>
            <a:r>
              <a:rPr lang="ko-KR" alt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연동</a:t>
            </a:r>
            <a:r>
              <a:rPr lang="en-US" altLang="ko-KR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예정</a:t>
            </a:r>
            <a:endParaRPr lang="en-US" sz="1200" dirty="0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ED734FC-79AD-CC06-741E-DC80662C7BEF}"/>
              </a:ext>
            </a:extLst>
          </p:cNvPr>
          <p:cNvSpPr/>
          <p:nvPr/>
        </p:nvSpPr>
        <p:spPr>
          <a:xfrm>
            <a:off x="990600" y="379095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정보, 대화 기록, 집중 목표 관리</a:t>
            </a:r>
            <a:endParaRPr lang="en-US" sz="1200" dirty="0"/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81113913-AE02-3D9E-83CA-5DD85FB1CB67}"/>
              </a:ext>
            </a:extLst>
          </p:cNvPr>
          <p:cNvSpPr/>
          <p:nvPr/>
        </p:nvSpPr>
        <p:spPr>
          <a:xfrm>
            <a:off x="6819900" y="3105150"/>
            <a:ext cx="8458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</a:t>
            </a:r>
            <a:endParaRPr lang="en-US" sz="180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B3C3518D-6E47-897B-8B7E-ABF9FF65FBFC}"/>
              </a:ext>
            </a:extLst>
          </p:cNvPr>
          <p:cNvSpPr/>
          <p:nvPr/>
        </p:nvSpPr>
        <p:spPr>
          <a:xfrm>
            <a:off x="6591300" y="352425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기반 NLP 모듈</a:t>
            </a:r>
            <a:endParaRPr lang="en-US" sz="120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9894A2E7-19FE-111A-5155-91348B8E8A9B}"/>
              </a:ext>
            </a:extLst>
          </p:cNvPr>
          <p:cNvSpPr/>
          <p:nvPr/>
        </p:nvSpPr>
        <p:spPr>
          <a:xfrm>
            <a:off x="6591300" y="3790950"/>
            <a:ext cx="5760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분류, 이탈 감지, 집중 유도 메시지 생성</a:t>
            </a:r>
            <a:endParaRPr lang="en-US" sz="1200" dirty="0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2F30710F-8784-6E3C-53E6-93886F7DC14F}"/>
              </a:ext>
            </a:extLst>
          </p:cNvPr>
          <p:cNvSpPr/>
          <p:nvPr/>
        </p:nvSpPr>
        <p:spPr>
          <a:xfrm>
            <a:off x="800100" y="4743450"/>
            <a:ext cx="1059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데이터 흐름</a:t>
            </a:r>
            <a:endParaRPr lang="en-US" sz="1500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ED5FCC2D-5317-3DF0-B232-F4C4C18F6BB7}"/>
              </a:ext>
            </a:extLst>
          </p:cNvPr>
          <p:cNvSpPr/>
          <p:nvPr/>
        </p:nvSpPr>
        <p:spPr>
          <a:xfrm>
            <a:off x="1066800" y="5198763"/>
            <a:ext cx="835702" cy="914583"/>
          </a:xfrm>
          <a:prstGeom prst="roundRect">
            <a:avLst>
              <a:gd name="adj" fmla="val 81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Image 12" descr="preencoded.png">
            <a:extLst>
              <a:ext uri="{FF2B5EF4-FFF2-40B4-BE49-F238E27FC236}">
                <a16:creationId xmlns:a16="http://schemas.microsoft.com/office/drawing/2014/main" id="{40D198F7-22AD-53E6-999B-C07383B328FF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69102" y="5353050"/>
            <a:ext cx="200025" cy="304800"/>
          </a:xfrm>
          <a:prstGeom prst="rect">
            <a:avLst/>
          </a:prstGeom>
        </p:spPr>
      </p:pic>
      <p:sp>
        <p:nvSpPr>
          <p:cNvPr id="63" name="Text 14">
            <a:extLst>
              <a:ext uri="{FF2B5EF4-FFF2-40B4-BE49-F238E27FC236}">
                <a16:creationId xmlns:a16="http://schemas.microsoft.com/office/drawing/2014/main" id="{F2CE7D83-7268-87E7-7D89-500690F70840}"/>
              </a:ext>
            </a:extLst>
          </p:cNvPr>
          <p:cNvSpPr/>
          <p:nvPr/>
        </p:nvSpPr>
        <p:spPr>
          <a:xfrm>
            <a:off x="1211939" y="5695950"/>
            <a:ext cx="514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</a:t>
            </a:r>
            <a:endParaRPr lang="en-US" sz="1200" dirty="0">
              <a:solidFill>
                <a:srgbClr val="2D3142"/>
              </a:solidFill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73E2D1F4-4478-8F8C-A95B-2450042D6840}"/>
              </a:ext>
            </a:extLst>
          </p:cNvPr>
          <p:cNvSpPr/>
          <p:nvPr/>
        </p:nvSpPr>
        <p:spPr>
          <a:xfrm>
            <a:off x="2909948" y="5198764"/>
            <a:ext cx="1472565" cy="914583"/>
          </a:xfrm>
          <a:prstGeom prst="roundRect">
            <a:avLst>
              <a:gd name="adj" fmla="val 81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Image 15" descr="preencoded.png">
            <a:extLst>
              <a:ext uri="{FF2B5EF4-FFF2-40B4-BE49-F238E27FC236}">
                <a16:creationId xmlns:a16="http://schemas.microsoft.com/office/drawing/2014/main" id="{B4B54925-3F2D-957D-E0F3-89F0C436F03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32436" y="5314950"/>
            <a:ext cx="257175" cy="304800"/>
          </a:xfrm>
          <a:prstGeom prst="rect">
            <a:avLst/>
          </a:prstGeom>
        </p:spPr>
      </p:pic>
      <p:sp>
        <p:nvSpPr>
          <p:cNvPr id="64" name="Text 15">
            <a:extLst>
              <a:ext uri="{FF2B5EF4-FFF2-40B4-BE49-F238E27FC236}">
                <a16:creationId xmlns:a16="http://schemas.microsoft.com/office/drawing/2014/main" id="{57901F46-CF52-6F7E-BF9B-D73FEFB5959E}"/>
              </a:ext>
            </a:extLst>
          </p:cNvPr>
          <p:cNvSpPr/>
          <p:nvPr/>
        </p:nvSpPr>
        <p:spPr>
          <a:xfrm>
            <a:off x="3084761" y="5657850"/>
            <a:ext cx="11525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200" dirty="0">
              <a:solidFill>
                <a:srgbClr val="2D3142"/>
              </a:solidFill>
            </a:endParaRPr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CE074CEA-C4CC-A3C2-3C7E-67DA72888087}"/>
              </a:ext>
            </a:extLst>
          </p:cNvPr>
          <p:cNvSpPr/>
          <p:nvPr/>
        </p:nvSpPr>
        <p:spPr>
          <a:xfrm>
            <a:off x="2969508" y="5886450"/>
            <a:ext cx="13830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HTML, CSS, JS, Figma</a:t>
            </a:r>
            <a:endParaRPr lang="en-US" sz="9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C23DA41-5562-866D-A990-C6B7B5911AFA}"/>
              </a:ext>
            </a:extLst>
          </p:cNvPr>
          <p:cNvSpPr/>
          <p:nvPr/>
        </p:nvSpPr>
        <p:spPr>
          <a:xfrm>
            <a:off x="5389959" y="5198765"/>
            <a:ext cx="1472565" cy="942975"/>
          </a:xfrm>
          <a:prstGeom prst="roundRect">
            <a:avLst>
              <a:gd name="adj" fmla="val 81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Image 18" descr="preencoded.png">
            <a:extLst>
              <a:ext uri="{FF2B5EF4-FFF2-40B4-BE49-F238E27FC236}">
                <a16:creationId xmlns:a16="http://schemas.microsoft.com/office/drawing/2014/main" id="{1A20BF5D-57D2-19ED-1366-DB85D3C22281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95541" y="5314950"/>
            <a:ext cx="285750" cy="304800"/>
          </a:xfrm>
          <a:prstGeom prst="rect">
            <a:avLst/>
          </a:prstGeom>
        </p:spPr>
      </p:pic>
      <p:sp>
        <p:nvSpPr>
          <p:cNvPr id="66" name="Text 17">
            <a:extLst>
              <a:ext uri="{FF2B5EF4-FFF2-40B4-BE49-F238E27FC236}">
                <a16:creationId xmlns:a16="http://schemas.microsoft.com/office/drawing/2014/main" id="{F25FFD48-748E-EDE9-5004-710CAB952E4A}"/>
              </a:ext>
            </a:extLst>
          </p:cNvPr>
          <p:cNvSpPr/>
          <p:nvPr/>
        </p:nvSpPr>
        <p:spPr>
          <a:xfrm>
            <a:off x="5685979" y="5657850"/>
            <a:ext cx="9048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200" dirty="0">
              <a:solidFill>
                <a:srgbClr val="2D3142"/>
              </a:solidFill>
            </a:endParaRPr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9EDAB6B6-2999-7EF2-77A6-ED74C7B64B84}"/>
              </a:ext>
            </a:extLst>
          </p:cNvPr>
          <p:cNvSpPr/>
          <p:nvPr/>
        </p:nvSpPr>
        <p:spPr>
          <a:xfrm>
            <a:off x="5595491" y="5886450"/>
            <a:ext cx="10858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Java, SpringBoot</a:t>
            </a:r>
            <a:endParaRPr lang="en-US" sz="9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2C8A9E84-BB5B-6143-7D28-8DC4B991E936}"/>
              </a:ext>
            </a:extLst>
          </p:cNvPr>
          <p:cNvSpPr/>
          <p:nvPr/>
        </p:nvSpPr>
        <p:spPr>
          <a:xfrm>
            <a:off x="7869969" y="5198766"/>
            <a:ext cx="989173" cy="914582"/>
          </a:xfrm>
          <a:prstGeom prst="roundRect">
            <a:avLst>
              <a:gd name="adj" fmla="val 81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Image 21" descr="preencoded.png">
            <a:extLst>
              <a:ext uri="{FF2B5EF4-FFF2-40B4-BE49-F238E27FC236}">
                <a16:creationId xmlns:a16="http://schemas.microsoft.com/office/drawing/2014/main" id="{7943C069-91F6-BA5E-6B72-6297DD30D897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15759" y="5314950"/>
            <a:ext cx="285750" cy="304800"/>
          </a:xfrm>
          <a:prstGeom prst="rect">
            <a:avLst/>
          </a:prstGeom>
        </p:spPr>
      </p:pic>
      <p:sp>
        <p:nvSpPr>
          <p:cNvPr id="68" name="Text 19">
            <a:extLst>
              <a:ext uri="{FF2B5EF4-FFF2-40B4-BE49-F238E27FC236}">
                <a16:creationId xmlns:a16="http://schemas.microsoft.com/office/drawing/2014/main" id="{B362AD18-DEEE-EE03-835F-81695B5B6A0D}"/>
              </a:ext>
            </a:extLst>
          </p:cNvPr>
          <p:cNvSpPr/>
          <p:nvPr/>
        </p:nvSpPr>
        <p:spPr>
          <a:xfrm>
            <a:off x="7975729" y="5657850"/>
            <a:ext cx="765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</a:t>
            </a:r>
            <a:endParaRPr lang="en-US" sz="1200" dirty="0">
              <a:solidFill>
                <a:srgbClr val="2D3142"/>
              </a:solidFill>
            </a:endParaRPr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FE4E6F27-6DBE-FFFA-8CCB-F086FDFA75A4}"/>
              </a:ext>
            </a:extLst>
          </p:cNvPr>
          <p:cNvSpPr/>
          <p:nvPr/>
        </p:nvSpPr>
        <p:spPr>
          <a:xfrm>
            <a:off x="7975729" y="5886450"/>
            <a:ext cx="7658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NLP</a:t>
            </a:r>
            <a:endParaRPr lang="en-US" sz="900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9CC6489-5CAC-8639-F22C-36AE22DDA7AC}"/>
              </a:ext>
            </a:extLst>
          </p:cNvPr>
          <p:cNvSpPr/>
          <p:nvPr/>
        </p:nvSpPr>
        <p:spPr>
          <a:xfrm>
            <a:off x="9818756" y="5170371"/>
            <a:ext cx="1472565" cy="942975"/>
          </a:xfrm>
          <a:prstGeom prst="roundRect">
            <a:avLst>
              <a:gd name="adj" fmla="val 81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Image 24" descr="preencoded.png">
            <a:extLst>
              <a:ext uri="{FF2B5EF4-FFF2-40B4-BE49-F238E27FC236}">
                <a16:creationId xmlns:a16="http://schemas.microsoft.com/office/drawing/2014/main" id="{237BAA40-83B6-A122-AEC6-C273E59278BF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455027" y="5314950"/>
            <a:ext cx="200025" cy="304800"/>
          </a:xfrm>
          <a:prstGeom prst="rect">
            <a:avLst/>
          </a:prstGeom>
        </p:spPr>
      </p:pic>
      <p:sp>
        <p:nvSpPr>
          <p:cNvPr id="70" name="Text 21">
            <a:extLst>
              <a:ext uri="{FF2B5EF4-FFF2-40B4-BE49-F238E27FC236}">
                <a16:creationId xmlns:a16="http://schemas.microsoft.com/office/drawing/2014/main" id="{0F8B344A-7075-A71B-4A76-B4F9BC57476A}"/>
              </a:ext>
            </a:extLst>
          </p:cNvPr>
          <p:cNvSpPr/>
          <p:nvPr/>
        </p:nvSpPr>
        <p:spPr>
          <a:xfrm>
            <a:off x="10040689" y="5657850"/>
            <a:ext cx="1028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</a:t>
            </a:r>
            <a:endParaRPr lang="en-US" sz="1200" dirty="0">
              <a:solidFill>
                <a:srgbClr val="2D3142"/>
              </a:solidFill>
            </a:endParaRPr>
          </a:p>
        </p:txBody>
      </p:sp>
      <p:sp>
        <p:nvSpPr>
          <p:cNvPr id="71" name="Text 22">
            <a:extLst>
              <a:ext uri="{FF2B5EF4-FFF2-40B4-BE49-F238E27FC236}">
                <a16:creationId xmlns:a16="http://schemas.microsoft.com/office/drawing/2014/main" id="{E9D25A1A-4B1D-3C0F-C2CB-BB5986F79F12}"/>
              </a:ext>
            </a:extLst>
          </p:cNvPr>
          <p:cNvSpPr/>
          <p:nvPr/>
        </p:nvSpPr>
        <p:spPr>
          <a:xfrm>
            <a:off x="10126414" y="5886450"/>
            <a:ext cx="8572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MySQL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54999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FEE0E9B-8682-8491-BBD7-84BE992495F6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922E08-02B0-9770-7EA9-D5A68B454340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2-3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C4943C-FD40-4055-A49A-5BACCCC4D4D5}"/>
              </a:ext>
            </a:extLst>
          </p:cNvPr>
          <p:cNvSpPr txBox="1"/>
          <p:nvPr/>
        </p:nvSpPr>
        <p:spPr>
          <a:xfrm>
            <a:off x="686355" y="207408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프론트 엔드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E64A7F-298F-CBEA-5EC5-5643F93059A2}"/>
              </a:ext>
            </a:extLst>
          </p:cNvPr>
          <p:cNvSpPr/>
          <p:nvPr/>
        </p:nvSpPr>
        <p:spPr>
          <a:xfrm>
            <a:off x="4559480" y="1623044"/>
            <a:ext cx="2336541" cy="486944"/>
          </a:xfrm>
          <a:prstGeom prst="roundRect">
            <a:avLst>
              <a:gd name="adj" fmla="val 30226"/>
            </a:avLst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D2162FF-EB82-3E5C-40B5-FDF854337598}"/>
              </a:ext>
            </a:extLst>
          </p:cNvPr>
          <p:cNvSpPr/>
          <p:nvPr/>
        </p:nvSpPr>
        <p:spPr>
          <a:xfrm>
            <a:off x="508463" y="2203306"/>
            <a:ext cx="6387558" cy="1155460"/>
          </a:xfrm>
          <a:prstGeom prst="roundRect">
            <a:avLst/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E927505-3DB9-3A15-4F4F-7DC109E3B125}"/>
              </a:ext>
            </a:extLst>
          </p:cNvPr>
          <p:cNvCxnSpPr>
            <a:cxnSpLocks/>
          </p:cNvCxnSpPr>
          <p:nvPr/>
        </p:nvCxnSpPr>
        <p:spPr>
          <a:xfrm>
            <a:off x="2540220" y="2354724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DC129BF-FD19-0DD0-2B66-07298B9E4E05}"/>
              </a:ext>
            </a:extLst>
          </p:cNvPr>
          <p:cNvSpPr/>
          <p:nvPr/>
        </p:nvSpPr>
        <p:spPr>
          <a:xfrm>
            <a:off x="508463" y="3510184"/>
            <a:ext cx="6387558" cy="1155460"/>
          </a:xfrm>
          <a:prstGeom prst="roundRect">
            <a:avLst/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5A6AD8C-49B4-68CD-EDB6-8C344B619F37}"/>
              </a:ext>
            </a:extLst>
          </p:cNvPr>
          <p:cNvCxnSpPr>
            <a:cxnSpLocks/>
          </p:cNvCxnSpPr>
          <p:nvPr/>
        </p:nvCxnSpPr>
        <p:spPr>
          <a:xfrm>
            <a:off x="2540220" y="3661602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6AD219B-1636-F85E-31D1-C27F898E6137}"/>
              </a:ext>
            </a:extLst>
          </p:cNvPr>
          <p:cNvSpPr/>
          <p:nvPr/>
        </p:nvSpPr>
        <p:spPr>
          <a:xfrm>
            <a:off x="508463" y="4817062"/>
            <a:ext cx="6387558" cy="1155460"/>
          </a:xfrm>
          <a:prstGeom prst="roundRect">
            <a:avLst/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9158199-FD81-E201-8E0A-05A199D6C251}"/>
              </a:ext>
            </a:extLst>
          </p:cNvPr>
          <p:cNvCxnSpPr>
            <a:cxnSpLocks/>
          </p:cNvCxnSpPr>
          <p:nvPr/>
        </p:nvCxnSpPr>
        <p:spPr>
          <a:xfrm>
            <a:off x="2540220" y="4968480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02400" y="1686295"/>
            <a:ext cx="2432685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ko-KR" altLang="en-US" b="1" spc="-150" dirty="0" err="1">
                <a:solidFill>
                  <a:schemeClr val="bg1"/>
                </a:solidFill>
                <a:latin typeface="Gulim"/>
                <a:ea typeface="Gulim"/>
                <a:cs typeface="Gulim"/>
              </a:rPr>
              <a:t>프론트엔드</a:t>
            </a:r>
            <a:r>
              <a:rPr lang="ko-KR" altLang="en-US" b="1" spc="-150" dirty="0">
                <a:solidFill>
                  <a:schemeClr val="bg1"/>
                </a:solidFill>
                <a:latin typeface="Gulim"/>
                <a:ea typeface="Gulim"/>
                <a:cs typeface="Gulim"/>
              </a:rPr>
              <a:t> 동작 흐름</a:t>
            </a:r>
            <a:endParaRPr lang="en-US" altLang="ko-KR" b="1" spc="-150" dirty="0">
              <a:solidFill>
                <a:schemeClr val="bg1"/>
              </a:solidFill>
              <a:latin typeface="Gulim"/>
              <a:ea typeface="Gulim"/>
              <a:cs typeface="Gulim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30968" y="2622890"/>
            <a:ext cx="1147445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en-US" altLang="ko-KR" sz="2000" b="1" spc="-150" dirty="0">
                <a:latin typeface="GulimChe"/>
                <a:ea typeface="GulimChe"/>
                <a:cs typeface="GulimChe"/>
              </a:rPr>
              <a:t>UI</a:t>
            </a:r>
            <a:r>
              <a:rPr lang="ko-KR" altLang="en-US" sz="2000" b="1" spc="-150" dirty="0">
                <a:latin typeface="GulimChe"/>
                <a:ea typeface="GulimChe"/>
                <a:cs typeface="GulimChe"/>
              </a:rPr>
              <a:t>로직</a:t>
            </a:r>
            <a:endParaRPr lang="en-US" altLang="ko-KR" sz="2000" b="1" spc="-150" dirty="0">
              <a:latin typeface="GulimChe"/>
              <a:ea typeface="GulimChe"/>
              <a:cs typeface="GulimChe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3547" y="3737517"/>
            <a:ext cx="1401445" cy="7010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sz="2000" b="1" spc="-150" dirty="0">
                <a:latin typeface="Gulim"/>
                <a:ea typeface="Gulim"/>
                <a:cs typeface="Gulim"/>
              </a:rPr>
              <a:t>대화</a:t>
            </a:r>
            <a:r>
              <a:rPr lang="en-US" altLang="ko-KR" sz="2000" b="1" spc="-150" dirty="0">
                <a:latin typeface="Gulim"/>
                <a:ea typeface="Gulim"/>
                <a:cs typeface="Gulim"/>
              </a:rPr>
              <a:t>/</a:t>
            </a:r>
            <a:endParaRPr lang="en-US" altLang="ko-KR" sz="2000" b="1" spc="-150" dirty="0">
              <a:latin typeface="Gulim"/>
              <a:ea typeface="Gulim"/>
              <a:cs typeface="Gulim"/>
            </a:endParaRPr>
          </a:p>
          <a:p>
            <a:pPr marL="182563" indent="-182563" algn="ctr">
              <a:buFont typeface="Wingdings"/>
            </a:pPr>
            <a:r>
              <a:rPr lang="ko-KR" altLang="en-US" sz="2000" b="1" spc="-150" dirty="0" err="1">
                <a:latin typeface="Gulim"/>
                <a:ea typeface="Gulim"/>
                <a:cs typeface="Gulim"/>
              </a:rPr>
              <a:t>분석로직</a:t>
            </a:r>
            <a:endParaRPr lang="ko-KR" altLang="en-US" sz="2000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40015" y="2478145"/>
            <a:ext cx="443357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세가지 화면 구조 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: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메인 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/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채팅 화면으로 구성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spc="-150" dirty="0" err="1">
                <a:latin typeface="Gulim"/>
                <a:ea typeface="Gulim"/>
                <a:cs typeface="Gulim"/>
              </a:rPr>
              <a:t>다크모드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/ </a:t>
            </a:r>
            <a:r>
              <a:rPr lang="ko-KR" altLang="en-US" sz="1300" spc="-150" dirty="0" err="1">
                <a:latin typeface="Gulim"/>
                <a:ea typeface="Gulim"/>
                <a:cs typeface="Gulim"/>
              </a:rPr>
              <a:t>라이트모드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 전환</a:t>
            </a:r>
            <a:endParaRPr lang="ko-KR" altLang="en-US" sz="13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35328" y="3589684"/>
            <a:ext cx="4299585" cy="982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사용자 답변 입력 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-&gt; Flask API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호출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카테고리 점수 누적 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-&gt; Chart.js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시각화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GPT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요약 텍스트 출력</a:t>
            </a:r>
            <a:endParaRPr lang="ko-KR" altLang="en-US" sz="13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3142" y="5196245"/>
            <a:ext cx="148590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sz="2000" b="1" spc="-150">
                <a:latin typeface="Gulim"/>
                <a:ea typeface="Gulim"/>
                <a:cs typeface="Gulim"/>
              </a:rPr>
              <a:t>최종 출력</a:t>
            </a:r>
            <a:endParaRPr lang="en-US" altLang="ko-KR" sz="2000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5328" y="5077327"/>
            <a:ext cx="4299585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관심사 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Top2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제안 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+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선택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선택된 주제 기반 주간 계획카드 제공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</p:txBody>
      </p:sp>
      <p:pic>
        <p:nvPicPr>
          <p:cNvPr id="4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030719" y="669079"/>
            <a:ext cx="4940301" cy="570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5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F15650-EC6B-84DA-22FC-0DF2BF277775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1A721E-EADC-7A72-5383-38AE143B363F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2-4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CC5AB-38BE-9B74-7BDE-3A5B8598E10B}"/>
              </a:ext>
            </a:extLst>
          </p:cNvPr>
          <p:cNvSpPr txBox="1"/>
          <p:nvPr/>
        </p:nvSpPr>
        <p:spPr>
          <a:xfrm>
            <a:off x="686355" y="207408"/>
            <a:ext cx="236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데이터 </a:t>
            </a:r>
            <a:r>
              <a:rPr lang="ko-KR" altLang="en-US" sz="2400" spc="300" dirty="0" err="1">
                <a:solidFill>
                  <a:schemeClr val="bg1"/>
                </a:solidFill>
                <a:latin typeface="+mj-ea"/>
                <a:ea typeface="+mj-ea"/>
              </a:rPr>
              <a:t>전처리</a:t>
            </a:r>
            <a:endParaRPr lang="ko-KR" altLang="en-US" sz="240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89D3F16-BFB7-27F5-C04C-32878C9C9306}"/>
              </a:ext>
            </a:extLst>
          </p:cNvPr>
          <p:cNvSpPr/>
          <p:nvPr/>
        </p:nvSpPr>
        <p:spPr>
          <a:xfrm>
            <a:off x="5182143" y="1511300"/>
            <a:ext cx="2031757" cy="486944"/>
          </a:xfrm>
          <a:prstGeom prst="roundRect">
            <a:avLst>
              <a:gd name="adj" fmla="val 30226"/>
            </a:avLst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/>
          <p:cNvSpPr/>
          <p:nvPr/>
        </p:nvSpPr>
        <p:spPr>
          <a:xfrm>
            <a:off x="5182143" y="2204576"/>
            <a:ext cx="6690814" cy="1155460"/>
          </a:xfrm>
          <a:prstGeom prst="roundRect">
            <a:avLst>
              <a:gd name="adj" fmla="val 16667"/>
            </a:avLst>
          </a:prstGeom>
          <a:solidFill>
            <a:srgbClr val="c1b2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7118650" y="2355994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7A812F2-7AB2-FD94-CC5E-506278A37B9A}"/>
              </a:ext>
            </a:extLst>
          </p:cNvPr>
          <p:cNvSpPr txBox="1"/>
          <p:nvPr/>
        </p:nvSpPr>
        <p:spPr>
          <a:xfrm>
            <a:off x="5437235" y="1570104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</a:rPr>
              <a:t>데이터 </a:t>
            </a:r>
            <a:r>
              <a:rPr lang="ko-KR" altLang="en-US" dirty="0" err="1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</a:rPr>
              <a:t>전처리</a:t>
            </a:r>
            <a:endParaRPr lang="en-US" altLang="ko-KR" dirty="0">
              <a:solidFill>
                <a:schemeClr val="bg1"/>
              </a:solidFill>
              <a:latin typeface="210 클레이토이 L" panose="02020603020101020101" pitchFamily="18" charset="-127"/>
              <a:ea typeface="210 클레이토이 L" panose="0202060302010102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44917" y="2383832"/>
            <a:ext cx="1769110" cy="792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sz="2300" b="1" spc="-150" dirty="0">
                <a:latin typeface="Gulim"/>
                <a:ea typeface="Gulim"/>
                <a:cs typeface="Gulim"/>
              </a:rPr>
              <a:t>자연어 처리</a:t>
            </a:r>
            <a:endParaRPr lang="ko-KR" altLang="en-US" sz="2300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18706" y="2177218"/>
            <a:ext cx="4755515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AutoNum type="arabicPeriod"/>
            </a:pPr>
            <a:r>
              <a:rPr lang="ko-KR" altLang="en-US" sz="1200" spc="-150" dirty="0">
                <a:latin typeface="GulimChe"/>
                <a:ea typeface="GulimChe"/>
                <a:cs typeface="GulimChe"/>
              </a:rPr>
              <a:t>한국어 문장을 </a:t>
            </a:r>
            <a:r>
              <a:rPr lang="en-US" altLang="ko-KR" sz="1200" spc="-150" dirty="0" err="1">
                <a:latin typeface="GulimChe"/>
                <a:ea typeface="GulimChe"/>
                <a:cs typeface="GulimChe"/>
              </a:rPr>
              <a:t>Okt</a:t>
            </a:r>
            <a:r>
              <a:rPr lang="en-US" altLang="ko-KR" sz="1200" spc="-150" dirty="0">
                <a:latin typeface="GulimChe"/>
                <a:ea typeface="GulimChe"/>
                <a:cs typeface="GulimChe"/>
              </a:rPr>
              <a:t> </a:t>
            </a:r>
            <a:r>
              <a:rPr lang="ko-KR" altLang="en-US" sz="1200" spc="-150" dirty="0">
                <a:latin typeface="GulimChe"/>
                <a:ea typeface="GulimChe"/>
                <a:cs typeface="GulimChe"/>
              </a:rPr>
              <a:t>형태소 분석기로 명사</a:t>
            </a:r>
            <a:r>
              <a:rPr lang="en-US" altLang="ko-KR" sz="1200" spc="-150" dirty="0">
                <a:latin typeface="GulimChe"/>
                <a:ea typeface="GulimChe"/>
                <a:cs typeface="GulimChe"/>
              </a:rPr>
              <a:t>/</a:t>
            </a:r>
            <a:r>
              <a:rPr lang="ko-KR" altLang="en-US" sz="1200" spc="-150" dirty="0">
                <a:latin typeface="GulimChe"/>
                <a:ea typeface="GulimChe"/>
                <a:cs typeface="GulimChe"/>
              </a:rPr>
              <a:t>동사</a:t>
            </a:r>
            <a:r>
              <a:rPr lang="en-US" altLang="ko-KR" sz="1200" spc="-150" dirty="0">
                <a:latin typeface="GulimChe"/>
                <a:ea typeface="GulimChe"/>
                <a:cs typeface="GulimChe"/>
              </a:rPr>
              <a:t>/</a:t>
            </a:r>
            <a:r>
              <a:rPr lang="ko-KR" altLang="en-US" sz="1200" spc="-150" dirty="0">
                <a:latin typeface="GulimChe"/>
                <a:ea typeface="GulimChe"/>
                <a:cs typeface="GulimChe"/>
              </a:rPr>
              <a:t>형용사로</a:t>
            </a:r>
            <a:r>
              <a:rPr lang="en-US" altLang="ko-KR" sz="1200" spc="-150" dirty="0">
                <a:latin typeface="GulimChe"/>
                <a:ea typeface="GulimChe"/>
                <a:cs typeface="GulimChe"/>
              </a:rPr>
              <a:t> </a:t>
            </a:r>
            <a:r>
              <a:rPr lang="ko-KR" altLang="en-US" sz="1200" spc="-150" dirty="0">
                <a:latin typeface="GulimChe"/>
                <a:ea typeface="GulimChe"/>
                <a:cs typeface="GulimChe"/>
              </a:rPr>
              <a:t>분리</a:t>
            </a:r>
            <a:endParaRPr lang="en-US" altLang="ko-KR" sz="1200" spc="-150" dirty="0">
              <a:latin typeface="GulimChe"/>
              <a:ea typeface="GulimChe"/>
              <a:cs typeface="GulimChe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ko-KR" altLang="en-US" sz="1200" spc="-150" dirty="0">
                <a:latin typeface="GulimChe"/>
                <a:ea typeface="GulimChe"/>
                <a:cs typeface="GulimChe"/>
              </a:rPr>
              <a:t>이를 </a:t>
            </a:r>
            <a:r>
              <a:rPr lang="en-US" altLang="ko-KR" sz="1200" spc="-150" dirty="0">
                <a:latin typeface="GulimChe"/>
                <a:ea typeface="GulimChe"/>
                <a:cs typeface="GulimChe"/>
              </a:rPr>
              <a:t>TF-IDF </a:t>
            </a:r>
            <a:r>
              <a:rPr lang="ko-KR" altLang="en-US" sz="1200" spc="-150" dirty="0">
                <a:latin typeface="GulimChe"/>
                <a:ea typeface="GulimChe"/>
                <a:cs typeface="GulimChe"/>
              </a:rPr>
              <a:t>기법으로 단어의 중요도를 수치화</a:t>
            </a:r>
            <a:endParaRPr lang="en-US" altLang="ko-KR" sz="1200" spc="-150" dirty="0">
              <a:latin typeface="GulimChe"/>
              <a:ea typeface="GulimChe"/>
              <a:cs typeface="GulimChe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altLang="ko-KR" sz="1200" spc="-150" dirty="0">
                <a:latin typeface="GulimChe"/>
                <a:ea typeface="GulimChe"/>
                <a:cs typeface="GulimChe"/>
              </a:rPr>
              <a:t>N-gram </a:t>
            </a:r>
            <a:r>
              <a:rPr lang="ko-KR" altLang="en-US" sz="1200" spc="-150" dirty="0">
                <a:latin typeface="GulimChe"/>
                <a:ea typeface="GulimChe"/>
                <a:cs typeface="GulimChe"/>
              </a:rPr>
              <a:t>적용으로 문맥을 반영해 컴퓨터가 이해할 수 있는</a:t>
            </a:r>
            <a:r>
              <a:rPr lang="en-US" altLang="ko-KR" sz="1200" spc="-150" dirty="0">
                <a:latin typeface="GulimChe"/>
                <a:ea typeface="GulimChe"/>
                <a:cs typeface="GulimChe"/>
              </a:rPr>
              <a:t> </a:t>
            </a:r>
            <a:endParaRPr lang="en-US" altLang="ko-KR" sz="1200" spc="-150" dirty="0">
              <a:latin typeface="GulimChe"/>
              <a:ea typeface="GulimChe"/>
              <a:cs typeface="GulimChe"/>
            </a:endParaRPr>
          </a:p>
          <a:p>
            <a:pPr marL="342900" indent="-342900">
              <a:lnSpc>
                <a:spcPct val="120000"/>
              </a:lnSpc>
            </a:pPr>
            <a:r>
              <a:rPr lang="en-US" altLang="ko-KR" sz="1200" spc="-150" dirty="0">
                <a:latin typeface="GulimChe"/>
                <a:ea typeface="GulimChe"/>
                <a:cs typeface="GulimChe"/>
              </a:rPr>
              <a:t>	</a:t>
            </a:r>
            <a:r>
              <a:rPr lang="ko-KR" altLang="en-US" sz="1200" spc="-150" dirty="0">
                <a:latin typeface="GulimChe"/>
                <a:ea typeface="GulimChe"/>
                <a:cs typeface="GulimChe"/>
              </a:rPr>
              <a:t>벡터로 변환</a:t>
            </a:r>
            <a:endParaRPr lang="ko-KR" altLang="en-US" sz="1200" spc="-150" dirty="0">
              <a:latin typeface="GulimChe"/>
              <a:ea typeface="GulimChe"/>
              <a:cs typeface="GulimChe"/>
            </a:endParaRPr>
          </a:p>
        </p:txBody>
      </p:sp>
      <p:sp>
        <p:nvSpPr>
          <p:cNvPr id="7" name="사각형: 둥근 모서리 6"/>
          <p:cNvSpPr/>
          <p:nvPr/>
        </p:nvSpPr>
        <p:spPr>
          <a:xfrm>
            <a:off x="5182143" y="3562808"/>
            <a:ext cx="6691027" cy="1155460"/>
          </a:xfrm>
          <a:prstGeom prst="roundRect">
            <a:avLst>
              <a:gd name="adj" fmla="val 16667"/>
            </a:avLst>
          </a:prstGeom>
          <a:solidFill>
            <a:srgbClr val="c1b2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7118650" y="3714226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44822" y="3774809"/>
            <a:ext cx="202057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sz="2100" b="1" spc="-150" dirty="0">
                <a:latin typeface="Gulim"/>
                <a:ea typeface="Gulim"/>
                <a:cs typeface="Gulim"/>
              </a:rPr>
              <a:t>커스텀 불용 </a:t>
            </a:r>
            <a:endParaRPr lang="en-US" altLang="ko-KR" sz="2100" b="1" spc="-150" dirty="0">
              <a:latin typeface="Gulim"/>
              <a:ea typeface="Gulim"/>
              <a:cs typeface="Gulim"/>
            </a:endParaRPr>
          </a:p>
          <a:p>
            <a:pPr algn="ctr"/>
            <a:r>
              <a:rPr lang="ko-KR" altLang="en-US" sz="2100" b="1" spc="-150" dirty="0">
                <a:latin typeface="Gulim"/>
                <a:ea typeface="Gulim"/>
                <a:cs typeface="Gulim"/>
              </a:rPr>
              <a:t>사전처리</a:t>
            </a:r>
            <a:endParaRPr lang="ko-KR" altLang="en-US" sz="2100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50005" y="3637277"/>
            <a:ext cx="4435475" cy="10058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r>
              <a:rPr lang="ko-KR" altLang="en-US" sz="1200" spc="-150" dirty="0">
                <a:latin typeface="Gulim"/>
                <a:ea typeface="Gulim"/>
                <a:cs typeface="Gulim"/>
              </a:rPr>
              <a:t>커스텀  </a:t>
            </a:r>
            <a:r>
              <a:rPr lang="ko-KR" altLang="en-US" sz="1200" spc="-150" dirty="0" err="1">
                <a:latin typeface="Gulim"/>
                <a:ea typeface="Gulim"/>
                <a:cs typeface="Gulim"/>
              </a:rPr>
              <a:t>불용어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 사전을 적용해 일반 </a:t>
            </a:r>
            <a:r>
              <a:rPr lang="ko-KR" altLang="en-US" sz="1200" spc="-150" dirty="0" err="1">
                <a:latin typeface="Gulim"/>
                <a:ea typeface="Gulim"/>
                <a:cs typeface="Gulim"/>
              </a:rPr>
              <a:t>불용어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 처리보다 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marL="342900" indent="-342900"/>
            <a:r>
              <a:rPr lang="en-US" altLang="ko-KR" sz="1200" spc="-150" dirty="0">
                <a:latin typeface="Gulim"/>
                <a:ea typeface="Gulim"/>
                <a:cs typeface="Gulim"/>
              </a:rPr>
              <a:t>	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정교하게 개선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marL="342900" indent="-342900"/>
            <a:r>
              <a:rPr lang="en-US" altLang="ko-KR" sz="1200" spc="-150" dirty="0">
                <a:latin typeface="Gulim"/>
                <a:ea typeface="Gulim"/>
                <a:cs typeface="Gulim"/>
              </a:rPr>
              <a:t>2.     Tokenize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함수를 활용해 </a:t>
            </a:r>
            <a:r>
              <a:rPr lang="ko-KR" altLang="en-US" sz="1200" spc="-150" dirty="0" err="1">
                <a:latin typeface="Gulim"/>
                <a:ea typeface="Gulim"/>
                <a:cs typeface="Gulim"/>
              </a:rPr>
              <a:t>불용어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 목록을 원형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lvl="0"/>
            <a:r>
              <a:rPr lang="en-US" altLang="ko-KR" sz="1200" spc="-150" dirty="0">
                <a:latin typeface="Gulim"/>
                <a:ea typeface="Gulim"/>
                <a:cs typeface="Gulim"/>
              </a:rPr>
              <a:t>	(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예 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: ‘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달리고 있다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‘  -&gt; ‘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달리다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’)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로 가공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lvl="0"/>
            <a:r>
              <a:rPr lang="en-US" altLang="ko-KR" sz="1200" spc="-150" dirty="0">
                <a:latin typeface="Gulim"/>
                <a:ea typeface="Gulim"/>
                <a:cs typeface="Gulim"/>
              </a:rPr>
              <a:t>3.     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그 결과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,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경고메시지를 줄이고 단어 필터링 성능을 향상 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12" name="사각형: 둥근 모서리 11"/>
          <p:cNvSpPr/>
          <p:nvPr/>
        </p:nvSpPr>
        <p:spPr>
          <a:xfrm>
            <a:off x="5191204" y="4938159"/>
            <a:ext cx="6681404" cy="1155460"/>
          </a:xfrm>
          <a:prstGeom prst="roundRect">
            <a:avLst>
              <a:gd name="adj" fmla="val 16667"/>
            </a:avLst>
          </a:prstGeom>
          <a:solidFill>
            <a:srgbClr val="c1b2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cxnSp>
        <p:nvCxnSpPr>
          <p:cNvPr id="13" name="직선 연결선 12"/>
          <p:cNvCxnSpPr/>
          <p:nvPr/>
        </p:nvCxnSpPr>
        <p:spPr>
          <a:xfrm>
            <a:off x="7127711" y="5089577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17166" y="5217190"/>
            <a:ext cx="1901190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sz="2000" b="1" spc="-150" dirty="0">
                <a:latin typeface="Gulim"/>
                <a:ea typeface="Gulim"/>
                <a:cs typeface="Gulim"/>
              </a:rPr>
              <a:t>데이터 불균형 해결</a:t>
            </a:r>
            <a:endParaRPr lang="ko-KR" altLang="en-US" sz="2000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18401" y="5072562"/>
            <a:ext cx="4815840" cy="8458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100" spc="-150" dirty="0">
                <a:latin typeface="Gulim"/>
                <a:ea typeface="Gulim"/>
                <a:cs typeface="Gulim"/>
              </a:rPr>
              <a:t>주제별 데이터 불균형 문제를 해결하기 위해 </a:t>
            </a:r>
            <a:r>
              <a:rPr lang="en-US" altLang="ko-KR" sz="1100" spc="-150" dirty="0">
                <a:latin typeface="Gulim"/>
                <a:ea typeface="Gulim"/>
                <a:cs typeface="Gulim"/>
              </a:rPr>
              <a:t>SMOTE </a:t>
            </a:r>
            <a:r>
              <a:rPr lang="ko-KR" altLang="en-US" sz="1100" spc="-150" dirty="0">
                <a:latin typeface="Gulim"/>
                <a:ea typeface="Gulim"/>
                <a:cs typeface="Gulim"/>
              </a:rPr>
              <a:t>샘플링 적용</a:t>
            </a:r>
            <a:endParaRPr lang="en-US" altLang="ko-KR" sz="11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100" spc="-150" dirty="0">
                <a:latin typeface="Gulim"/>
                <a:ea typeface="Gulim"/>
                <a:cs typeface="Gulim"/>
              </a:rPr>
              <a:t>소수 클래스 데이터를 합성해 모든 주제 데이터 수를 균등화</a:t>
            </a:r>
            <a:r>
              <a:rPr lang="en-US" altLang="ko-KR" sz="1100" spc="-150" dirty="0">
                <a:latin typeface="Gulim"/>
                <a:ea typeface="Gulim"/>
                <a:cs typeface="Gulim"/>
              </a:rPr>
              <a:t>(2495</a:t>
            </a:r>
            <a:r>
              <a:rPr lang="ko-KR" altLang="en-US" sz="1100" spc="-150" dirty="0">
                <a:latin typeface="Gulim"/>
                <a:ea typeface="Gulim"/>
                <a:cs typeface="Gulim"/>
              </a:rPr>
              <a:t>개</a:t>
            </a:r>
            <a:r>
              <a:rPr lang="en-US" altLang="ko-KR" sz="1100" spc="-150" dirty="0">
                <a:latin typeface="Gulim"/>
                <a:ea typeface="Gulim"/>
                <a:cs typeface="Gulim"/>
              </a:rPr>
              <a:t>)</a:t>
            </a:r>
            <a:endParaRPr lang="en-US" altLang="ko-KR" sz="11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100" spc="-150" dirty="0">
                <a:latin typeface="Gulim"/>
                <a:ea typeface="Gulim"/>
                <a:cs typeface="Gulim"/>
              </a:rPr>
              <a:t>결과적으로 모델의 특정 주제 편향을 방지하고 학습 성능을 개선</a:t>
            </a:r>
            <a:endParaRPr lang="en-US" altLang="ko-KR" sz="1100" spc="-150" dirty="0">
              <a:latin typeface="Gulim"/>
              <a:ea typeface="Gulim"/>
              <a:cs typeface="Gulim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FFF2B3D2-D856-5AF6-9FC4-7AE85DA7F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42" y="1497115"/>
            <a:ext cx="4629418" cy="459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51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E48340-BBAC-F9AC-F009-950956D748E7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091459-4C98-3080-6BD1-4BB3563F9719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2-5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FB1458-A4E7-035C-0E69-761CFDDDB63C}"/>
              </a:ext>
            </a:extLst>
          </p:cNvPr>
          <p:cNvSpPr txBox="1"/>
          <p:nvPr/>
        </p:nvSpPr>
        <p:spPr>
          <a:xfrm>
            <a:off x="686355" y="207408"/>
            <a:ext cx="3419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2400" spc="300" dirty="0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모델훈련 </a:t>
            </a:r>
            <a:r>
              <a:rPr lang="en-US" altLang="ko-KR" sz="2400" spc="300" dirty="0">
                <a:solidFill>
                  <a:schemeClr val="bg1"/>
                </a:solidFill>
                <a:latin typeface="+mj-ea"/>
                <a:ea typeface="+mj-ea"/>
              </a:rPr>
              <a:t>/ </a:t>
            </a:r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최적화</a:t>
            </a:r>
          </a:p>
        </p:txBody>
      </p:sp>
      <p:sp>
        <p:nvSpPr>
          <p:cNvPr id="14" name="사각형: 둥근 모서리 13"/>
          <p:cNvSpPr/>
          <p:nvPr/>
        </p:nvSpPr>
        <p:spPr>
          <a:xfrm>
            <a:off x="4432299" y="1099169"/>
            <a:ext cx="2568497" cy="486944"/>
          </a:xfrm>
          <a:prstGeom prst="roundRect">
            <a:avLst>
              <a:gd name="adj" fmla="val 30226"/>
            </a:avLst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5" name="사각형: 둥근 모서리 14"/>
          <p:cNvSpPr/>
          <p:nvPr/>
        </p:nvSpPr>
        <p:spPr>
          <a:xfrm>
            <a:off x="228600" y="1679431"/>
            <a:ext cx="6948169" cy="1155460"/>
          </a:xfrm>
          <a:prstGeom prst="roundRect">
            <a:avLst>
              <a:gd name="adj" fmla="val 16667"/>
            </a:avLst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2263995" y="1830849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/>
          <p:cNvSpPr/>
          <p:nvPr/>
        </p:nvSpPr>
        <p:spPr>
          <a:xfrm>
            <a:off x="229223" y="2996469"/>
            <a:ext cx="6947546" cy="1155460"/>
          </a:xfrm>
          <a:prstGeom prst="roundRect">
            <a:avLst>
              <a:gd name="adj" fmla="val 16667"/>
            </a:avLst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2359245" y="3137727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/>
          <p:cNvSpPr/>
          <p:nvPr/>
        </p:nvSpPr>
        <p:spPr>
          <a:xfrm>
            <a:off x="229235" y="4293187"/>
            <a:ext cx="6947534" cy="1155460"/>
          </a:xfrm>
          <a:prstGeom prst="roundRect">
            <a:avLst>
              <a:gd name="adj" fmla="val 16667"/>
            </a:avLst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2359245" y="4444605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06649" y="1161150"/>
            <a:ext cx="2493645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ko-KR" b="1" spc="-150" dirty="0">
                <a:solidFill>
                  <a:schemeClr val="bg1"/>
                </a:solidFill>
                <a:latin typeface="Gulim"/>
                <a:ea typeface="Gulim"/>
                <a:cs typeface="Gulim"/>
              </a:rPr>
              <a:t>AI</a:t>
            </a:r>
            <a:r>
              <a:rPr lang="ko-KR" altLang="en-US" b="1" spc="-150" dirty="0">
                <a:solidFill>
                  <a:schemeClr val="bg1"/>
                </a:solidFill>
                <a:latin typeface="Gulim"/>
                <a:ea typeface="Gulim"/>
                <a:cs typeface="Gulim"/>
              </a:rPr>
              <a:t>모델 훈련 및 최적화</a:t>
            </a:r>
            <a:endParaRPr lang="en-US" altLang="ko-KR" b="1" spc="-150" dirty="0">
              <a:solidFill>
                <a:schemeClr val="bg1"/>
              </a:solidFill>
              <a:latin typeface="Gulim"/>
              <a:ea typeface="Gulim"/>
              <a:cs typeface="Gulim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7768" y="1982175"/>
            <a:ext cx="168275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b="1" spc="-150" dirty="0">
                <a:latin typeface="Gulim"/>
                <a:ea typeface="Gulim"/>
                <a:cs typeface="Gulim"/>
              </a:rPr>
              <a:t>커스텀 특징 </a:t>
            </a:r>
            <a:endParaRPr lang="en-US" altLang="ko-KR" b="1" spc="-150" dirty="0">
              <a:latin typeface="Gulim"/>
              <a:ea typeface="Gulim"/>
              <a:cs typeface="Gulim"/>
            </a:endParaRPr>
          </a:p>
          <a:p>
            <a:pPr marL="182563" indent="-182563" algn="ctr">
              <a:buFont typeface="Wingdings"/>
            </a:pPr>
            <a:r>
              <a:rPr lang="ko-KR" altLang="en-US" b="1" spc="-150" dirty="0">
                <a:latin typeface="Gulim"/>
                <a:ea typeface="Gulim"/>
                <a:cs typeface="Gulim"/>
              </a:rPr>
              <a:t>공학</a:t>
            </a:r>
            <a:endParaRPr lang="ko-KR" altLang="en-US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28816" y="3244122"/>
            <a:ext cx="214884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b="1" spc="-150" dirty="0" err="1">
                <a:latin typeface="Gulim"/>
                <a:ea typeface="Gulim"/>
                <a:cs typeface="Gulim"/>
              </a:rPr>
              <a:t>하이퍼</a:t>
            </a:r>
            <a:r>
              <a:rPr lang="ko-KR" altLang="en-US" b="1" spc="-150" dirty="0">
                <a:latin typeface="Gulim"/>
                <a:ea typeface="Gulim"/>
                <a:cs typeface="Gulim"/>
              </a:rPr>
              <a:t> 파라미터 </a:t>
            </a:r>
            <a:endParaRPr lang="en-US" altLang="ko-KR" b="1" spc="-150" dirty="0">
              <a:latin typeface="Gulim"/>
              <a:ea typeface="Gulim"/>
              <a:cs typeface="Gulim"/>
            </a:endParaRPr>
          </a:p>
          <a:p>
            <a:pPr algn="ctr"/>
            <a:r>
              <a:rPr lang="ko-KR" altLang="en-US" b="1" spc="-150" dirty="0">
                <a:latin typeface="Gulim"/>
                <a:ea typeface="Gulim"/>
                <a:cs typeface="Gulim"/>
              </a:rPr>
              <a:t>자동 최적화</a:t>
            </a:r>
            <a:endParaRPr lang="ko-KR" altLang="en-US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64235" y="1869180"/>
            <a:ext cx="5054600" cy="774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15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모델 이 혼동하는 핵심 단어들에 가중치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(3.0)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을 부여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TF-IDF </a:t>
            </a:r>
            <a:r>
              <a:rPr lang="ko-KR" altLang="en-US" sz="1300" spc="-150" dirty="0" err="1">
                <a:latin typeface="Gulim"/>
                <a:ea typeface="Gulim"/>
                <a:cs typeface="Gulim"/>
              </a:rPr>
              <a:t>벡터값을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 인위적으로 증폭시켜 단어 중요도를 강조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이를 통해 모델이 해당 키워드를 더 정확히 인식하도록 개선</a:t>
            </a:r>
            <a:endParaRPr lang="ko-KR" altLang="en-US" sz="13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50238" y="3171854"/>
            <a:ext cx="4299585" cy="804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모델 파라미터 조합을 직접 찾는 대신 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>
              <a:lnSpc>
                <a:spcPct val="120000"/>
              </a:lnSpc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               </a:t>
            </a:r>
            <a:r>
              <a:rPr lang="en-US" altLang="ko-KR" sz="1300" spc="-150" dirty="0" err="1">
                <a:latin typeface="Gulim"/>
                <a:ea typeface="Gulim"/>
                <a:cs typeface="Gulim"/>
              </a:rPr>
              <a:t>RandomizedSerchCV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로 자동탐색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>
              <a:lnSpc>
                <a:spcPct val="120000"/>
              </a:lnSpc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2.   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최적의 조합을 </a:t>
            </a:r>
            <a:r>
              <a:rPr lang="ko-KR" altLang="en-US" sz="1300" spc="-150" dirty="0" err="1">
                <a:latin typeface="Gulim"/>
                <a:ea typeface="Gulim"/>
                <a:cs typeface="Gulim"/>
              </a:rPr>
              <a:t>찾아내여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 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93%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이상의 성능을 달성</a:t>
            </a:r>
            <a:endParaRPr lang="ko-KR" altLang="en-US" sz="13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7" name="사각형: 둥근 모서리 6"/>
          <p:cNvSpPr/>
          <p:nvPr/>
        </p:nvSpPr>
        <p:spPr>
          <a:xfrm>
            <a:off x="229235" y="5562811"/>
            <a:ext cx="6947534" cy="1155460"/>
          </a:xfrm>
          <a:prstGeom prst="roundRect">
            <a:avLst>
              <a:gd name="adj" fmla="val 16667"/>
            </a:avLst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2168745" y="5714229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425" y="5857454"/>
            <a:ext cx="1397635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b="1" spc="-150" dirty="0">
                <a:latin typeface="Gulim"/>
                <a:ea typeface="Gulim"/>
                <a:cs typeface="Gulim"/>
              </a:rPr>
              <a:t>모델</a:t>
            </a:r>
            <a:r>
              <a:rPr lang="en-US" altLang="ko-KR" b="1" spc="-150" dirty="0">
                <a:latin typeface="Gulim"/>
                <a:ea typeface="Gulim"/>
                <a:cs typeface="Gulim"/>
              </a:rPr>
              <a:t>/</a:t>
            </a:r>
            <a:r>
              <a:rPr lang="ko-KR" altLang="en-US" b="1" spc="-150" dirty="0">
                <a:latin typeface="Gulim"/>
                <a:ea typeface="Gulim"/>
                <a:cs typeface="Gulim"/>
              </a:rPr>
              <a:t>도구</a:t>
            </a:r>
            <a:endParaRPr lang="en-US" altLang="ko-KR" b="1" spc="-150" dirty="0">
              <a:latin typeface="Gulim"/>
              <a:ea typeface="Gulim"/>
              <a:cs typeface="Gulim"/>
            </a:endParaRPr>
          </a:p>
          <a:p>
            <a:pPr algn="ctr"/>
            <a:r>
              <a:rPr lang="ko-KR" altLang="en-US" b="1" spc="-150" dirty="0">
                <a:latin typeface="Gulim"/>
                <a:ea typeface="Gulim"/>
                <a:cs typeface="Gulim"/>
              </a:rPr>
              <a:t>직렬화</a:t>
            </a:r>
            <a:endParaRPr lang="ko-KR" altLang="en-US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68960" y="5667060"/>
            <a:ext cx="514985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spc="-150" dirty="0">
                <a:latin typeface="Gulim"/>
                <a:ea typeface="Gulim"/>
                <a:cs typeface="Gulim"/>
              </a:rPr>
              <a:t>학습된 모델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, </a:t>
            </a:r>
            <a:r>
              <a:rPr lang="ko-KR" altLang="en-US" sz="1200" spc="-150" dirty="0" err="1">
                <a:latin typeface="Gulim"/>
                <a:ea typeface="Gulim"/>
                <a:cs typeface="Gulim"/>
              </a:rPr>
              <a:t>벡터라이저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,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라벨 인코더를 </a:t>
            </a:r>
            <a:r>
              <a:rPr lang="en-US" altLang="ko-KR" sz="1200" spc="-150" dirty="0" err="1">
                <a:latin typeface="Gulim"/>
                <a:ea typeface="Gulim"/>
                <a:cs typeface="Gulim"/>
              </a:rPr>
              <a:t>joblib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으로 직렬화 해 저장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 spc="-150" dirty="0">
                <a:latin typeface="Gulim"/>
                <a:ea typeface="Gulim"/>
                <a:cs typeface="Gulim"/>
              </a:rPr>
              <a:t>API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서버에서 매번 </a:t>
            </a:r>
            <a:r>
              <a:rPr lang="ko-KR" altLang="en-US" sz="1200" spc="-150" dirty="0" err="1">
                <a:latin typeface="Gulim"/>
                <a:ea typeface="Gulim"/>
                <a:cs typeface="Gulim"/>
              </a:rPr>
              <a:t>재학습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 하지 않고 저장된 파일을 불러와 사용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spc="-150" dirty="0">
                <a:latin typeface="Gulim"/>
                <a:ea typeface="Gulim"/>
                <a:cs typeface="Gulim"/>
              </a:rPr>
              <a:t>이를 통해 배포와 </a:t>
            </a:r>
            <a:r>
              <a:rPr lang="ko-KR" altLang="en-US" sz="1200" spc="-150" dirty="0" err="1">
                <a:latin typeface="Gulim"/>
                <a:ea typeface="Gulim"/>
                <a:cs typeface="Gulim"/>
              </a:rPr>
              <a:t>실행성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 효율 확보</a:t>
            </a:r>
            <a:endParaRPr lang="ko-KR" altLang="en-US" sz="12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8324" y="4537293"/>
            <a:ext cx="1915795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b="1" spc="-150" dirty="0">
                <a:latin typeface="Gulim"/>
                <a:ea typeface="Gulim"/>
                <a:cs typeface="Gulim"/>
              </a:rPr>
              <a:t>모델 성능 검증</a:t>
            </a:r>
            <a:endParaRPr lang="en-US" altLang="ko-KR" b="1" spc="-150" dirty="0">
              <a:latin typeface="Gulim"/>
              <a:ea typeface="Gulim"/>
              <a:cs typeface="Gulim"/>
            </a:endParaRPr>
          </a:p>
          <a:p>
            <a:pPr algn="ctr"/>
            <a:r>
              <a:rPr lang="en-US" altLang="ko-KR" b="1" spc="-150" dirty="0">
                <a:latin typeface="Gulim"/>
                <a:ea typeface="Gulim"/>
                <a:cs typeface="Gulim"/>
              </a:rPr>
              <a:t> (</a:t>
            </a:r>
            <a:r>
              <a:rPr lang="ko-KR" altLang="en-US" b="1" spc="-150" dirty="0" err="1">
                <a:latin typeface="Gulim"/>
                <a:ea typeface="Gulim"/>
                <a:cs typeface="Gulim"/>
              </a:rPr>
              <a:t>과적합</a:t>
            </a:r>
            <a:r>
              <a:rPr lang="ko-KR" altLang="en-US" b="1" spc="-150" dirty="0">
                <a:latin typeface="Gulim"/>
                <a:ea typeface="Gulim"/>
                <a:cs typeface="Gulim"/>
              </a:rPr>
              <a:t> 분석</a:t>
            </a:r>
            <a:r>
              <a:rPr lang="en-US" altLang="ko-KR" b="1" spc="-150" dirty="0">
                <a:latin typeface="Gulim"/>
                <a:ea typeface="Gulim"/>
                <a:cs typeface="Gulim"/>
              </a:rPr>
              <a:t>)</a:t>
            </a:r>
            <a:endParaRPr lang="en-US" altLang="ko-KR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77518" y="4392162"/>
            <a:ext cx="4799330" cy="1002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15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학습 정확도 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(98~99%)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와 검증 정확도 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(93%)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를 비교하여 </a:t>
            </a:r>
            <a:r>
              <a:rPr lang="ko-KR" altLang="en-US" sz="1300" spc="-150" dirty="0" err="1">
                <a:latin typeface="Gulim"/>
                <a:ea typeface="Gulim"/>
                <a:cs typeface="Gulim"/>
              </a:rPr>
              <a:t>과적합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 여부를 점검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lvl="0">
              <a:lnSpc>
                <a:spcPct val="115000"/>
              </a:lnSpc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2. 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단순 훈련성능이 아니라 일반화 성능까지 검증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/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튜닝으로 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lvl="0">
              <a:lnSpc>
                <a:spcPct val="115000"/>
              </a:lnSpc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     </a:t>
            </a:r>
            <a:r>
              <a:rPr lang="ko-KR" altLang="en-US" sz="1300" spc="-150" dirty="0" err="1">
                <a:latin typeface="Gulim"/>
                <a:ea typeface="Gulim"/>
                <a:cs typeface="Gulim"/>
              </a:rPr>
              <a:t>과적합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 제어 진행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F3BF3AD-7CC4-A405-24C0-4529A16FB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208" y="494373"/>
            <a:ext cx="3896502" cy="31254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AA00990-738C-DB81-13FD-F947FF0E9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872" y="3521636"/>
            <a:ext cx="3896502" cy="314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32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C81711B-54D3-49ED-62DA-1A04436B6216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25C9D7-5D11-E553-1D1C-D80549567A5A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2-6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F196DF-5655-18C0-700B-56611C97DA37}"/>
              </a:ext>
            </a:extLst>
          </p:cNvPr>
          <p:cNvSpPr txBox="1"/>
          <p:nvPr/>
        </p:nvSpPr>
        <p:spPr>
          <a:xfrm>
            <a:off x="686355" y="207408"/>
            <a:ext cx="2313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2400" spc="300" dirty="0">
                <a:solidFill>
                  <a:schemeClr val="bg1"/>
                </a:solidFill>
                <a:latin typeface="+mj-ea"/>
                <a:ea typeface="+mj-ea"/>
              </a:rPr>
              <a:t>API</a:t>
            </a:r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 서버 구축</a:t>
            </a:r>
          </a:p>
        </p:txBody>
      </p:sp>
      <p:sp>
        <p:nvSpPr>
          <p:cNvPr id="6" name="사각형: 둥근 모서리 5"/>
          <p:cNvSpPr/>
          <p:nvPr/>
        </p:nvSpPr>
        <p:spPr>
          <a:xfrm>
            <a:off x="5025249" y="781837"/>
            <a:ext cx="2235798" cy="486944"/>
          </a:xfrm>
          <a:prstGeom prst="roundRect">
            <a:avLst>
              <a:gd name="adj" fmla="val 30226"/>
            </a:avLst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5" name="사각형: 둥근 모서리 14"/>
          <p:cNvSpPr/>
          <p:nvPr/>
        </p:nvSpPr>
        <p:spPr>
          <a:xfrm>
            <a:off x="5086893" y="1475113"/>
            <a:ext cx="6975959" cy="1155460"/>
          </a:xfrm>
          <a:prstGeom prst="roundRect">
            <a:avLst>
              <a:gd name="adj" fmla="val 16667"/>
            </a:avLst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342900" indent="-342900" algn="ctr">
              <a:buFont typeface="+mj-lt"/>
              <a:buAutoNum type="arabicPeriod"/>
            </a:pP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6832900" y="1626531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/>
          <p:cNvSpPr/>
          <p:nvPr/>
        </p:nvSpPr>
        <p:spPr>
          <a:xfrm>
            <a:off x="5086893" y="2781991"/>
            <a:ext cx="6975959" cy="1155460"/>
          </a:xfrm>
          <a:prstGeom prst="roundRect">
            <a:avLst>
              <a:gd name="adj" fmla="val 16667"/>
            </a:avLst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6832900" y="2933409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/>
          <p:cNvSpPr/>
          <p:nvPr/>
        </p:nvSpPr>
        <p:spPr>
          <a:xfrm>
            <a:off x="5086893" y="4088869"/>
            <a:ext cx="6975959" cy="1155460"/>
          </a:xfrm>
          <a:prstGeom prst="roundRect">
            <a:avLst>
              <a:gd name="adj" fmla="val 16667"/>
            </a:avLst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6832900" y="4240287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74285" y="840641"/>
            <a:ext cx="2209800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ko-KR" b="1" dirty="0">
                <a:solidFill>
                  <a:schemeClr val="bg1"/>
                </a:solidFill>
                <a:latin typeface="Gulim"/>
                <a:ea typeface="Gulim"/>
                <a:cs typeface="Gulim"/>
              </a:rPr>
              <a:t>Flask API</a:t>
            </a:r>
            <a:r>
              <a:rPr lang="ko-KR" altLang="en-US" b="1" dirty="0">
                <a:solidFill>
                  <a:schemeClr val="bg1"/>
                </a:solidFill>
                <a:latin typeface="Gulim"/>
                <a:ea typeface="Gulim"/>
                <a:cs typeface="Gulim"/>
              </a:rPr>
              <a:t>서버 구축</a:t>
            </a:r>
            <a:endParaRPr lang="en-US" altLang="ko-KR" b="1" dirty="0">
              <a:solidFill>
                <a:schemeClr val="bg1"/>
              </a:solidFill>
              <a:latin typeface="Gulim"/>
              <a:ea typeface="Gulim"/>
              <a:cs typeface="Gulim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58319" y="1626531"/>
            <a:ext cx="1765935" cy="7772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lnSpc>
                <a:spcPct val="150000"/>
              </a:lnSpc>
              <a:buFont typeface="Wingdings"/>
              <a:buChar char="§"/>
            </a:pPr>
            <a:r>
              <a:rPr lang="en-US" altLang="ko-KR" sz="1500" b="1" spc="-150" dirty="0"/>
              <a:t>REST API </a:t>
            </a:r>
            <a:endParaRPr lang="en-US" altLang="ko-KR" sz="1500" b="1" spc="-150" dirty="0"/>
          </a:p>
          <a:p>
            <a:pPr marL="182563" indent="-182563" algn="ctr">
              <a:lnSpc>
                <a:spcPct val="150000"/>
              </a:lnSpc>
              <a:buFont typeface="Wingdings"/>
            </a:pPr>
            <a:r>
              <a:rPr lang="ko-KR" altLang="en-US" sz="1500" b="1" spc="-150" dirty="0" err="1"/>
              <a:t>엔드포인트</a:t>
            </a:r>
            <a:r>
              <a:rPr lang="en-US" altLang="ko-KR" sz="1500" b="1" spc="-150" dirty="0" err="1"/>
              <a:t> </a:t>
            </a:r>
            <a:r>
              <a:rPr lang="ko-KR" altLang="en-US" sz="1500" b="1" spc="-150" dirty="0"/>
              <a:t>구축</a:t>
            </a:r>
            <a:endParaRPr lang="ko-KR" altLang="en-US" sz="1500" b="1" spc="-1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21E40-3829-D2A3-C75B-81511A1D681A}"/>
              </a:ext>
            </a:extLst>
          </p:cNvPr>
          <p:cNvSpPr txBox="1"/>
          <p:nvPr/>
        </p:nvSpPr>
        <p:spPr>
          <a:xfrm>
            <a:off x="2314311" y="3662872"/>
            <a:ext cx="6899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>
              <a:buFont typeface="Wingdings" panose="05000000000000000000" pitchFamily="2" charset="2"/>
              <a:buChar char="§"/>
            </a:pPr>
            <a:r>
              <a:rPr lang="ko-KR" altLang="en-US" sz="1400" spc="-150" dirty="0"/>
              <a:t>사진</a:t>
            </a:r>
            <a:endParaRPr lang="en-US" altLang="ko-KR" sz="1400" spc="-150" dirty="0"/>
          </a:p>
        </p:txBody>
      </p:sp>
      <p:sp>
        <p:nvSpPr>
          <p:cNvPr id="4" name="TextBox 3"/>
          <p:cNvSpPr txBox="1"/>
          <p:nvPr/>
        </p:nvSpPr>
        <p:spPr>
          <a:xfrm>
            <a:off x="6917308" y="1626557"/>
            <a:ext cx="5145405" cy="774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15000"/>
              </a:lnSpc>
              <a:buAutoNum type="arabicPeriod"/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Flask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기반으로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/predict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엔드포인트를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구현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사용자가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입력을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JSON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형식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(sentence)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받아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처리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Spring Boot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와 연동해 실제 서비스 환경에서 호출 가능</a:t>
            </a:r>
            <a:endParaRPr lang="ko-KR" altLang="en-US" sz="13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17263" y="3011728"/>
            <a:ext cx="5147945" cy="774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15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학습된 모델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벡터라이저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라벨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인코더를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사전로딩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입력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문장을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전처리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후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벡터화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, predict_proba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확률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예측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결과를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주제별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신뢰도로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변환해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JSON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반환</a:t>
            </a:r>
            <a:endParaRPr lang="ko-KR" altLang="en-US" sz="13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92597" y="2970673"/>
            <a:ext cx="1725930" cy="7772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lnSpc>
                <a:spcPct val="150000"/>
              </a:lnSpc>
              <a:buFont typeface="Wingdings"/>
              <a:buChar char="§"/>
            </a:pPr>
            <a:r>
              <a:rPr lang="ko-KR" altLang="en-US" sz="1500" b="1" spc="-150" dirty="0"/>
              <a:t>모델</a:t>
            </a:r>
            <a:r>
              <a:rPr lang="en-US" altLang="ko-KR" sz="1500" b="1" spc="-150" dirty="0"/>
              <a:t>/</a:t>
            </a:r>
            <a:r>
              <a:rPr lang="ko-KR" altLang="en-US" sz="1500" b="1" spc="-150" dirty="0"/>
              <a:t>도구</a:t>
            </a:r>
            <a:r>
              <a:rPr lang="en-US" altLang="ko-KR" sz="1500" b="1" spc="-150" dirty="0"/>
              <a:t> </a:t>
            </a:r>
            <a:r>
              <a:rPr lang="ko-KR" altLang="en-US" sz="1500" b="1" spc="-150" dirty="0"/>
              <a:t>로딩 </a:t>
            </a:r>
            <a:endParaRPr lang="en-US" altLang="ko-KR" sz="1500" b="1" spc="-150" dirty="0"/>
          </a:p>
          <a:p>
            <a:pPr algn="ctr">
              <a:lnSpc>
                <a:spcPct val="150000"/>
              </a:lnSpc>
            </a:pPr>
            <a:r>
              <a:rPr lang="ko-KR" altLang="en-US" sz="1500" b="1" spc="-150" dirty="0"/>
              <a:t>및</a:t>
            </a:r>
            <a:r>
              <a:rPr lang="en-US" altLang="ko-KR" sz="1500" b="1" spc="-150" dirty="0"/>
              <a:t> </a:t>
            </a:r>
            <a:r>
              <a:rPr lang="ko-KR" altLang="en-US" sz="1500" b="1" spc="-150" dirty="0"/>
              <a:t>예측 로직</a:t>
            </a:r>
            <a:endParaRPr lang="ko-KR" altLang="en-US" sz="1500" b="1" spc="-150" dirty="0"/>
          </a:p>
        </p:txBody>
      </p:sp>
      <p:sp>
        <p:nvSpPr>
          <p:cNvPr id="9" name="TextBox 8"/>
          <p:cNvSpPr txBox="1"/>
          <p:nvPr/>
        </p:nvSpPr>
        <p:spPr>
          <a:xfrm>
            <a:off x="5198563" y="4270207"/>
            <a:ext cx="1512570" cy="7772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lnSpc>
                <a:spcPct val="150000"/>
              </a:lnSpc>
              <a:buFont typeface="Wingdings"/>
              <a:buChar char="§"/>
            </a:pPr>
            <a:r>
              <a:rPr lang="en-US" altLang="ko-KR" sz="1500" b="1" spc="-150" dirty="0">
                <a:latin typeface="Gulim"/>
                <a:ea typeface="Gulim"/>
                <a:cs typeface="Gulim"/>
              </a:rPr>
              <a:t>JSON </a:t>
            </a:r>
            <a:r>
              <a:rPr lang="ko-KR" altLang="en-US" sz="1500" b="1" spc="-150" dirty="0">
                <a:latin typeface="Gulim"/>
                <a:ea typeface="Gulim"/>
                <a:cs typeface="Gulim"/>
              </a:rPr>
              <a:t>기반 </a:t>
            </a:r>
            <a:endParaRPr lang="en-US" altLang="ko-KR" sz="1500" b="1" spc="-150" dirty="0">
              <a:latin typeface="Gulim"/>
              <a:ea typeface="Gulim"/>
              <a:cs typeface="Gulim"/>
            </a:endParaRPr>
          </a:p>
          <a:p>
            <a:pPr marL="182563" indent="-182563" algn="ctr">
              <a:lnSpc>
                <a:spcPct val="150000"/>
              </a:lnSpc>
              <a:buFont typeface="Wingdings"/>
            </a:pPr>
            <a:r>
              <a:rPr lang="en-US" altLang="ko-KR" sz="1500" b="1" spc="-150" dirty="0">
                <a:latin typeface="Gulim"/>
                <a:ea typeface="Gulim"/>
                <a:cs typeface="Gulim"/>
              </a:rPr>
              <a:t>API </a:t>
            </a:r>
            <a:r>
              <a:rPr lang="ko-KR" altLang="en-US" sz="1500" b="1" spc="-150" dirty="0">
                <a:latin typeface="Gulim"/>
                <a:ea typeface="Gulim"/>
                <a:cs typeface="Gulim"/>
              </a:rPr>
              <a:t>명세설계</a:t>
            </a:r>
            <a:endParaRPr lang="ko-KR" altLang="en-US" sz="1500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91863" y="4295934"/>
            <a:ext cx="5078095" cy="774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15000"/>
              </a:lnSpc>
              <a:buAutoNum type="arabicPeriod"/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{“scores”: {"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주제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1" :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확률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%,"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주제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2" :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확률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%  }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형태로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제공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NumPy float -&gt; python float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변환으로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안정성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확보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en-US" altLang="ko-KR" sz="1300" spc="-150" dirty="0">
                <a:latin typeface="Gulim"/>
                <a:ea typeface="Gulim"/>
                <a:cs typeface="Gulim"/>
              </a:rPr>
              <a:t>API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응답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일관성을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유지해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클라이언트측에서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쉽게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활용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가능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11" name="사각형: 둥근 모서리 10"/>
          <p:cNvSpPr/>
          <p:nvPr/>
        </p:nvSpPr>
        <p:spPr>
          <a:xfrm>
            <a:off x="5074285" y="5382887"/>
            <a:ext cx="6988423" cy="1155460"/>
          </a:xfrm>
          <a:prstGeom prst="roundRect">
            <a:avLst>
              <a:gd name="adj" fmla="val 16667"/>
            </a:avLst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7106042" y="5534305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18962" y="5741668"/>
            <a:ext cx="191135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lnSpc>
                <a:spcPct val="150000"/>
              </a:lnSpc>
              <a:buFont typeface="Wingdings"/>
              <a:buChar char="§"/>
            </a:pPr>
            <a:r>
              <a:rPr lang="en-US" altLang="ko-KR" sz="1600" b="1" spc="-150" dirty="0">
                <a:latin typeface="Gulim"/>
                <a:ea typeface="Gulim"/>
                <a:cs typeface="Gulim"/>
              </a:rPr>
              <a:t>CORS </a:t>
            </a:r>
            <a:r>
              <a:rPr lang="ko-KR" altLang="en-US" sz="1600" b="1" spc="-150" dirty="0">
                <a:latin typeface="Gulim"/>
                <a:ea typeface="Gulim"/>
                <a:cs typeface="Gulim"/>
              </a:rPr>
              <a:t>정책 설정</a:t>
            </a:r>
            <a:endParaRPr lang="en-US" altLang="ko-KR" sz="1600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05950" y="5534072"/>
            <a:ext cx="5114290" cy="982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300" spc="-150" dirty="0" err="1">
                <a:latin typeface="Gulim"/>
                <a:ea typeface="Gulim"/>
                <a:cs typeface="Gulim"/>
              </a:rPr>
              <a:t>Flask_cors</a:t>
            </a:r>
            <a:r>
              <a:rPr lang="ko-KR" altLang="en-US" sz="1300" spc="-150" dirty="0" err="1">
                <a:latin typeface="Gulim"/>
                <a:ea typeface="Gulim"/>
                <a:cs typeface="Gulim"/>
              </a:rPr>
              <a:t>를</a:t>
            </a:r>
            <a:r>
              <a:rPr lang="en-US" altLang="ko-KR" sz="1300" spc="-150" dirty="0" err="1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 err="1">
                <a:latin typeface="Gulim"/>
                <a:ea typeface="Gulim"/>
                <a:cs typeface="Gulim"/>
              </a:rPr>
              <a:t>이용해</a:t>
            </a:r>
            <a:r>
              <a:rPr lang="en-US" altLang="ko-KR" sz="1300" spc="-150" dirty="0" err="1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 err="1">
                <a:latin typeface="Gulim"/>
                <a:ea typeface="Gulim"/>
                <a:cs typeface="Gulim"/>
              </a:rPr>
              <a:t>프론트엔드</a:t>
            </a:r>
            <a:r>
              <a:rPr lang="en-US" altLang="ko-KR" sz="1300" spc="-150" dirty="0" err="1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 err="1">
                <a:latin typeface="Gulim"/>
                <a:ea typeface="Gulim"/>
                <a:cs typeface="Gulim"/>
              </a:rPr>
              <a:t>도메인만</a:t>
            </a:r>
            <a:r>
              <a:rPr lang="en-US" altLang="ko-KR" sz="1300" spc="-150" dirty="0" err="1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 err="1">
                <a:latin typeface="Gulim"/>
                <a:ea typeface="Gulim"/>
                <a:cs typeface="Gulim"/>
              </a:rPr>
              <a:t>허용</a:t>
            </a:r>
            <a:endParaRPr lang="en-US" altLang="ko-KR" sz="1300" spc="-150" dirty="0" err="1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spc="-150" dirty="0">
                <a:latin typeface="Gulim"/>
                <a:ea typeface="Gulim"/>
                <a:cs typeface="Gulim"/>
              </a:rPr>
              <a:t>외부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접근을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제한하면서도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배포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환경에서는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안정적으로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동작</a:t>
            </a:r>
            <a:r>
              <a:rPr lang="en-US" altLang="ko-KR" sz="1300" spc="-15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300" spc="-150" dirty="0">
                <a:latin typeface="Gulim"/>
                <a:ea typeface="Gulim"/>
                <a:cs typeface="Gulim"/>
              </a:rPr>
              <a:t>보장</a:t>
            </a:r>
            <a:endParaRPr lang="en-US" altLang="ko-KR" sz="1300" spc="-150" dirty="0">
              <a:latin typeface="Gulim"/>
              <a:ea typeface="Gulim"/>
              <a:cs typeface="Gulim"/>
            </a:endParaRPr>
          </a:p>
        </p:txBody>
      </p:sp>
      <p:pic>
        <p:nvPicPr>
          <p:cNvPr id="39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178560"/>
            <a:ext cx="4902200" cy="520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5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0E3A9C6-73EB-FF16-2261-8B059B08FFC8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CC7A98-EB85-9746-56F1-65FAECE0342E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2-6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C5AA06-6837-99B6-A91F-593B948F540A}"/>
              </a:ext>
            </a:extLst>
          </p:cNvPr>
          <p:cNvSpPr txBox="1"/>
          <p:nvPr/>
        </p:nvSpPr>
        <p:spPr>
          <a:xfrm>
            <a:off x="686355" y="207408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2400" spc="300" dirty="0" err="1">
                <a:solidFill>
                  <a:schemeClr val="bg1"/>
                </a:solidFill>
                <a:latin typeface="+mj-ea"/>
                <a:ea typeface="+mj-ea"/>
              </a:rPr>
              <a:t>백엔드</a:t>
            </a:r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 구성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3DBC0CE-6718-FCEE-D23D-81DA6D71A8C9}"/>
              </a:ext>
            </a:extLst>
          </p:cNvPr>
          <p:cNvSpPr/>
          <p:nvPr/>
        </p:nvSpPr>
        <p:spPr>
          <a:xfrm>
            <a:off x="4273730" y="1099169"/>
            <a:ext cx="2336541" cy="486944"/>
          </a:xfrm>
          <a:prstGeom prst="roundRect">
            <a:avLst>
              <a:gd name="adj" fmla="val 30226"/>
            </a:avLst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598C561-BB67-B918-B377-A1F3828AD63A}"/>
              </a:ext>
            </a:extLst>
          </p:cNvPr>
          <p:cNvSpPr/>
          <p:nvPr/>
        </p:nvSpPr>
        <p:spPr>
          <a:xfrm>
            <a:off x="222713" y="1679431"/>
            <a:ext cx="6387558" cy="1155460"/>
          </a:xfrm>
          <a:prstGeom prst="roundRect">
            <a:avLst/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1873470" y="1830849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0860D62-BB1D-6D4A-3344-516017BA6B59}"/>
              </a:ext>
            </a:extLst>
          </p:cNvPr>
          <p:cNvSpPr/>
          <p:nvPr/>
        </p:nvSpPr>
        <p:spPr>
          <a:xfrm>
            <a:off x="222713" y="2986309"/>
            <a:ext cx="6387558" cy="1155460"/>
          </a:xfrm>
          <a:prstGeom prst="roundRect">
            <a:avLst/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2063970" y="3137727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9808A65-FC56-A0E3-62F5-CDD46023E3B3}"/>
              </a:ext>
            </a:extLst>
          </p:cNvPr>
          <p:cNvSpPr/>
          <p:nvPr/>
        </p:nvSpPr>
        <p:spPr>
          <a:xfrm>
            <a:off x="222713" y="4293187"/>
            <a:ext cx="6387558" cy="1155460"/>
          </a:xfrm>
          <a:prstGeom prst="roundRect">
            <a:avLst/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1873470" y="4444605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26289" y="1157975"/>
            <a:ext cx="1492250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ko-KR" b="1" spc="-150" dirty="0">
                <a:solidFill>
                  <a:schemeClr val="bg1"/>
                </a:solidFill>
                <a:latin typeface="Gulim"/>
                <a:ea typeface="Gulim"/>
                <a:cs typeface="Gulim"/>
              </a:rPr>
              <a:t>Spring Boot</a:t>
            </a:r>
            <a:endParaRPr lang="en-US" altLang="ko-KR" b="1" spc="-150" dirty="0">
              <a:solidFill>
                <a:schemeClr val="bg1"/>
              </a:solidFill>
              <a:latin typeface="Gulim"/>
              <a:ea typeface="Gulim"/>
              <a:cs typeface="Gulim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6247" y="2057105"/>
            <a:ext cx="1326515" cy="3810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>
              <a:buFont typeface="Wingdings"/>
              <a:buChar char="§"/>
            </a:pPr>
            <a:r>
              <a:rPr lang="en-US" altLang="ko-KR" sz="1900" b="1" spc="-150">
                <a:latin typeface="Gulim"/>
                <a:ea typeface="Gulim"/>
                <a:cs typeface="Gulim"/>
              </a:rPr>
              <a:t>API </a:t>
            </a:r>
            <a:r>
              <a:rPr lang="ko-KR" altLang="en-US" sz="1900" b="1" spc="-150" dirty="0">
                <a:latin typeface="Gulim"/>
                <a:ea typeface="Gulim"/>
                <a:cs typeface="Gulim"/>
              </a:rPr>
              <a:t>연동</a:t>
            </a:r>
            <a:endParaRPr lang="ko-KR" altLang="en-US" sz="1900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23889" y="3234443"/>
            <a:ext cx="1449705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b="1" spc="-150" dirty="0">
                <a:latin typeface="Gulim"/>
                <a:ea typeface="Gulim"/>
                <a:cs typeface="Gulim"/>
              </a:rPr>
              <a:t>응답 처리 </a:t>
            </a:r>
            <a:endParaRPr lang="en-US" altLang="ko-KR" b="1" spc="-150" dirty="0">
              <a:latin typeface="Gulim"/>
              <a:ea typeface="Gulim"/>
              <a:cs typeface="Gulim"/>
            </a:endParaRPr>
          </a:p>
          <a:p>
            <a:pPr marL="182563" indent="-182563" algn="ctr">
              <a:buFont typeface="Wingdings"/>
            </a:pPr>
            <a:r>
              <a:rPr lang="ko-KR" altLang="en-US" b="1" spc="-150" dirty="0">
                <a:latin typeface="Gulim"/>
                <a:ea typeface="Gulim"/>
                <a:cs typeface="Gulim"/>
              </a:rPr>
              <a:t>로직</a:t>
            </a:r>
            <a:endParaRPr lang="ko-KR" altLang="en-US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2370" y="1646519"/>
            <a:ext cx="464185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spc="-150" dirty="0">
                <a:latin typeface="Gulim"/>
                <a:ea typeface="Gulim"/>
                <a:cs typeface="Gulim"/>
              </a:rPr>
              <a:t>Spring Boot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에서 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Flask API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호출 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ko-KR" sz="1200" dirty="0">
                <a:latin typeface="Gulim"/>
                <a:ea typeface="Gulim"/>
                <a:cs typeface="Gulim"/>
              </a:rPr>
              <a:t>	(</a:t>
            </a:r>
            <a:r>
              <a:rPr lang="en-US" altLang="ko-KR" sz="1200" dirty="0" err="1">
                <a:latin typeface="Gulim"/>
                <a:ea typeface="Gulim"/>
                <a:cs typeface="Gulim"/>
              </a:rPr>
              <a:t>RestTemplate</a:t>
            </a:r>
            <a:r>
              <a:rPr lang="en-US" altLang="ko-KR" sz="1200" dirty="0">
                <a:latin typeface="Gulim"/>
                <a:ea typeface="Gulim"/>
                <a:cs typeface="Gulim"/>
              </a:rPr>
              <a:t> / </a:t>
            </a:r>
            <a:r>
              <a:rPr lang="en-US" altLang="ko-KR" sz="1200" dirty="0" err="1">
                <a:latin typeface="Gulim"/>
                <a:ea typeface="Gulim"/>
                <a:cs typeface="Gulim"/>
              </a:rPr>
              <a:t>WebClient</a:t>
            </a:r>
            <a:r>
              <a:rPr lang="en-US" altLang="ko-KR" sz="1200" dirty="0"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latin typeface="Gulim"/>
                <a:ea typeface="Gulim"/>
                <a:cs typeface="Gulim"/>
              </a:rPr>
              <a:t>활용</a:t>
            </a:r>
            <a:r>
              <a:rPr lang="en-US" altLang="ko-KR" sz="1200" dirty="0">
                <a:latin typeface="Gulim"/>
                <a:ea typeface="Gulim"/>
                <a:cs typeface="Gulim"/>
              </a:rPr>
              <a:t>)</a:t>
            </a:r>
            <a:endParaRPr lang="en-US" altLang="ko-KR" sz="12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ko-KR" sz="1200" spc="-150" dirty="0">
                <a:latin typeface="Gulim"/>
                <a:ea typeface="Gulim"/>
                <a:cs typeface="Gulim"/>
              </a:rPr>
              <a:t>2. 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사용자 입력 데이터를 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Flask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로 전달 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-&gt;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예측결과 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(JSON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변환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)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ko-KR" sz="1200" spc="-150" dirty="0">
                <a:latin typeface="Gulim"/>
                <a:ea typeface="Gulim"/>
                <a:cs typeface="Gulim"/>
              </a:rPr>
              <a:t>3. 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반환된 확률 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/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주제를 </a:t>
            </a:r>
            <a:r>
              <a:rPr lang="ko-KR" altLang="en-US" sz="1200" spc="-150" dirty="0" err="1">
                <a:latin typeface="Gulim"/>
                <a:ea typeface="Gulim"/>
                <a:cs typeface="Gulim"/>
              </a:rPr>
              <a:t>프론트엔드로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 전달</a:t>
            </a:r>
            <a:endParaRPr lang="ko-KR" altLang="en-US" sz="12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89601" y="3117100"/>
            <a:ext cx="4299585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spc="-150" dirty="0" err="1">
                <a:latin typeface="Gulim"/>
                <a:ea typeface="Gulim"/>
                <a:cs typeface="Gulim"/>
              </a:rPr>
              <a:t>getResponse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()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메소드에서 사용자 입력 메시지 처리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spc="-150" dirty="0">
                <a:latin typeface="Gulim"/>
                <a:ea typeface="Gulim"/>
                <a:cs typeface="Gulim"/>
              </a:rPr>
              <a:t>Flask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모델로부터 받은 주제별 </a:t>
            </a:r>
            <a:r>
              <a:rPr lang="ko-KR" altLang="en-US" sz="1200" spc="-150" dirty="0" err="1">
                <a:latin typeface="Gulim"/>
                <a:ea typeface="Gulim"/>
                <a:cs typeface="Gulim"/>
              </a:rPr>
              <a:t>확률값을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 해석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200" spc="-150" dirty="0">
                <a:latin typeface="Gulim"/>
                <a:ea typeface="Gulim"/>
                <a:cs typeface="Gulim"/>
              </a:rPr>
              <a:t>사용자 대화 흐름에 맞게 메시지 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+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추천 주제 조합</a:t>
            </a:r>
            <a:endParaRPr lang="ko-KR" altLang="en-US" sz="12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7A91013-7D8A-FC46-8AFB-BBB662D77E82}"/>
              </a:ext>
            </a:extLst>
          </p:cNvPr>
          <p:cNvSpPr/>
          <p:nvPr/>
        </p:nvSpPr>
        <p:spPr>
          <a:xfrm>
            <a:off x="222713" y="5562811"/>
            <a:ext cx="6387558" cy="1155460"/>
          </a:xfrm>
          <a:prstGeom prst="roundRect">
            <a:avLst/>
          </a:prstGeom>
          <a:solidFill>
            <a:srgbClr val="C7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1968720" y="5714229"/>
            <a:ext cx="0" cy="852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7449" y="5942389"/>
            <a:ext cx="148590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sz="2000" b="1" spc="-150" dirty="0">
                <a:latin typeface="Gulim"/>
                <a:ea typeface="Gulim"/>
                <a:cs typeface="Gulim"/>
              </a:rPr>
              <a:t>계획 수정</a:t>
            </a:r>
            <a:endParaRPr lang="ko-KR" altLang="en-US" sz="2000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29895" y="5694365"/>
            <a:ext cx="461899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 spc="-150" dirty="0" err="1">
                <a:latin typeface="Gulim"/>
                <a:ea typeface="Gulim"/>
                <a:cs typeface="Gulim"/>
              </a:rPr>
              <a:t>refinePlan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()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메소드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spc="-150" dirty="0">
                <a:latin typeface="Gulim"/>
                <a:ea typeface="Gulim"/>
                <a:cs typeface="Gulim"/>
              </a:rPr>
              <a:t>기존 계획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(</a:t>
            </a:r>
            <a:r>
              <a:rPr lang="en-US" altLang="ko-KR" sz="1200" spc="-150" dirty="0" err="1">
                <a:latin typeface="Gulim"/>
                <a:ea typeface="Gulim"/>
                <a:cs typeface="Gulim"/>
              </a:rPr>
              <a:t>originalPlan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) +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새로운 요청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(</a:t>
            </a:r>
            <a:r>
              <a:rPr lang="en-US" altLang="ko-KR" sz="1200" spc="-150" dirty="0" err="1">
                <a:latin typeface="Gulim"/>
                <a:ea typeface="Gulim"/>
                <a:cs typeface="Gulim"/>
              </a:rPr>
              <a:t>uesrtRequest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)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 반영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spc="-150" dirty="0">
                <a:latin typeface="Gulim"/>
                <a:ea typeface="Gulim"/>
                <a:cs typeface="Gulim"/>
              </a:rPr>
              <a:t>기존 구조를 유지하면서 변경사항 반영</a:t>
            </a:r>
            <a:endParaRPr lang="ko-KR" altLang="en-US" sz="1200" spc="-150" dirty="0">
              <a:latin typeface="Gulim"/>
              <a:ea typeface="Gulim"/>
              <a:cs typeface="Guli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657" y="4670861"/>
            <a:ext cx="148590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82563" indent="-182563" algn="ctr">
              <a:buFont typeface="Wingdings"/>
              <a:buChar char="§"/>
            </a:pPr>
            <a:r>
              <a:rPr lang="ko-KR" altLang="en-US" sz="2000" b="1" spc="-150" dirty="0">
                <a:latin typeface="Gulim"/>
                <a:ea typeface="Gulim"/>
                <a:cs typeface="Gulim"/>
              </a:rPr>
              <a:t>계획 생성</a:t>
            </a:r>
            <a:endParaRPr lang="en-US" altLang="ko-KR" sz="2000" b="1" spc="-150" dirty="0">
              <a:latin typeface="Gulim"/>
              <a:ea typeface="Gulim"/>
              <a:cs typeface="Gulim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31113" y="4421372"/>
            <a:ext cx="474980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ko-KR" sz="1200" spc="-150" dirty="0" err="1">
                <a:latin typeface="Gulim"/>
                <a:ea typeface="Gulim"/>
                <a:cs typeface="Gulim"/>
              </a:rPr>
              <a:t>generatePlan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()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메소드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lvl="0"/>
            <a:r>
              <a:rPr lang="en-US" altLang="ko-KR" sz="1200" spc="-150" dirty="0">
                <a:latin typeface="Gulim"/>
                <a:ea typeface="Gulim"/>
                <a:cs typeface="Gulim"/>
              </a:rPr>
              <a:t>      -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선택된 주제와 사용자 답변을 분석해 맞춤형 주간계획 생성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lvl="0"/>
            <a:r>
              <a:rPr lang="en-US" altLang="ko-KR" sz="1200" spc="-150" dirty="0">
                <a:latin typeface="Gulim"/>
                <a:ea typeface="Gulim"/>
                <a:cs typeface="Gulim"/>
              </a:rPr>
              <a:t>      - 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요일별 구체적 액션 제안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  <a:p>
            <a:pPr lvl="0"/>
            <a:r>
              <a:rPr lang="en-US" altLang="ko-KR" sz="1200" spc="-150" dirty="0">
                <a:latin typeface="Gulim"/>
                <a:ea typeface="Gulim"/>
                <a:cs typeface="Gulim"/>
              </a:rPr>
              <a:t>2.    “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계획 설계 전문가</a:t>
            </a:r>
            <a:r>
              <a:rPr lang="en-US" altLang="ko-KR" sz="1200" spc="-150" dirty="0">
                <a:latin typeface="Gulim"/>
                <a:ea typeface="Gulim"/>
                <a:cs typeface="Gulim"/>
              </a:rPr>
              <a:t>”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 프롬프트를 통해 일관된 </a:t>
            </a:r>
            <a:r>
              <a:rPr lang="ko-KR" altLang="en-US" sz="1200" spc="-150" dirty="0" err="1">
                <a:latin typeface="Gulim"/>
                <a:ea typeface="Gulim"/>
                <a:cs typeface="Gulim"/>
              </a:rPr>
              <a:t>포멧</a:t>
            </a:r>
            <a:r>
              <a:rPr lang="ko-KR" altLang="en-US" sz="1200" spc="-150" dirty="0">
                <a:latin typeface="Gulim"/>
                <a:ea typeface="Gulim"/>
                <a:cs typeface="Gulim"/>
              </a:rPr>
              <a:t> 출력</a:t>
            </a:r>
            <a:endParaRPr lang="en-US" altLang="ko-KR" sz="1200" spc="-150" dirty="0">
              <a:latin typeface="Gulim"/>
              <a:ea typeface="Gulim"/>
              <a:cs typeface="Gulim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12E443F-245F-4D39-3294-8ABBFE430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830" y="267265"/>
            <a:ext cx="5437512" cy="330676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F396FD1-1C53-7412-DA09-DDA18C90C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176" y="3667797"/>
            <a:ext cx="5393166" cy="304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22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30930" y="3741821"/>
            <a:ext cx="5330825" cy="14325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ko-KR" sz="8800" dirty="0">
                <a:solidFill>
                  <a:schemeClr val="bg1"/>
                </a:solidFill>
                <a:latin typeface="+mj-ea"/>
                <a:ea typeface="+mj-ea"/>
              </a:rPr>
              <a:t>#</a:t>
            </a:r>
            <a:r>
              <a:rPr lang="ko-KR" altLang="en-US" sz="8800" dirty="0">
                <a:solidFill>
                  <a:schemeClr val="bg1"/>
                </a:solidFill>
                <a:latin typeface="+mj-ea"/>
                <a:ea typeface="+mj-ea"/>
              </a:rPr>
              <a:t>기술시연</a:t>
            </a:r>
            <a:endParaRPr lang="ko-KR" altLang="en-US" sz="8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83986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빛, 다채로움, 보라색, 바이올렛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E3B735-3D35-2FAC-4F49-B5CCEDED8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" y="-6920"/>
            <a:ext cx="12205840" cy="6864920"/>
          </a:xfrm>
          <a:prstGeom prst="rect">
            <a:avLst/>
          </a:prstGeom>
        </p:spPr>
      </p:pic>
      <p:sp>
        <p:nvSpPr>
          <p:cNvPr id="3" name="직사각형 1"/>
          <p:cNvSpPr/>
          <p:nvPr/>
        </p:nvSpPr>
        <p:spPr>
          <a:xfrm>
            <a:off x="-3061" y="-12700"/>
            <a:ext cx="12192000" cy="686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자유형: 도형 3"/>
          <p:cNvSpPr/>
          <p:nvPr/>
        </p:nvSpPr>
        <p:spPr>
          <a:xfrm>
            <a:off x="10805031" y="2430018"/>
            <a:ext cx="482483" cy="577504"/>
          </a:xfrm>
          <a:custGeom>
            <a:avLst/>
            <a:gdLst/>
            <a:ahLst/>
            <a:cxnLst/>
            <a:rect l="l" t="t" r="r" b="b"/>
            <a:pathLst>
              <a:path w="482483" h="577504">
                <a:moveTo>
                  <a:pt x="241242" y="577505"/>
                </a:moveTo>
                <a:cubicBezTo>
                  <a:pt x="276583" y="451142"/>
                  <a:pt x="364423" y="346003"/>
                  <a:pt x="482484" y="288752"/>
                </a:cubicBezTo>
                <a:cubicBezTo>
                  <a:pt x="364273" y="231689"/>
                  <a:pt x="276370" y="126476"/>
                  <a:pt x="241242" y="0"/>
                </a:cubicBezTo>
                <a:cubicBezTo>
                  <a:pt x="205893" y="126360"/>
                  <a:pt x="118058" y="231493"/>
                  <a:pt x="0" y="288752"/>
                </a:cubicBezTo>
                <a:cubicBezTo>
                  <a:pt x="118061" y="346003"/>
                  <a:pt x="205901" y="451142"/>
                  <a:pt x="241242" y="57750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5" name="자유형: 도형 4"/>
          <p:cNvSpPr/>
          <p:nvPr/>
        </p:nvSpPr>
        <p:spPr>
          <a:xfrm>
            <a:off x="1082131" y="2206199"/>
            <a:ext cx="332062" cy="397339"/>
          </a:xfrm>
          <a:custGeom>
            <a:avLst/>
            <a:gdLst/>
            <a:ahLst/>
            <a:cxnLst/>
            <a:rect l="l" t="t" r="r" b="b"/>
            <a:pathLst>
              <a:path w="332062" h="397339">
                <a:moveTo>
                  <a:pt x="165974" y="0"/>
                </a:moveTo>
                <a:cubicBezTo>
                  <a:pt x="141671" y="86946"/>
                  <a:pt x="81236" y="159288"/>
                  <a:pt x="0" y="198670"/>
                </a:cubicBezTo>
                <a:cubicBezTo>
                  <a:pt x="81236" y="238052"/>
                  <a:pt x="141671" y="310393"/>
                  <a:pt x="165974" y="397340"/>
                </a:cubicBezTo>
                <a:cubicBezTo>
                  <a:pt x="190329" y="310388"/>
                  <a:pt x="250804" y="238052"/>
                  <a:pt x="332062" y="198670"/>
                </a:cubicBezTo>
                <a:cubicBezTo>
                  <a:pt x="250690" y="159433"/>
                  <a:pt x="190170" y="87037"/>
                  <a:pt x="16597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6" name="자유형: 도형 5"/>
          <p:cNvSpPr/>
          <p:nvPr/>
        </p:nvSpPr>
        <p:spPr>
          <a:xfrm>
            <a:off x="10437335" y="2353835"/>
            <a:ext cx="203778" cy="243909"/>
          </a:xfrm>
          <a:custGeom>
            <a:avLst/>
            <a:gdLst/>
            <a:ahLst/>
            <a:cxnLst/>
            <a:rect l="l" t="t" r="r" b="b"/>
            <a:pathLst>
              <a:path w="203778" h="243909">
                <a:moveTo>
                  <a:pt x="101889" y="243910"/>
                </a:moveTo>
                <a:cubicBezTo>
                  <a:pt x="116812" y="190516"/>
                  <a:pt x="153907" y="146085"/>
                  <a:pt x="203778" y="121870"/>
                </a:cubicBezTo>
                <a:cubicBezTo>
                  <a:pt x="153870" y="97788"/>
                  <a:pt x="116747" y="53385"/>
                  <a:pt x="101889" y="0"/>
                </a:cubicBezTo>
                <a:cubicBezTo>
                  <a:pt x="86966" y="53391"/>
                  <a:pt x="49872" y="97825"/>
                  <a:pt x="0" y="122040"/>
                </a:cubicBezTo>
                <a:cubicBezTo>
                  <a:pt x="49832" y="146218"/>
                  <a:pt x="86924" y="190581"/>
                  <a:pt x="101889" y="24391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7" name="자유형: 도형 6"/>
          <p:cNvSpPr/>
          <p:nvPr/>
        </p:nvSpPr>
        <p:spPr>
          <a:xfrm rot="1338228">
            <a:off x="1189772" y="1399305"/>
            <a:ext cx="1317695" cy="943492"/>
          </a:xfrm>
          <a:custGeom>
            <a:avLst/>
            <a:gdLst/>
            <a:ahLst/>
            <a:cxnLst/>
            <a:rect l="l" t="t" r="r" b="b"/>
            <a:pathLst>
              <a:path w="2597861" h="1860112">
                <a:moveTo>
                  <a:pt x="2463050" y="1050788"/>
                </a:moveTo>
                <a:cubicBezTo>
                  <a:pt x="2415037" y="1050949"/>
                  <a:pt x="2370760" y="1076708"/>
                  <a:pt x="2346885" y="1118364"/>
                </a:cubicBezTo>
                <a:lnTo>
                  <a:pt x="1624323" y="1054619"/>
                </a:lnTo>
                <a:cubicBezTo>
                  <a:pt x="1601865" y="991059"/>
                  <a:pt x="1535518" y="954242"/>
                  <a:pt x="1469701" y="968822"/>
                </a:cubicBezTo>
                <a:lnTo>
                  <a:pt x="1240067" y="665879"/>
                </a:lnTo>
                <a:cubicBezTo>
                  <a:pt x="1282327" y="604731"/>
                  <a:pt x="1267015" y="520904"/>
                  <a:pt x="1205868" y="478647"/>
                </a:cubicBezTo>
                <a:cubicBezTo>
                  <a:pt x="1183313" y="463060"/>
                  <a:pt x="1156538" y="454733"/>
                  <a:pt x="1129124" y="454778"/>
                </a:cubicBezTo>
                <a:cubicBezTo>
                  <a:pt x="1114426" y="454942"/>
                  <a:pt x="1099855" y="457551"/>
                  <a:pt x="1086013" y="462498"/>
                </a:cubicBezTo>
                <a:lnTo>
                  <a:pt x="915157" y="236979"/>
                </a:lnTo>
                <a:cubicBezTo>
                  <a:pt x="940076" y="167218"/>
                  <a:pt x="903728" y="90463"/>
                  <a:pt x="833966" y="65544"/>
                </a:cubicBezTo>
                <a:cubicBezTo>
                  <a:pt x="782775" y="47258"/>
                  <a:pt x="725609" y="61676"/>
                  <a:pt x="689212" y="102054"/>
                </a:cubicBezTo>
                <a:lnTo>
                  <a:pt x="258752" y="80541"/>
                </a:lnTo>
                <a:cubicBezTo>
                  <a:pt x="228588" y="12281"/>
                  <a:pt x="148799" y="-18601"/>
                  <a:pt x="80541" y="11565"/>
                </a:cubicBezTo>
                <a:cubicBezTo>
                  <a:pt x="12282" y="41729"/>
                  <a:pt x="-18600" y="121518"/>
                  <a:pt x="11564" y="189775"/>
                </a:cubicBezTo>
                <a:cubicBezTo>
                  <a:pt x="41728" y="258035"/>
                  <a:pt x="121516" y="288917"/>
                  <a:pt x="189775" y="258750"/>
                </a:cubicBezTo>
                <a:cubicBezTo>
                  <a:pt x="219064" y="245808"/>
                  <a:pt x="242804" y="222885"/>
                  <a:pt x="256765" y="194066"/>
                </a:cubicBezTo>
                <a:lnTo>
                  <a:pt x="656091" y="213933"/>
                </a:lnTo>
                <a:cubicBezTo>
                  <a:pt x="667157" y="286561"/>
                  <a:pt x="735003" y="336470"/>
                  <a:pt x="807631" y="325404"/>
                </a:cubicBezTo>
                <a:cubicBezTo>
                  <a:pt x="816838" y="324002"/>
                  <a:pt x="825872" y="321638"/>
                  <a:pt x="834582" y="318349"/>
                </a:cubicBezTo>
                <a:lnTo>
                  <a:pt x="1003678" y="541512"/>
                </a:lnTo>
                <a:cubicBezTo>
                  <a:pt x="997616" y="556823"/>
                  <a:pt x="994440" y="573123"/>
                  <a:pt x="994313" y="589590"/>
                </a:cubicBezTo>
                <a:cubicBezTo>
                  <a:pt x="994406" y="664006"/>
                  <a:pt x="1054708" y="724308"/>
                  <a:pt x="1129124" y="724401"/>
                </a:cubicBezTo>
                <a:cubicBezTo>
                  <a:pt x="1133211" y="724401"/>
                  <a:pt x="1137071" y="723550"/>
                  <a:pt x="1141044" y="723209"/>
                </a:cubicBezTo>
                <a:lnTo>
                  <a:pt x="1379448" y="1037846"/>
                </a:lnTo>
                <a:cubicBezTo>
                  <a:pt x="1368990" y="1057068"/>
                  <a:pt x="1363433" y="1078573"/>
                  <a:pt x="1363271" y="1100455"/>
                </a:cubicBezTo>
                <a:cubicBezTo>
                  <a:pt x="1363418" y="1152958"/>
                  <a:pt x="1394059" y="1200590"/>
                  <a:pt x="1441774" y="1222495"/>
                </a:cubicBezTo>
                <a:lnTo>
                  <a:pt x="1461187" y="1494105"/>
                </a:lnTo>
                <a:cubicBezTo>
                  <a:pt x="1396154" y="1529775"/>
                  <a:pt x="1372353" y="1611411"/>
                  <a:pt x="1408023" y="1676444"/>
                </a:cubicBezTo>
                <a:cubicBezTo>
                  <a:pt x="1443695" y="1741475"/>
                  <a:pt x="1525329" y="1765278"/>
                  <a:pt x="1590362" y="1729606"/>
                </a:cubicBezTo>
                <a:cubicBezTo>
                  <a:pt x="1606284" y="1720873"/>
                  <a:pt x="1620270" y="1708998"/>
                  <a:pt x="1631475" y="1694705"/>
                </a:cubicBezTo>
                <a:lnTo>
                  <a:pt x="2066335" y="1798240"/>
                </a:lnTo>
                <a:cubicBezTo>
                  <a:pt x="2106455" y="1860756"/>
                  <a:pt x="2189658" y="1878911"/>
                  <a:pt x="2252174" y="1838792"/>
                </a:cubicBezTo>
                <a:cubicBezTo>
                  <a:pt x="2314689" y="1798669"/>
                  <a:pt x="2332845" y="1715469"/>
                  <a:pt x="2292722" y="1652953"/>
                </a:cubicBezTo>
                <a:cubicBezTo>
                  <a:pt x="2285553" y="1641779"/>
                  <a:pt x="2276766" y="1631727"/>
                  <a:pt x="2266651" y="1623127"/>
                </a:cubicBezTo>
                <a:lnTo>
                  <a:pt x="2449200" y="1318992"/>
                </a:lnTo>
                <a:cubicBezTo>
                  <a:pt x="2453790" y="1319710"/>
                  <a:pt x="2458413" y="1320184"/>
                  <a:pt x="2463050" y="1320411"/>
                </a:cubicBezTo>
                <a:cubicBezTo>
                  <a:pt x="2537506" y="1320411"/>
                  <a:pt x="2597862" y="1260055"/>
                  <a:pt x="2597862" y="1185599"/>
                </a:cubicBezTo>
                <a:cubicBezTo>
                  <a:pt x="2597862" y="1111143"/>
                  <a:pt x="2537506" y="1050788"/>
                  <a:pt x="2463050" y="1050788"/>
                </a:cubicBezTo>
                <a:close/>
                <a:moveTo>
                  <a:pt x="2053194" y="1678386"/>
                </a:moveTo>
                <a:lnTo>
                  <a:pt x="1658693" y="1584415"/>
                </a:lnTo>
                <a:cubicBezTo>
                  <a:pt x="1649319" y="1539317"/>
                  <a:pt x="1617591" y="1502114"/>
                  <a:pt x="1574542" y="1485732"/>
                </a:cubicBezTo>
                <a:lnTo>
                  <a:pt x="1555697" y="1221786"/>
                </a:lnTo>
                <a:cubicBezTo>
                  <a:pt x="1580286" y="1210067"/>
                  <a:pt x="1600741" y="1191165"/>
                  <a:pt x="1614361" y="1167577"/>
                </a:cubicBezTo>
                <a:lnTo>
                  <a:pt x="2336952" y="1231322"/>
                </a:lnTo>
                <a:cubicBezTo>
                  <a:pt x="2340593" y="1241811"/>
                  <a:pt x="2345531" y="1251802"/>
                  <a:pt x="2351653" y="1261065"/>
                </a:cubicBezTo>
                <a:lnTo>
                  <a:pt x="2152586" y="1592730"/>
                </a:lnTo>
                <a:cubicBezTo>
                  <a:pt x="2106858" y="1602148"/>
                  <a:pt x="2069258" y="1634550"/>
                  <a:pt x="2053194" y="167838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1206190" y="2196790"/>
            <a:ext cx="9779620" cy="2464419"/>
          </a:xfrm>
          <a:prstGeom prst="ellipse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503482" y="2756870"/>
            <a:ext cx="1235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4D4D4D"/>
                </a:solidFill>
                <a:latin typeface="EBS훈민정음 R" panose="02020503020101020101" pitchFamily="18" charset="-127"/>
                <a:ea typeface="EBS훈민정음 R" panose="02020503020101020101" pitchFamily="18" charset="-127"/>
              </a:rPr>
              <a:t>Part 3</a:t>
            </a:r>
            <a:endParaRPr lang="ko-KR" altLang="en-US" sz="2800" dirty="0">
              <a:solidFill>
                <a:srgbClr val="4D4D4D"/>
              </a:solidFill>
              <a:latin typeface="EBS훈민정음 R" panose="02020503020101020101" pitchFamily="18" charset="-127"/>
              <a:ea typeface="EBS훈민정음 R" panose="020205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7838" y="3375029"/>
            <a:ext cx="3368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spc="300" dirty="0">
                <a:solidFill>
                  <a:srgbClr val="4D4D4D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</a:rPr>
              <a:t>실행 및 성과</a:t>
            </a:r>
          </a:p>
        </p:txBody>
      </p:sp>
    </p:spTree>
    <p:extLst>
      <p:ext uri="{BB962C8B-B14F-4D97-AF65-F5344CB8AC3E}">
        <p14:creationId xmlns:p14="http://schemas.microsoft.com/office/powerpoint/2010/main" val="37479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DEFAC70-9B93-638B-1F61-7D50EB240694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ED307B-E642-2F9A-5FF9-625EAA75B262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3-1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365A0-3F86-E022-2B6F-6DAB399ABEDE}"/>
              </a:ext>
            </a:extLst>
          </p:cNvPr>
          <p:cNvSpPr txBox="1"/>
          <p:nvPr/>
        </p:nvSpPr>
        <p:spPr>
          <a:xfrm>
            <a:off x="686355" y="207408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기대효과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0FDBBB1-A184-B227-F281-0F27DAF64DBE}"/>
              </a:ext>
            </a:extLst>
          </p:cNvPr>
          <p:cNvSpPr/>
          <p:nvPr/>
        </p:nvSpPr>
        <p:spPr>
          <a:xfrm flipH="1">
            <a:off x="4035425" y="3980528"/>
            <a:ext cx="4121149" cy="1016560"/>
          </a:xfrm>
          <a:prstGeom prst="roundRect">
            <a:avLst>
              <a:gd name="adj" fmla="val 50000"/>
            </a:avLst>
          </a:prstGeom>
          <a:solidFill>
            <a:srgbClr val="BBAAF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9C638ED-1007-EB5B-995F-61509994C498}"/>
              </a:ext>
            </a:extLst>
          </p:cNvPr>
          <p:cNvSpPr/>
          <p:nvPr/>
        </p:nvSpPr>
        <p:spPr>
          <a:xfrm rot="3600000" flipH="1">
            <a:off x="4840423" y="2615338"/>
            <a:ext cx="4121149" cy="101656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0C3FFD3-2750-12C5-7064-D06B22D09C71}"/>
              </a:ext>
            </a:extLst>
          </p:cNvPr>
          <p:cNvSpPr/>
          <p:nvPr/>
        </p:nvSpPr>
        <p:spPr>
          <a:xfrm rot="18000000" flipH="1" flipV="1">
            <a:off x="3272485" y="2631918"/>
            <a:ext cx="4121149" cy="1016560"/>
          </a:xfrm>
          <a:prstGeom prst="roundRect">
            <a:avLst>
              <a:gd name="adj" fmla="val 50000"/>
            </a:avLst>
          </a:prstGeom>
          <a:solidFill>
            <a:srgbClr val="C7B9FF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C574606-6211-71D4-EE61-B08D75A8EDF9}"/>
              </a:ext>
            </a:extLst>
          </p:cNvPr>
          <p:cNvGrpSpPr/>
          <p:nvPr/>
        </p:nvGrpSpPr>
        <p:grpSpPr>
          <a:xfrm>
            <a:off x="4087294" y="5107889"/>
            <a:ext cx="1622560" cy="1354217"/>
            <a:chOff x="702526" y="2544738"/>
            <a:chExt cx="1622560" cy="13542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39A11CC-0F3F-405A-E6A7-533E27CFE10A}"/>
                </a:ext>
              </a:extLst>
            </p:cNvPr>
            <p:cNvSpPr txBox="1"/>
            <p:nvPr/>
          </p:nvSpPr>
          <p:spPr>
            <a:xfrm>
              <a:off x="702526" y="3252624"/>
              <a:ext cx="16225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맞춤형</a:t>
              </a:r>
              <a:endParaRPr lang="en-US" altLang="ko-KR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집중관리 지원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CC6921D-7D5D-2960-72F5-84FBF02479D5}"/>
                </a:ext>
              </a:extLst>
            </p:cNvPr>
            <p:cNvSpPr txBox="1"/>
            <p:nvPr/>
          </p:nvSpPr>
          <p:spPr>
            <a:xfrm>
              <a:off x="1546027" y="2544738"/>
              <a:ext cx="495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4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 rot="0">
            <a:off x="1104900" y="1555949"/>
            <a:ext cx="4100193" cy="1941399"/>
            <a:chOff x="1547929" y="1555949"/>
            <a:chExt cx="3270586" cy="1941399"/>
          </a:xfrm>
        </p:grpSpPr>
        <p:grpSp>
          <p:nvGrpSpPr>
            <p:cNvPr id="29" name="그룹 28"/>
            <p:cNvGrpSpPr/>
            <p:nvPr/>
          </p:nvGrpSpPr>
          <p:grpSpPr>
            <a:xfrm rot="0">
              <a:off x="1547929" y="1555949"/>
              <a:ext cx="2863498" cy="1464711"/>
              <a:chOff x="1257299" y="2189138"/>
              <a:chExt cx="2863498" cy="1504155"/>
            </a:xfrm>
          </p:grpSpPr>
          <p:grpSp>
            <p:nvGrpSpPr>
              <p:cNvPr id="27" name="그룹 26"/>
              <p:cNvGrpSpPr/>
              <p:nvPr/>
            </p:nvGrpSpPr>
            <p:grpSpPr>
              <a:xfrm rot="0">
                <a:off x="1826285" y="2189138"/>
                <a:ext cx="2294512" cy="1076102"/>
                <a:chOff x="19266" y="2544738"/>
                <a:chExt cx="2294512" cy="1076102"/>
              </a:xfrm>
            </p:grpSpPr>
            <p:sp>
              <p:nvSpPr>
                <p:cNvPr id="25" name="TextBox 24"/>
                <p:cNvSpPr txBox="1"/>
                <p:nvPr/>
              </p:nvSpPr>
              <p:spPr>
                <a:xfrm>
                  <a:off x="19266" y="3241562"/>
                  <a:ext cx="2294512" cy="3792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pPr lvl="0"/>
                  <a:r>
                    <a:rPr lang="ko-KR" altLang="en-US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개인화된 일정 추천 효과</a:t>
                  </a:r>
                  <a:endParaRPr lang="ko-KR" altLang="en-US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1555286" y="2544738"/>
                  <a:ext cx="495300" cy="7269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lvl="0"/>
                  <a:r>
                    <a:rPr lang="en-US" altLang="ko-KR" sz="40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1</a:t>
                  </a:r>
                  <a:endParaRPr lang="ko-KR" altLang="en-US" sz="40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28" name="TextBox 27"/>
              <p:cNvSpPr txBox="1"/>
              <p:nvPr/>
            </p:nvSpPr>
            <p:spPr>
              <a:xfrm>
                <a:off x="1257299" y="3354739"/>
                <a:ext cx="28472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just"/>
                <a:endParaRPr lang="ko-KR" altLang="en-US" sz="1600" dirty="0"/>
              </a:p>
            </p:txBody>
          </p:sp>
        </p:grpSp>
        <p:pic>
          <p:nvPicPr>
            <p:cNvPr id="3" name="Image 5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618115" y="2697248"/>
              <a:ext cx="152400" cy="152400"/>
            </a:xfrm>
            <a:prstGeom prst="rect">
              <a:avLst/>
            </a:prstGeom>
          </p:spPr>
        </p:pic>
        <p:pic>
          <p:nvPicPr>
            <p:cNvPr id="4" name="Image 6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1618115" y="3002048"/>
              <a:ext cx="152400" cy="152400"/>
            </a:xfrm>
            <a:prstGeom prst="rect">
              <a:avLst/>
            </a:prstGeom>
          </p:spPr>
        </p:pic>
        <p:pic>
          <p:nvPicPr>
            <p:cNvPr id="5" name="Image 7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618115" y="3306848"/>
              <a:ext cx="152400" cy="152400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1846715" y="2659148"/>
              <a:ext cx="280035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 algn="l">
                <a:lnSpc>
                  <a:spcPts val="1800"/>
                </a:lnSpc>
                <a:buNone/>
              </a:pPr>
              <a:r>
                <a:rPr lang="ko-KR" altLang="en-US" sz="1200" dirty="0">
                  <a:solidFill>
                    <a:schemeClr val="bg1"/>
                  </a:solidFill>
                  <a:latin typeface="Noto Sans KR"/>
                  <a:ea typeface="Noto Sans KR"/>
                  <a:cs typeface="Noto Sans KR"/>
                </a:rPr>
                <a:t>사용자의 답변을 기반으로 맞춤형 주간 일정 제공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3"/>
            <p:cNvSpPr/>
            <p:nvPr/>
          </p:nvSpPr>
          <p:spPr>
            <a:xfrm>
              <a:off x="1846715" y="2963948"/>
              <a:ext cx="258318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 algn="l">
                <a:lnSpc>
                  <a:spcPts val="1800"/>
                </a:lnSpc>
                <a:buNone/>
              </a:pPr>
              <a:r>
                <a:rPr lang="ko-KR" altLang="en-US" sz="1200" dirty="0">
                  <a:solidFill>
                    <a:schemeClr val="bg1"/>
                  </a:solidFill>
                  <a:latin typeface="Noto Sans KR"/>
                  <a:ea typeface="Noto Sans KR"/>
                  <a:cs typeface="Noto Sans KR"/>
                </a:rPr>
                <a:t>관심사에 맞는 활동을 포함시켜 실행 동기 강화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8" name="Text 4"/>
            <p:cNvSpPr/>
            <p:nvPr/>
          </p:nvSpPr>
          <p:spPr>
            <a:xfrm>
              <a:off x="1846715" y="3268748"/>
              <a:ext cx="29718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 algn="l">
                <a:lnSpc>
                  <a:spcPts val="1800"/>
                </a:lnSpc>
                <a:buNone/>
              </a:pPr>
              <a:r>
                <a:rPr lang="ko-KR" altLang="en-US" sz="1200" dirty="0">
                  <a:solidFill>
                    <a:schemeClr val="bg1"/>
                  </a:solidFill>
                  <a:latin typeface="Noto Sans KR"/>
                  <a:ea typeface="Noto Sans KR"/>
                  <a:cs typeface="Noto Sans KR"/>
                </a:rPr>
                <a:t>일정 추천을 통해 삶의 다양성과 만족도향상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 rot="0">
            <a:off x="7705725" y="1555949"/>
            <a:ext cx="4324349" cy="2424528"/>
            <a:chOff x="8092077" y="1555949"/>
            <a:chExt cx="3930610" cy="1941167"/>
          </a:xfrm>
        </p:grpSpPr>
        <p:grpSp>
          <p:nvGrpSpPr>
            <p:cNvPr id="40" name="그룹 39"/>
            <p:cNvGrpSpPr/>
            <p:nvPr/>
          </p:nvGrpSpPr>
          <p:grpSpPr>
            <a:xfrm rot="0">
              <a:off x="8092077" y="1555949"/>
              <a:ext cx="2586159" cy="1504155"/>
              <a:chOff x="8092077" y="1639362"/>
              <a:chExt cx="2586159" cy="1504155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8092077" y="2347248"/>
                <a:ext cx="15522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lvl="0"/>
                <a:r>
                  <a:rPr lang="ko-KR" altLang="en-US" dirty="0">
                    <a:solidFill>
                      <a:schemeClr val="bg1"/>
                    </a:solidFill>
                    <a:latin typeface="+mj-ea"/>
                    <a:ea typeface="+mj-ea"/>
                  </a:rPr>
                  <a:t>시간관리 개선</a:t>
                </a:r>
                <a:endParaRPr lang="ko-KR" altLang="en-US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8092077" y="1639362"/>
                <a:ext cx="495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/>
                <a:r>
                  <a:rPr lang="en-US" altLang="ko-KR" sz="4000" dirty="0">
                    <a:solidFill>
                      <a:schemeClr val="bg1"/>
                    </a:solidFill>
                    <a:latin typeface="+mj-ea"/>
                    <a:ea typeface="+mj-ea"/>
                  </a:rPr>
                  <a:t>2</a:t>
                </a:r>
                <a:endParaRPr lang="ko-KR" altLang="en-US" sz="40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8092077" y="2804963"/>
                <a:ext cx="258615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just"/>
                <a:endParaRPr lang="ko-KR" altLang="en-US" sz="1600" dirty="0"/>
              </a:p>
            </p:txBody>
          </p:sp>
        </p:grpSp>
        <p:pic>
          <p:nvPicPr>
            <p:cNvPr id="10" name="Image 11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8396357" y="2697016"/>
              <a:ext cx="152400" cy="152400"/>
            </a:xfrm>
            <a:prstGeom prst="rect">
              <a:avLst/>
            </a:prstGeom>
          </p:spPr>
        </p:pic>
        <p:pic>
          <p:nvPicPr>
            <p:cNvPr id="11" name="Image 12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8396357" y="3001816"/>
              <a:ext cx="152400" cy="152400"/>
            </a:xfrm>
            <a:prstGeom prst="rect">
              <a:avLst/>
            </a:prstGeom>
          </p:spPr>
        </p:pic>
        <p:pic>
          <p:nvPicPr>
            <p:cNvPr id="12" name="Image 13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8396357" y="3306616"/>
              <a:ext cx="152400" cy="152400"/>
            </a:xfrm>
            <a:prstGeom prst="rect">
              <a:avLst/>
            </a:prstGeom>
          </p:spPr>
        </p:pic>
        <p:sp>
          <p:nvSpPr>
            <p:cNvPr id="13" name="Text 6"/>
            <p:cNvSpPr/>
            <p:nvPr/>
          </p:nvSpPr>
          <p:spPr>
            <a:xfrm>
              <a:off x="8624957" y="2658916"/>
              <a:ext cx="3234321" cy="257672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 algn="l">
                <a:lnSpc>
                  <a:spcPts val="1800"/>
                </a:lnSpc>
                <a:buNone/>
              </a:pPr>
              <a:r>
                <a:rPr lang="ko-KR" altLang="en-US" sz="1200" dirty="0">
                  <a:solidFill>
                    <a:schemeClr val="bg1"/>
                  </a:solidFill>
                  <a:latin typeface="Noto Sans KR"/>
                  <a:ea typeface="Noto Sans KR"/>
                  <a:cs typeface="Noto Sans KR"/>
                </a:rPr>
                <a:t>선택된 주제를 중심으로 주간 계획을 자동 설계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4" name="Text 7"/>
            <p:cNvSpPr/>
            <p:nvPr/>
          </p:nvSpPr>
          <p:spPr>
            <a:xfrm>
              <a:off x="8624957" y="2963716"/>
              <a:ext cx="339773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 algn="l">
                <a:lnSpc>
                  <a:spcPts val="1800"/>
                </a:lnSpc>
                <a:buNone/>
              </a:pPr>
              <a:r>
                <a:rPr lang="ko-KR" altLang="en-US" sz="1200" dirty="0">
                  <a:solidFill>
                    <a:schemeClr val="bg1"/>
                  </a:solidFill>
                  <a:latin typeface="Noto Sans KR"/>
                  <a:ea typeface="Noto Sans KR"/>
                  <a:cs typeface="Noto Sans KR"/>
                </a:rPr>
                <a:t>불필요한 활동을 줄이고</a:t>
              </a:r>
              <a:r>
                <a:rPr lang="en-US" altLang="ko-KR" sz="1200" dirty="0">
                  <a:solidFill>
                    <a:schemeClr val="bg1"/>
                  </a:solidFill>
                  <a:latin typeface="Noto Sans KR"/>
                  <a:ea typeface="Noto Sans KR"/>
                  <a:cs typeface="Noto Sans KR"/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  <a:latin typeface="Noto Sans KR"/>
                  <a:ea typeface="Noto Sans KR"/>
                  <a:cs typeface="Noto Sans KR"/>
                </a:rPr>
                <a:t>중요한 관심사에 시간을 집중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 8"/>
            <p:cNvSpPr/>
            <p:nvPr/>
          </p:nvSpPr>
          <p:spPr>
            <a:xfrm>
              <a:off x="8624957" y="3268516"/>
              <a:ext cx="325054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p>
              <a:pPr marL="0" indent="0" algn="l">
                <a:lnSpc>
                  <a:spcPts val="1800"/>
                </a:lnSpc>
                <a:buNone/>
              </a:pPr>
              <a:r>
                <a:rPr lang="ko-KR" altLang="en-US" sz="1200" dirty="0">
                  <a:solidFill>
                    <a:schemeClr val="bg1"/>
                  </a:solidFill>
                  <a:latin typeface="Noto Sans KR"/>
                  <a:ea typeface="Noto Sans KR"/>
                  <a:cs typeface="Noto Sans KR"/>
                </a:rPr>
                <a:t>변경 </a:t>
              </a:r>
              <a:r>
                <a:rPr lang="en-US" altLang="ko-KR" sz="1200" dirty="0">
                  <a:solidFill>
                    <a:schemeClr val="bg1"/>
                  </a:solidFill>
                  <a:latin typeface="Noto Sans KR"/>
                  <a:ea typeface="Noto Sans KR"/>
                  <a:cs typeface="Noto Sans KR"/>
                </a:rPr>
                <a:t>/ </a:t>
              </a:r>
              <a:r>
                <a:rPr lang="ko-KR" altLang="en-US" sz="1200" dirty="0">
                  <a:solidFill>
                    <a:schemeClr val="bg1"/>
                  </a:solidFill>
                  <a:latin typeface="Noto Sans KR"/>
                  <a:ea typeface="Noto Sans KR"/>
                  <a:cs typeface="Noto Sans KR"/>
                </a:rPr>
                <a:t>수정 요청에 따라 유연하게 시간 배분 가능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1" name="Image 17" descr="preencoded.png">
            <a:extLst>
              <a:ext uri="{FF2B5EF4-FFF2-40B4-BE49-F238E27FC236}">
                <a16:creationId xmlns:a16="http://schemas.microsoft.com/office/drawing/2014/main" id="{EC48BB80-AB0D-71C1-A452-D8B854F5F6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1138" y="5424616"/>
            <a:ext cx="186033" cy="152400"/>
          </a:xfrm>
          <a:prstGeom prst="rect">
            <a:avLst/>
          </a:prstGeom>
        </p:spPr>
      </p:pic>
      <p:pic>
        <p:nvPicPr>
          <p:cNvPr id="23" name="Image 18" descr="preencoded.png">
            <a:extLst>
              <a:ext uri="{FF2B5EF4-FFF2-40B4-BE49-F238E27FC236}">
                <a16:creationId xmlns:a16="http://schemas.microsoft.com/office/drawing/2014/main" id="{E5790C59-7DC9-C7C9-A295-C434E269EA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1138" y="5729416"/>
            <a:ext cx="186033" cy="152400"/>
          </a:xfrm>
          <a:prstGeom prst="rect">
            <a:avLst/>
          </a:prstGeom>
        </p:spPr>
      </p:pic>
      <p:pic>
        <p:nvPicPr>
          <p:cNvPr id="24" name="Image 19" descr="preencoded.png">
            <a:extLst>
              <a:ext uri="{FF2B5EF4-FFF2-40B4-BE49-F238E27FC236}">
                <a16:creationId xmlns:a16="http://schemas.microsoft.com/office/drawing/2014/main" id="{A9BC4A12-73FD-4383-47B6-AFBC511776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1138" y="6050937"/>
            <a:ext cx="186033" cy="152400"/>
          </a:xfrm>
          <a:prstGeom prst="rect">
            <a:avLst/>
          </a:prstGeom>
        </p:spPr>
      </p:pic>
      <p:sp>
        <p:nvSpPr>
          <p:cNvPr id="30" name="Text 10"/>
          <p:cNvSpPr/>
          <p:nvPr/>
        </p:nvSpPr>
        <p:spPr>
          <a:xfrm>
            <a:off x="5959738" y="5386516"/>
            <a:ext cx="3774811" cy="2589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관심사별 점수와 순위를 </a:t>
            </a:r>
            <a:r>
              <a:rPr lang="ko-KR" altLang="en-US" sz="1200" dirty="0" err="1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시각화하여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 직관적 이해 제공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4BB85BB4-FE46-3FF7-68F1-5ED0EA45C215}"/>
              </a:ext>
            </a:extLst>
          </p:cNvPr>
          <p:cNvSpPr/>
          <p:nvPr/>
        </p:nvSpPr>
        <p:spPr>
          <a:xfrm>
            <a:off x="5959738" y="5691316"/>
            <a:ext cx="3629355" cy="3497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 스스로 관심사 분포와 패턴을 점검할 수 있음</a:t>
            </a:r>
            <a:endParaRPr lang="en-US" sz="12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5959739" y="6034427"/>
            <a:ext cx="377481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데이터 기반으로 장기적인 라이프 스타일 관리 가능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857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"/>
          <p:cNvPicPr>
            <a:picLocks noChangeAspect="1"/>
          </p:cNvPicPr>
          <p:nvPr/>
        </p:nvPicPr>
        <p:blipFill rotWithShape="1">
          <a:blip r:embed="rId2">
            <a:alphaModFix amt="46000"/>
            <a:grayscl/>
          </a:blip>
          <a:stretch>
            <a:fillRect/>
          </a:stretch>
        </p:blipFill>
        <p:spPr>
          <a:xfrm>
            <a:off x="4349801" y="1619250"/>
            <a:ext cx="3454300" cy="4095750"/>
          </a:xfrm>
          <a:prstGeom prst="rect">
            <a:avLst/>
          </a:prstGeom>
          <a:solidFill>
            <a:srgbClr val="bbaaf5">
              <a:alpha val="74000"/>
            </a:srgbClr>
          </a:solidFill>
        </p:spPr>
      </p:pic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7B1FF585-4EC6-09DA-C269-AAFE49CDA16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28102" y="1619250"/>
            <a:ext cx="3454300" cy="4095750"/>
          </a:xfrm>
          <a:prstGeom prst="rect">
            <a:avLst/>
          </a:prstGeom>
          <a:solidFill>
            <a:srgbClr val="BBAAF5">
              <a:alpha val="74000"/>
            </a:srgbClr>
          </a:solidFill>
        </p:spPr>
      </p:pic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B83F4ACA-594E-FFCD-97CA-46DF9AD5346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6000"/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" y="1619250"/>
            <a:ext cx="3454300" cy="4095750"/>
          </a:xfrm>
          <a:prstGeom prst="rect">
            <a:avLst/>
          </a:prstGeom>
          <a:solidFill>
            <a:srgbClr val="BBAAF5">
              <a:alpha val="74000"/>
            </a:srgbClr>
          </a:solidFill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544B31F-D5A7-B01D-B182-62DB651909F3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2B2BD-FF67-CC80-102F-FAD8736DF7FC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3-2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DBE2EF-0F95-CA93-A6FB-D7E9BEC2F62A}"/>
              </a:ext>
            </a:extLst>
          </p:cNvPr>
          <p:cNvSpPr txBox="1"/>
          <p:nvPr/>
        </p:nvSpPr>
        <p:spPr>
          <a:xfrm>
            <a:off x="686355" y="207408"/>
            <a:ext cx="2476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향후 발전 방향</a:t>
            </a:r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78BF0578-4FFB-39C5-A136-0CA144C37DB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03375" y="1847850"/>
            <a:ext cx="666750" cy="666750"/>
          </a:xfrm>
          <a:prstGeom prst="rect">
            <a:avLst/>
          </a:prstGeom>
        </p:spPr>
      </p:pic>
      <p:pic>
        <p:nvPicPr>
          <p:cNvPr id="10" name="Image 6"/>
          <p:cNvPicPr>
            <a:picLocks noChangeAspect="1"/>
          </p:cNvPicPr>
          <p:nvPr/>
        </p:nvPicPr>
        <p:blipFill rotWithShape="1"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67226" y="1847850"/>
            <a:ext cx="666750" cy="666750"/>
          </a:xfrm>
          <a:prstGeom prst="rect">
            <a:avLst/>
          </a:prstGeom>
        </p:spPr>
      </p:pic>
      <p:pic>
        <p:nvPicPr>
          <p:cNvPr id="11" name="Image 7"/>
          <p:cNvPicPr>
            <a:picLocks noChangeAspect="1"/>
          </p:cNvPicPr>
          <p:nvPr/>
        </p:nvPicPr>
        <p:blipFill rotWithShape="1"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19626" y="2009775"/>
            <a:ext cx="361950" cy="342900"/>
          </a:xfrm>
          <a:prstGeom prst="rect">
            <a:avLst/>
          </a:prstGeom>
        </p:spPr>
      </p:pic>
      <p:pic>
        <p:nvPicPr>
          <p:cNvPr id="13" name="Image 9" descr="preencoded.png">
            <a:extLst>
              <a:ext uri="{FF2B5EF4-FFF2-40B4-BE49-F238E27FC236}">
                <a16:creationId xmlns:a16="http://schemas.microsoft.com/office/drawing/2014/main" id="{22B6716F-E0C4-F0E0-C048-9739E1FA3E7F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21726" y="1847850"/>
            <a:ext cx="666750" cy="666750"/>
          </a:xfrm>
          <a:prstGeom prst="rect">
            <a:avLst/>
          </a:prstGeom>
        </p:spPr>
      </p:pic>
      <p:pic>
        <p:nvPicPr>
          <p:cNvPr id="14" name="Image 10" descr="preencoded.png">
            <a:extLst>
              <a:ext uri="{FF2B5EF4-FFF2-40B4-BE49-F238E27FC236}">
                <a16:creationId xmlns:a16="http://schemas.microsoft.com/office/drawing/2014/main" id="{83084749-C0F9-CD99-5915-A625DBAC7E81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12226" y="2009775"/>
            <a:ext cx="285750" cy="342900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1360755" y="2686050"/>
            <a:ext cx="195140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ctr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HY헤드라인M"/>
                <a:ea typeface="HY헤드라인M"/>
                <a:cs typeface="HY헤드라인M"/>
              </a:rPr>
              <a:t>데이터베이스</a:t>
            </a:r>
            <a:r>
              <a:rPr lang="en-US" sz="1800" b="1" dirty="0">
                <a:solidFill>
                  <a:srgbClr val="1f2937"/>
                </a:solidFill>
                <a:latin typeface="HY헤드라인M"/>
                <a:ea typeface="HY헤드라인M"/>
                <a:cs typeface="HY헤드라인M"/>
              </a:rPr>
              <a:t> 지원</a:t>
            </a:r>
            <a:endParaRPr lang="en-US" sz="1800" b="1" dirty="0">
              <a:latin typeface="HY헤드라인M"/>
              <a:ea typeface="HY헤드라인M"/>
              <a:cs typeface="HY헤드라인M"/>
            </a:endParaRPr>
          </a:p>
        </p:txBody>
      </p:sp>
      <p:sp>
        <p:nvSpPr>
          <p:cNvPr id="16" name="Text 2"/>
          <p:cNvSpPr/>
          <p:nvPr/>
        </p:nvSpPr>
        <p:spPr>
          <a:xfrm>
            <a:off x="838200" y="3162300"/>
            <a:ext cx="2997199" cy="10927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ctr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현재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데이터베이스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연동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기능이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제한적이지만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추후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안정적인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저장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/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조회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기능을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강화해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사용자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데이터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관리와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서비스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확장에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활용할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예정입니다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3"/>
          <p:cNvSpPr/>
          <p:nvPr/>
        </p:nvSpPr>
        <p:spPr>
          <a:xfrm>
            <a:off x="5040481" y="2705100"/>
            <a:ext cx="1920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HY헤드라인M"/>
                <a:ea typeface="HY헤드라인M"/>
                <a:cs typeface="HY헤드라인M"/>
              </a:rPr>
              <a:t>개인화 추천 강화</a:t>
            </a:r>
            <a:endParaRPr lang="en-US" sz="1800" b="1" dirty="0">
              <a:latin typeface="HY헤드라인M"/>
              <a:ea typeface="HY헤드라인M"/>
              <a:cs typeface="HY헤드라인M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502051" y="3162300"/>
            <a:ext cx="2997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사용자 데이터를 심층적으로 분석하여 개인화 추천 기능을 강화, 각 사용자의 집중 패턴과 선호도에 최적화된 맞춤형 가이드를 제공합니다.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5"/>
          <p:cNvSpPr/>
          <p:nvPr/>
        </p:nvSpPr>
        <p:spPr>
          <a:xfrm>
            <a:off x="8688605" y="2686050"/>
            <a:ext cx="228101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ctr">
              <a:lnSpc>
                <a:spcPts val="2400"/>
              </a:lnSpc>
              <a:buNone/>
            </a:pPr>
            <a:r>
              <a:rPr lang="en-US" altLang="ko-KR" sz="1800" b="1" dirty="0">
                <a:latin typeface="HY헤드라인M"/>
                <a:ea typeface="HY헤드라인M"/>
                <a:cs typeface="HY헤드라인M"/>
              </a:rPr>
              <a:t>LLM</a:t>
            </a:r>
            <a:r>
              <a:rPr lang="ko-KR" altLang="en-US" sz="1800" b="1" dirty="0">
                <a:latin typeface="HY헤드라인M"/>
                <a:ea typeface="HY헤드라인M"/>
                <a:cs typeface="HY헤드라인M"/>
              </a:rPr>
              <a:t>기반</a:t>
            </a:r>
            <a:r>
              <a:rPr lang="en-US" altLang="ko-KR" sz="1800" b="1" dirty="0">
                <a:latin typeface="HY헤드라인M"/>
                <a:ea typeface="HY헤드라인M"/>
                <a:cs typeface="HY헤드라인M"/>
              </a:rPr>
              <a:t> </a:t>
            </a:r>
            <a:r>
              <a:rPr lang="ko-KR" altLang="en-US" sz="1800" b="1" dirty="0">
                <a:latin typeface="HY헤드라인M"/>
                <a:ea typeface="HY헤드라인M"/>
                <a:cs typeface="HY헤드라인M"/>
              </a:rPr>
              <a:t>확장</a:t>
            </a:r>
            <a:endParaRPr lang="en-US" sz="1800" b="1" dirty="0">
              <a:latin typeface="HY헤드라인M"/>
              <a:ea typeface="HY헤드라인M"/>
              <a:cs typeface="HY헤드라인M"/>
            </a:endParaRPr>
          </a:p>
        </p:txBody>
      </p:sp>
      <p:sp>
        <p:nvSpPr>
          <p:cNvPr id="22" name="Text 6"/>
          <p:cNvSpPr/>
          <p:nvPr/>
        </p:nvSpPr>
        <p:spPr>
          <a:xfrm>
            <a:off x="8356550" y="3162300"/>
            <a:ext cx="2997101" cy="1346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p>
            <a:pPr marL="0" indent="0" algn="ctr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향후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발전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방향은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NLP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기반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머신러닝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모델에서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LLM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기반의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딥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러닝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기반으로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더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정교하고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유연하게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단순한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일정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추천을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넘어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사용자에게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맞춤형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계획과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지능적인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피드백을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제공할수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있습니다</a:t>
            </a:r>
            <a:r>
              <a:rPr lang="en-US" altLang="ko-KR" sz="1200" dirty="0">
                <a:solidFill>
                  <a:srgbClr val="4b5563"/>
                </a:solidFill>
                <a:latin typeface="Gulim"/>
                <a:ea typeface="Gulim"/>
                <a:cs typeface="Gulim"/>
              </a:rPr>
              <a:t>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pic>
        <p:nvPicPr>
          <p:cNvPr id="26" name="Image 7"/>
          <p:cNvPicPr>
            <a:picLocks noChangeAspect="1"/>
          </p:cNvPicPr>
          <p:nvPr/>
        </p:nvPicPr>
        <p:blipFill rotWithShape="1">
          <a:blip r:embed="rId1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202815" y="2047875"/>
            <a:ext cx="2667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74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스크린샷, 다채로움, 보라색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2A4D2C-972C-AE21-A12A-536A367E9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4347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-1" y="14526"/>
            <a:ext cx="12192000" cy="686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자유형: 도형 3"/>
          <p:cNvSpPr/>
          <p:nvPr/>
        </p:nvSpPr>
        <p:spPr>
          <a:xfrm>
            <a:off x="10805031" y="2430018"/>
            <a:ext cx="482483" cy="577504"/>
          </a:xfrm>
          <a:custGeom>
            <a:avLst/>
            <a:gdLst/>
            <a:ahLst/>
            <a:cxnLst/>
            <a:rect l="l" t="t" r="r" b="b"/>
            <a:pathLst>
              <a:path w="482483" h="577504">
                <a:moveTo>
                  <a:pt x="241242" y="577505"/>
                </a:moveTo>
                <a:cubicBezTo>
                  <a:pt x="276583" y="451142"/>
                  <a:pt x="364423" y="346003"/>
                  <a:pt x="482484" y="288752"/>
                </a:cubicBezTo>
                <a:cubicBezTo>
                  <a:pt x="364273" y="231689"/>
                  <a:pt x="276370" y="126476"/>
                  <a:pt x="241242" y="0"/>
                </a:cubicBezTo>
                <a:cubicBezTo>
                  <a:pt x="205893" y="126360"/>
                  <a:pt x="118058" y="231493"/>
                  <a:pt x="0" y="288752"/>
                </a:cubicBezTo>
                <a:cubicBezTo>
                  <a:pt x="118061" y="346003"/>
                  <a:pt x="205901" y="451142"/>
                  <a:pt x="241242" y="57750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5" name="자유형: 도형 4"/>
          <p:cNvSpPr/>
          <p:nvPr/>
        </p:nvSpPr>
        <p:spPr>
          <a:xfrm>
            <a:off x="1082131" y="2206199"/>
            <a:ext cx="332062" cy="397339"/>
          </a:xfrm>
          <a:custGeom>
            <a:avLst/>
            <a:gdLst/>
            <a:ahLst/>
            <a:cxnLst/>
            <a:rect l="l" t="t" r="r" b="b"/>
            <a:pathLst>
              <a:path w="332062" h="397339">
                <a:moveTo>
                  <a:pt x="165974" y="0"/>
                </a:moveTo>
                <a:cubicBezTo>
                  <a:pt x="141671" y="86946"/>
                  <a:pt x="81236" y="159288"/>
                  <a:pt x="0" y="198670"/>
                </a:cubicBezTo>
                <a:cubicBezTo>
                  <a:pt x="81236" y="238052"/>
                  <a:pt x="141671" y="310393"/>
                  <a:pt x="165974" y="397340"/>
                </a:cubicBezTo>
                <a:cubicBezTo>
                  <a:pt x="190329" y="310388"/>
                  <a:pt x="250804" y="238052"/>
                  <a:pt x="332062" y="198670"/>
                </a:cubicBezTo>
                <a:cubicBezTo>
                  <a:pt x="250690" y="159433"/>
                  <a:pt x="190170" y="87037"/>
                  <a:pt x="16597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6" name="자유형: 도형 5"/>
          <p:cNvSpPr/>
          <p:nvPr/>
        </p:nvSpPr>
        <p:spPr>
          <a:xfrm>
            <a:off x="10437335" y="2353835"/>
            <a:ext cx="203778" cy="243909"/>
          </a:xfrm>
          <a:custGeom>
            <a:avLst/>
            <a:gdLst/>
            <a:ahLst/>
            <a:cxnLst/>
            <a:rect l="l" t="t" r="r" b="b"/>
            <a:pathLst>
              <a:path w="203778" h="243909">
                <a:moveTo>
                  <a:pt x="101889" y="243910"/>
                </a:moveTo>
                <a:cubicBezTo>
                  <a:pt x="116812" y="190516"/>
                  <a:pt x="153907" y="146085"/>
                  <a:pt x="203778" y="121870"/>
                </a:cubicBezTo>
                <a:cubicBezTo>
                  <a:pt x="153870" y="97788"/>
                  <a:pt x="116747" y="53385"/>
                  <a:pt x="101889" y="0"/>
                </a:cubicBezTo>
                <a:cubicBezTo>
                  <a:pt x="86966" y="53391"/>
                  <a:pt x="49872" y="97825"/>
                  <a:pt x="0" y="122040"/>
                </a:cubicBezTo>
                <a:cubicBezTo>
                  <a:pt x="49832" y="146218"/>
                  <a:pt x="86924" y="190581"/>
                  <a:pt x="101889" y="24391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7" name="자유형: 도형 6"/>
          <p:cNvSpPr/>
          <p:nvPr/>
        </p:nvSpPr>
        <p:spPr>
          <a:xfrm rot="1338228">
            <a:off x="1189772" y="1399305"/>
            <a:ext cx="1317695" cy="943492"/>
          </a:xfrm>
          <a:custGeom>
            <a:avLst/>
            <a:gdLst/>
            <a:ahLst/>
            <a:cxnLst/>
            <a:rect l="l" t="t" r="r" b="b"/>
            <a:pathLst>
              <a:path w="2597861" h="1860112">
                <a:moveTo>
                  <a:pt x="2463050" y="1050788"/>
                </a:moveTo>
                <a:cubicBezTo>
                  <a:pt x="2415037" y="1050949"/>
                  <a:pt x="2370760" y="1076708"/>
                  <a:pt x="2346885" y="1118364"/>
                </a:cubicBezTo>
                <a:lnTo>
                  <a:pt x="1624323" y="1054619"/>
                </a:lnTo>
                <a:cubicBezTo>
                  <a:pt x="1601865" y="991059"/>
                  <a:pt x="1535518" y="954242"/>
                  <a:pt x="1469701" y="968822"/>
                </a:cubicBezTo>
                <a:lnTo>
                  <a:pt x="1240067" y="665879"/>
                </a:lnTo>
                <a:cubicBezTo>
                  <a:pt x="1282327" y="604731"/>
                  <a:pt x="1267015" y="520904"/>
                  <a:pt x="1205868" y="478647"/>
                </a:cubicBezTo>
                <a:cubicBezTo>
                  <a:pt x="1183313" y="463060"/>
                  <a:pt x="1156538" y="454733"/>
                  <a:pt x="1129124" y="454778"/>
                </a:cubicBezTo>
                <a:cubicBezTo>
                  <a:pt x="1114426" y="454942"/>
                  <a:pt x="1099855" y="457551"/>
                  <a:pt x="1086013" y="462498"/>
                </a:cubicBezTo>
                <a:lnTo>
                  <a:pt x="915157" y="236979"/>
                </a:lnTo>
                <a:cubicBezTo>
                  <a:pt x="940076" y="167218"/>
                  <a:pt x="903728" y="90463"/>
                  <a:pt x="833966" y="65544"/>
                </a:cubicBezTo>
                <a:cubicBezTo>
                  <a:pt x="782775" y="47258"/>
                  <a:pt x="725609" y="61676"/>
                  <a:pt x="689212" y="102054"/>
                </a:cubicBezTo>
                <a:lnTo>
                  <a:pt x="258752" y="80541"/>
                </a:lnTo>
                <a:cubicBezTo>
                  <a:pt x="228588" y="12281"/>
                  <a:pt x="148799" y="-18601"/>
                  <a:pt x="80541" y="11565"/>
                </a:cubicBezTo>
                <a:cubicBezTo>
                  <a:pt x="12282" y="41729"/>
                  <a:pt x="-18600" y="121518"/>
                  <a:pt x="11564" y="189775"/>
                </a:cubicBezTo>
                <a:cubicBezTo>
                  <a:pt x="41728" y="258035"/>
                  <a:pt x="121516" y="288917"/>
                  <a:pt x="189775" y="258750"/>
                </a:cubicBezTo>
                <a:cubicBezTo>
                  <a:pt x="219064" y="245808"/>
                  <a:pt x="242804" y="222885"/>
                  <a:pt x="256765" y="194066"/>
                </a:cubicBezTo>
                <a:lnTo>
                  <a:pt x="656091" y="213933"/>
                </a:lnTo>
                <a:cubicBezTo>
                  <a:pt x="667157" y="286561"/>
                  <a:pt x="735003" y="336470"/>
                  <a:pt x="807631" y="325404"/>
                </a:cubicBezTo>
                <a:cubicBezTo>
                  <a:pt x="816838" y="324002"/>
                  <a:pt x="825872" y="321638"/>
                  <a:pt x="834582" y="318349"/>
                </a:cubicBezTo>
                <a:lnTo>
                  <a:pt x="1003678" y="541512"/>
                </a:lnTo>
                <a:cubicBezTo>
                  <a:pt x="997616" y="556823"/>
                  <a:pt x="994440" y="573123"/>
                  <a:pt x="994313" y="589590"/>
                </a:cubicBezTo>
                <a:cubicBezTo>
                  <a:pt x="994406" y="664006"/>
                  <a:pt x="1054708" y="724308"/>
                  <a:pt x="1129124" y="724401"/>
                </a:cubicBezTo>
                <a:cubicBezTo>
                  <a:pt x="1133211" y="724401"/>
                  <a:pt x="1137071" y="723550"/>
                  <a:pt x="1141044" y="723209"/>
                </a:cubicBezTo>
                <a:lnTo>
                  <a:pt x="1379448" y="1037846"/>
                </a:lnTo>
                <a:cubicBezTo>
                  <a:pt x="1368990" y="1057068"/>
                  <a:pt x="1363433" y="1078573"/>
                  <a:pt x="1363271" y="1100455"/>
                </a:cubicBezTo>
                <a:cubicBezTo>
                  <a:pt x="1363418" y="1152958"/>
                  <a:pt x="1394059" y="1200590"/>
                  <a:pt x="1441774" y="1222495"/>
                </a:cubicBezTo>
                <a:lnTo>
                  <a:pt x="1461187" y="1494105"/>
                </a:lnTo>
                <a:cubicBezTo>
                  <a:pt x="1396154" y="1529775"/>
                  <a:pt x="1372353" y="1611411"/>
                  <a:pt x="1408023" y="1676444"/>
                </a:cubicBezTo>
                <a:cubicBezTo>
                  <a:pt x="1443695" y="1741475"/>
                  <a:pt x="1525329" y="1765278"/>
                  <a:pt x="1590362" y="1729606"/>
                </a:cubicBezTo>
                <a:cubicBezTo>
                  <a:pt x="1606284" y="1720873"/>
                  <a:pt x="1620270" y="1708998"/>
                  <a:pt x="1631475" y="1694705"/>
                </a:cubicBezTo>
                <a:lnTo>
                  <a:pt x="2066335" y="1798240"/>
                </a:lnTo>
                <a:cubicBezTo>
                  <a:pt x="2106455" y="1860756"/>
                  <a:pt x="2189658" y="1878911"/>
                  <a:pt x="2252174" y="1838792"/>
                </a:cubicBezTo>
                <a:cubicBezTo>
                  <a:pt x="2314689" y="1798669"/>
                  <a:pt x="2332845" y="1715469"/>
                  <a:pt x="2292722" y="1652953"/>
                </a:cubicBezTo>
                <a:cubicBezTo>
                  <a:pt x="2285553" y="1641779"/>
                  <a:pt x="2276766" y="1631727"/>
                  <a:pt x="2266651" y="1623127"/>
                </a:cubicBezTo>
                <a:lnTo>
                  <a:pt x="2449200" y="1318992"/>
                </a:lnTo>
                <a:cubicBezTo>
                  <a:pt x="2453790" y="1319710"/>
                  <a:pt x="2458413" y="1320184"/>
                  <a:pt x="2463050" y="1320411"/>
                </a:cubicBezTo>
                <a:cubicBezTo>
                  <a:pt x="2537506" y="1320411"/>
                  <a:pt x="2597862" y="1260055"/>
                  <a:pt x="2597862" y="1185599"/>
                </a:cubicBezTo>
                <a:cubicBezTo>
                  <a:pt x="2597862" y="1111143"/>
                  <a:pt x="2537506" y="1050788"/>
                  <a:pt x="2463050" y="1050788"/>
                </a:cubicBezTo>
                <a:close/>
                <a:moveTo>
                  <a:pt x="2053194" y="1678386"/>
                </a:moveTo>
                <a:lnTo>
                  <a:pt x="1658693" y="1584415"/>
                </a:lnTo>
                <a:cubicBezTo>
                  <a:pt x="1649319" y="1539317"/>
                  <a:pt x="1617591" y="1502114"/>
                  <a:pt x="1574542" y="1485732"/>
                </a:cubicBezTo>
                <a:lnTo>
                  <a:pt x="1555697" y="1221786"/>
                </a:lnTo>
                <a:cubicBezTo>
                  <a:pt x="1580286" y="1210067"/>
                  <a:pt x="1600741" y="1191165"/>
                  <a:pt x="1614361" y="1167577"/>
                </a:cubicBezTo>
                <a:lnTo>
                  <a:pt x="2336952" y="1231322"/>
                </a:lnTo>
                <a:cubicBezTo>
                  <a:pt x="2340593" y="1241811"/>
                  <a:pt x="2345531" y="1251802"/>
                  <a:pt x="2351653" y="1261065"/>
                </a:cubicBezTo>
                <a:lnTo>
                  <a:pt x="2152586" y="1592730"/>
                </a:lnTo>
                <a:cubicBezTo>
                  <a:pt x="2106858" y="1602148"/>
                  <a:pt x="2069258" y="1634550"/>
                  <a:pt x="2053194" y="167838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377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1206190" y="2196790"/>
            <a:ext cx="9779620" cy="2464419"/>
          </a:xfrm>
          <a:prstGeom prst="ellipse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498482" y="2756870"/>
            <a:ext cx="12458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4D4D4D"/>
                </a:solidFill>
                <a:latin typeface="EBS훈민정음 R" panose="02020503020101020101" pitchFamily="18" charset="-127"/>
                <a:ea typeface="EBS훈민정음 R" panose="02020503020101020101" pitchFamily="18" charset="-127"/>
              </a:rPr>
              <a:t>Part 4</a:t>
            </a:r>
            <a:endParaRPr lang="ko-KR" altLang="en-US" sz="2800" dirty="0">
              <a:solidFill>
                <a:srgbClr val="4D4D4D"/>
              </a:solidFill>
              <a:latin typeface="EBS훈민정음 R" panose="02020503020101020101" pitchFamily="18" charset="-127"/>
              <a:ea typeface="EBS훈민정음 R" panose="020205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0861" y="3363599"/>
            <a:ext cx="17027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spc="300" dirty="0">
                <a:solidFill>
                  <a:srgbClr val="4D4D4D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</a:rPr>
              <a:t>마무리</a:t>
            </a:r>
          </a:p>
        </p:txBody>
      </p:sp>
    </p:spTree>
    <p:extLst>
      <p:ext uri="{BB962C8B-B14F-4D97-AF65-F5344CB8AC3E}">
        <p14:creationId xmlns:p14="http://schemas.microsoft.com/office/powerpoint/2010/main" val="37479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DEFAC70-9B93-638B-1F61-7D50EB240694}"/>
              </a:ext>
            </a:extLst>
          </p:cNvPr>
          <p:cNvSpPr/>
          <p:nvPr/>
        </p:nvSpPr>
        <p:spPr>
          <a:xfrm>
            <a:off x="0" y="0"/>
            <a:ext cx="669073" cy="669073"/>
          </a:xfrm>
          <a:prstGeom prst="rect">
            <a:avLst/>
          </a:prstGeom>
          <a:solidFill>
            <a:srgbClr val="7A6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ED307B-E642-2F9A-5FF9-625EAA75B262}"/>
              </a:ext>
            </a:extLst>
          </p:cNvPr>
          <p:cNvSpPr txBox="1"/>
          <p:nvPr/>
        </p:nvSpPr>
        <p:spPr>
          <a:xfrm>
            <a:off x="702526" y="57537"/>
            <a:ext cx="926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spc="300" dirty="0">
                <a:solidFill>
                  <a:schemeClr val="bg1"/>
                </a:solidFill>
                <a:latin typeface="+mj-ea"/>
                <a:ea typeface="+mj-ea"/>
              </a:rPr>
              <a:t>Part 4-1</a:t>
            </a:r>
            <a:endParaRPr lang="ko-KR" altLang="en-US" sz="105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365A0-3F86-E022-2B6F-6DAB399ABEDE}"/>
              </a:ext>
            </a:extLst>
          </p:cNvPr>
          <p:cNvSpPr txBox="1"/>
          <p:nvPr/>
        </p:nvSpPr>
        <p:spPr>
          <a:xfrm>
            <a:off x="686355" y="207408"/>
            <a:ext cx="1677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팀원 소감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A12BDD-6430-4160-27CB-DF0422E0DDCC}"/>
              </a:ext>
            </a:extLst>
          </p:cNvPr>
          <p:cNvSpPr/>
          <p:nvPr/>
        </p:nvSpPr>
        <p:spPr>
          <a:xfrm>
            <a:off x="1056909" y="1498421"/>
            <a:ext cx="5040000" cy="22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D1ED28-17A1-8EDB-4DC3-A8FD7C93C915}"/>
              </a:ext>
            </a:extLst>
          </p:cNvPr>
          <p:cNvSpPr/>
          <p:nvPr/>
        </p:nvSpPr>
        <p:spPr>
          <a:xfrm>
            <a:off x="6092950" y="1498421"/>
            <a:ext cx="5040000" cy="2268000"/>
          </a:xfrm>
          <a:prstGeom prst="rect">
            <a:avLst/>
          </a:prstGeom>
          <a:solidFill>
            <a:srgbClr val="CCA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997BD7-5B7C-9015-A8AB-15BF1B4779C9}"/>
              </a:ext>
            </a:extLst>
          </p:cNvPr>
          <p:cNvSpPr/>
          <p:nvPr/>
        </p:nvSpPr>
        <p:spPr>
          <a:xfrm>
            <a:off x="1056910" y="3765513"/>
            <a:ext cx="5040000" cy="226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79442B-AB79-0A09-76EE-F73399D16AEA}"/>
              </a:ext>
            </a:extLst>
          </p:cNvPr>
          <p:cNvSpPr/>
          <p:nvPr/>
        </p:nvSpPr>
        <p:spPr>
          <a:xfrm>
            <a:off x="6095090" y="3765513"/>
            <a:ext cx="5040000" cy="2268000"/>
          </a:xfrm>
          <a:prstGeom prst="rect">
            <a:avLst/>
          </a:prstGeom>
          <a:solidFill>
            <a:srgbClr val="EFE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105" y="1919893"/>
            <a:ext cx="486918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199920" lvl="0" indent="-199920">
              <a:lnSpc>
                <a:spcPct val="120000"/>
              </a:lnSpc>
              <a:buFont typeface="Wingdings"/>
              <a:buChar char="u"/>
            </a:pP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첫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팀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프로젝트라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잘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할수있을까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걱정이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컸다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.</a:t>
            </a:r>
            <a:endParaRPr lang="en-US" altLang="ko-KR" sz="1300" dirty="0">
              <a:solidFill>
                <a:srgbClr val="dfe6f7"/>
              </a:solidFill>
              <a:latin typeface="+mn-ea"/>
            </a:endParaRPr>
          </a:p>
          <a:p>
            <a:pPr marL="199920" lvl="0" indent="-199920">
              <a:lnSpc>
                <a:spcPct val="120000"/>
              </a:lnSpc>
              <a:buFont typeface="Wingdings"/>
              <a:buChar char="u"/>
            </a:pP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하지만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팀원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모두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열심히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해줘서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끝까지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완성할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수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있었다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.</a:t>
            </a:r>
            <a:endParaRPr lang="en-US" altLang="ko-KR" sz="1300" dirty="0">
              <a:solidFill>
                <a:srgbClr val="dfe6f7"/>
              </a:solidFill>
              <a:latin typeface="+mn-ea"/>
            </a:endParaRPr>
          </a:p>
          <a:p>
            <a:pPr marL="199920" lvl="0" indent="-199920">
              <a:lnSpc>
                <a:spcPct val="120000"/>
              </a:lnSpc>
              <a:buFont typeface="Wingdings"/>
              <a:buChar char="u"/>
            </a:pP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과정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중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토론과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오류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수정이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이어지며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실무같은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경험을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했다</a:t>
            </a:r>
            <a:endParaRPr lang="en-US" altLang="ko-KR" sz="1300" dirty="0">
              <a:solidFill>
                <a:srgbClr val="dfe6f7"/>
              </a:solidFill>
              <a:latin typeface="+mn-ea"/>
            </a:endParaRPr>
          </a:p>
          <a:p>
            <a:pPr marL="199920" lvl="0" indent="-199920">
              <a:lnSpc>
                <a:spcPct val="120000"/>
              </a:lnSpc>
              <a:buFont typeface="Wingdings"/>
              <a:buChar char="u"/>
            </a:pP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마무리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했을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때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뿌듯함과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성취감이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컸다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.</a:t>
            </a:r>
            <a:endParaRPr lang="en-US" altLang="ko-KR" sz="1300" dirty="0">
              <a:solidFill>
                <a:srgbClr val="dfe6f7"/>
              </a:solidFill>
              <a:latin typeface="+mn-ea"/>
            </a:endParaRPr>
          </a:p>
          <a:p>
            <a:pPr marL="199920" lvl="0" indent="-199920">
              <a:lnSpc>
                <a:spcPct val="120000"/>
              </a:lnSpc>
              <a:buFont typeface="Wingdings"/>
              <a:buChar char="u"/>
            </a:pP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취업을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준비하는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입장에서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큰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자산이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될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경험이</a:t>
            </a:r>
            <a:r>
              <a:rPr lang="en-US" altLang="ko-KR" sz="1300" dirty="0">
                <a:solidFill>
                  <a:srgbClr val="dfe6f7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dfe6f7"/>
                </a:solidFill>
                <a:latin typeface="+mn-ea"/>
              </a:rPr>
              <a:t>되었다</a:t>
            </a:r>
            <a:endParaRPr lang="en-US" altLang="ko-KR" sz="1300" dirty="0">
              <a:solidFill>
                <a:srgbClr val="dfe6f7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72225" y="1720100"/>
            <a:ext cx="4793615" cy="20332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199920" indent="-199920">
              <a:lnSpc>
                <a:spcPct val="140000"/>
              </a:lnSpc>
              <a:buFont typeface="Wingdings"/>
              <a:buChar char="Ø"/>
            </a:pP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IT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관련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처음이라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긴장이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됐지만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다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끝나고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나니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오히려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여러가지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시도해보고싶은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욕심이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생겼다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99920" indent="-199920">
              <a:lnSpc>
                <a:spcPct val="140000"/>
              </a:lnSpc>
              <a:buFont typeface="Wingdings"/>
              <a:buChar char="Ø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마지막쯤에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하나를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물면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놓지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않는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도베르만처럼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되어가는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제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모습이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보였습니다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99920" indent="-199920">
              <a:lnSpc>
                <a:spcPct val="140000"/>
              </a:lnSpc>
              <a:buFont typeface="Wingdings"/>
              <a:buChar char="Ø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또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한번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성장하는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좋은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과정이었다고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생각합니다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99920" indent="-199920">
              <a:lnSpc>
                <a:spcPct val="140000"/>
              </a:lnSpc>
              <a:buFont typeface="Wingdings"/>
              <a:buChar char="Ø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실무에서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사용할수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있는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데이터가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쌓인거같아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좋다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40000"/>
              </a:lnSpc>
            </a:pP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2365" y="4052443"/>
            <a:ext cx="4865370" cy="1755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185640" indent="-185640">
              <a:lnSpc>
                <a:spcPct val="120000"/>
              </a:lnSpc>
              <a:buFont typeface="Wingdings"/>
              <a:buChar char="v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처음으로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제법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큰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프로젝트를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맡으면서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긴장이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컸다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85640" indent="-185640">
              <a:lnSpc>
                <a:spcPct val="120000"/>
              </a:lnSpc>
              <a:buFont typeface="Wingdings"/>
              <a:buChar char="v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버튼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링크같은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간단한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기능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외에는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Flask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나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API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연결은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처음이었다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85640" indent="-185640">
              <a:lnSpc>
                <a:spcPct val="120000"/>
              </a:lnSpc>
              <a:buFont typeface="Wingdings"/>
              <a:buChar char="v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중간중간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이게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진짜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될까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?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하는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의문이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따라다녔다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85640" indent="-185640">
              <a:lnSpc>
                <a:spcPct val="120000"/>
              </a:lnSpc>
              <a:buFont typeface="Wingdings"/>
              <a:buChar char="v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그래도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버그를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끝까지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잡아내고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결과물이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나왔을때는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큰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뿌듯함을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느꼈다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85640" indent="-185640">
              <a:lnSpc>
                <a:spcPct val="120000"/>
              </a:lnSpc>
              <a:buFont typeface="Wingdings"/>
              <a:buChar char="v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이번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내게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뜻깊은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경험으로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확실히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남았다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1554" y="4340732"/>
            <a:ext cx="5274945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199920" indent="-199920">
              <a:lnSpc>
                <a:spcPct val="120000"/>
              </a:lnSpc>
              <a:buFont typeface="Wingdings"/>
              <a:buChar char="l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익숙하지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않은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기술들을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때문에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부담이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컸었다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99920" indent="-199920">
              <a:lnSpc>
                <a:spcPct val="120000"/>
              </a:lnSpc>
              <a:buFont typeface="Wingdings"/>
              <a:buChar char="l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코드를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반복해서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읽어보고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작성하면서도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의문이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항상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남았었다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99920" indent="-199920">
              <a:lnSpc>
                <a:spcPct val="120000"/>
              </a:lnSpc>
              <a:buFont typeface="Wingdings"/>
              <a:buChar char="l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그래도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결국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작은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성과들이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쌓이면서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자신감이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붙게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되었다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99920" indent="-199920">
              <a:lnSpc>
                <a:spcPct val="120000"/>
              </a:lnSpc>
              <a:buFont typeface="Wingdings"/>
              <a:buChar char="l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완성된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결과물을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봤을때는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그동안의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긴장이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풀렸다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99920" indent="-199920">
              <a:lnSpc>
                <a:spcPct val="120000"/>
              </a:lnSpc>
              <a:buFont typeface="Wingdings"/>
              <a:buChar char="l"/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이번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두려움을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이기고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성장하는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확신을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주었다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CCF7DA8C-4A3C-B4FA-2277-D75432CC32B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15869" y="3200400"/>
            <a:ext cx="457200" cy="457200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8517F1E8-FA50-61AF-AA0D-07CE9DCBDA47}"/>
              </a:ext>
            </a:extLst>
          </p:cNvPr>
          <p:cNvSpPr/>
          <p:nvPr/>
        </p:nvSpPr>
        <p:spPr>
          <a:xfrm>
            <a:off x="5658744" y="3313414"/>
            <a:ext cx="457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</a:t>
            </a:r>
            <a:endParaRPr lang="en-US" sz="1500" dirty="0"/>
          </a:p>
        </p:txBody>
      </p:sp>
      <p:pic>
        <p:nvPicPr>
          <p:cNvPr id="17" name="Image 9" descr="preencoded.png">
            <a:extLst>
              <a:ext uri="{FF2B5EF4-FFF2-40B4-BE49-F238E27FC236}">
                <a16:creationId xmlns:a16="http://schemas.microsoft.com/office/drawing/2014/main" id="{150AE863-EEC7-D0C3-8FD0-C88110401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897" y="3200400"/>
            <a:ext cx="457200" cy="457200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E6FBE672-5055-1441-BEC2-2774D23CD000}"/>
              </a:ext>
            </a:extLst>
          </p:cNvPr>
          <p:cNvSpPr/>
          <p:nvPr/>
        </p:nvSpPr>
        <p:spPr>
          <a:xfrm>
            <a:off x="6372772" y="3303140"/>
            <a:ext cx="457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</a:t>
            </a:r>
            <a:endParaRPr lang="en-US" sz="1500" dirty="0"/>
          </a:p>
        </p:txBody>
      </p:sp>
      <p:pic>
        <p:nvPicPr>
          <p:cNvPr id="21" name="Image 17" descr="preencoded.png">
            <a:extLst>
              <a:ext uri="{FF2B5EF4-FFF2-40B4-BE49-F238E27FC236}">
                <a16:creationId xmlns:a16="http://schemas.microsoft.com/office/drawing/2014/main" id="{6DFAD970-4818-ED27-5057-D14231A86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955" y="3883628"/>
            <a:ext cx="457200" cy="457200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6C113D2C-1FF6-2C25-E570-F60A415E71A5}"/>
              </a:ext>
            </a:extLst>
          </p:cNvPr>
          <p:cNvSpPr/>
          <p:nvPr/>
        </p:nvSpPr>
        <p:spPr>
          <a:xfrm>
            <a:off x="5634282" y="3955546"/>
            <a:ext cx="457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</a:t>
            </a:r>
            <a:endParaRPr lang="en-US" sz="1500" dirty="0"/>
          </a:p>
        </p:txBody>
      </p:sp>
      <p:pic>
        <p:nvPicPr>
          <p:cNvPr id="23" name="Image 25" descr="preencoded.png">
            <a:extLst>
              <a:ext uri="{FF2B5EF4-FFF2-40B4-BE49-F238E27FC236}">
                <a16:creationId xmlns:a16="http://schemas.microsoft.com/office/drawing/2014/main" id="{77121F6D-3D57-2497-D3ED-67964BD42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897" y="3890924"/>
            <a:ext cx="457200" cy="457200"/>
          </a:xfrm>
          <a:prstGeom prst="rect">
            <a:avLst/>
          </a:prstGeom>
        </p:spPr>
      </p:pic>
      <p:sp>
        <p:nvSpPr>
          <p:cNvPr id="24" name="Text 27">
            <a:extLst>
              <a:ext uri="{FF2B5EF4-FFF2-40B4-BE49-F238E27FC236}">
                <a16:creationId xmlns:a16="http://schemas.microsoft.com/office/drawing/2014/main" id="{C1D01221-2540-619D-5FDB-5F7CA320B217}"/>
              </a:ext>
            </a:extLst>
          </p:cNvPr>
          <p:cNvSpPr/>
          <p:nvPr/>
        </p:nvSpPr>
        <p:spPr>
          <a:xfrm>
            <a:off x="6362498" y="3962842"/>
            <a:ext cx="457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991814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빛, 다채로움, 보라색, 바이올렛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256E7C-831E-B664-03CB-9502D5A5B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915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21E35AF-F79A-8C7F-1D37-FD831CA98598}"/>
              </a:ext>
            </a:extLst>
          </p:cNvPr>
          <p:cNvSpPr/>
          <p:nvPr/>
        </p:nvSpPr>
        <p:spPr>
          <a:xfrm>
            <a:off x="-1" y="-1"/>
            <a:ext cx="12192000" cy="6869151"/>
          </a:xfrm>
          <a:prstGeom prst="rect">
            <a:avLst/>
          </a:prstGeom>
          <a:solidFill>
            <a:srgbClr val="D480D6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C857A-0CA9-30DA-BE56-E2257290F96F}"/>
              </a:ext>
            </a:extLst>
          </p:cNvPr>
          <p:cNvSpPr txBox="1"/>
          <p:nvPr/>
        </p:nvSpPr>
        <p:spPr>
          <a:xfrm flipH="1">
            <a:off x="3311690" y="2497976"/>
            <a:ext cx="556861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500" dirty="0">
                <a:solidFill>
                  <a:schemeClr val="bg1"/>
                </a:solidFill>
                <a:latin typeface="+mj-ea"/>
                <a:ea typeface="+mj-ea"/>
              </a:rPr>
              <a:t>Q&amp;A</a:t>
            </a:r>
            <a:endParaRPr lang="ko-KR" altLang="en-US" sz="115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7768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bg>
      <p:bgPr shadeToTitle="0">
        <a:solidFill>
          <a:schemeClr val="accent6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7863" y="2034124"/>
            <a:ext cx="9796273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ko-KR" sz="16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                ]</a:t>
            </a:r>
            <a:endParaRPr lang="ko-KR" altLang="en-US" sz="16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2E4E7-E25B-BAEA-D866-BB8BBE7BFBD3}"/>
              </a:ext>
            </a:extLst>
          </p:cNvPr>
          <p:cNvSpPr txBox="1"/>
          <p:nvPr/>
        </p:nvSpPr>
        <p:spPr>
          <a:xfrm flipH="1">
            <a:off x="3862134" y="2841622"/>
            <a:ext cx="4480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Keyword</a:t>
            </a:r>
            <a:endParaRPr lang="ko-KR" altLang="en-US" sz="7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9426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마젠타, 다채로움, 바이올렛색, 보라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11C0E0-B540-0648-E28F-D2F5D55D0E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915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3AD7619-8B2E-E626-ABF2-84053307D89E}"/>
              </a:ext>
            </a:extLst>
          </p:cNvPr>
          <p:cNvSpPr/>
          <p:nvPr/>
        </p:nvSpPr>
        <p:spPr>
          <a:xfrm>
            <a:off x="-1" y="-11151"/>
            <a:ext cx="12192000" cy="6869151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E800-36BC-6655-8EAC-B9179811AC25}"/>
              </a:ext>
            </a:extLst>
          </p:cNvPr>
          <p:cNvSpPr txBox="1"/>
          <p:nvPr/>
        </p:nvSpPr>
        <p:spPr>
          <a:xfrm>
            <a:off x="4380626" y="3013501"/>
            <a:ext cx="34307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spc="600" dirty="0">
                <a:solidFill>
                  <a:schemeClr val="bg1"/>
                </a:solidFill>
                <a:latin typeface="210 클레이토이 L" panose="02020603020101020101" pitchFamily="18" charset="-127"/>
                <a:ea typeface="210 클레이토이 L" panose="02020603020101020101" pitchFamily="18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44954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021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12359"/>
      </a:accent1>
      <a:accent2>
        <a:srgbClr val="c9647f"/>
      </a:accent2>
      <a:accent3>
        <a:srgbClr val="f19db5"/>
      </a:accent3>
      <a:accent4>
        <a:srgbClr val="ebcdcf"/>
      </a:accent4>
      <a:accent5>
        <a:srgbClr val="476c8e"/>
      </a:accent5>
      <a:accent6>
        <a:srgbClr val="b6a89a"/>
      </a:accent6>
      <a:hlink>
        <a:srgbClr val="262626"/>
      </a:hlink>
      <a:folHlink>
        <a:srgbClr val="262626"/>
      </a:folHlink>
    </a:clrScheme>
    <a:fontScheme name="해피니스 산스 타이틀">
      <a:majorFont>
        <a:latin typeface="해피니스 산스 타이틀"/>
        <a:ea typeface="해피니스 산스 타이틀"/>
        <a:cs typeface=""/>
      </a:majorFont>
      <a:minorFont>
        <a:latin typeface="해피니스 산스 레귤러"/>
        <a:ea typeface="해피니스 산스 레귤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2524</ep:Words>
  <ep:PresentationFormat>와이드스크린</ep:PresentationFormat>
  <ep:Paragraphs>529</ep:Paragraphs>
  <ep:Slides>27</ep:Slides>
  <ep:Notes>15</ep:Notes>
  <ep:TotalTime>0</ep:TotalTime>
  <ep:HiddenSlides>0</ep:HiddenSlides>
  <ep:MMClips>0</ep:MMClips>
  <ep:HeadingPairs>
    <vt:vector size="4" baseType="variant">
      <vt:variant>
        <vt:lpstr>Themes</vt:lpstr>
      </vt:variant>
      <vt:variant>
        <vt:i4>1</vt:i4>
      </vt:variant>
      <vt:variant>
        <vt:lpstr>Slide Title</vt:lpstr>
      </vt:variant>
      <vt:variant>
        <vt:i4>27</vt:i4>
      </vt:variant>
    </vt:vector>
  </ep:HeadingPairs>
  <ep:TitlesOfParts>
    <vt:vector size="28" baseType="lpstr">
      <vt:lpstr>Office 테마</vt:lpstr>
      <vt:lpstr>PowerPoint 프레젠테이션</vt:lpstr>
      <vt:lpstr>PowerPoint 프레젠테이션</vt:lpstr>
      <vt:lpstr>PowerPoint 프레젠테이션</vt:lpstr>
      <vt:lpstr>Slide 4</vt:lpstr>
      <vt:lpstr>PowerPoint 프레젠테이션</vt:lpstr>
      <vt:lpstr>PowerPoint 프레젠테이션</vt:lpstr>
      <vt:lpstr>Slide 7</vt:lpstr>
      <vt:lpstr>Slide 8</vt:lpstr>
      <vt:lpstr>PowerPoint 프레젠테이션</vt:lpstr>
      <vt:lpstr>PowerPoint 프레젠테이션</vt:lpstr>
      <vt:lpstr>Slide 11</vt:lpstr>
      <vt:lpstr>PowerPoint 프레젠테이션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2023-02-06T02:04:46.000</dcterms:created>
  <dc:creator>Yu Saebyeol</dc:creator>
  <cp:lastModifiedBy>지은 박</cp:lastModifiedBy>
  <dcterms:modified xsi:type="dcterms:W3CDTF">2025-10-24T03:35:42.848</dcterms:modified>
  <cp:revision>28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